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596" r:id="rId3"/>
    <p:sldId id="584" r:id="rId4"/>
    <p:sldId id="669" r:id="rId5"/>
    <p:sldId id="670" r:id="rId6"/>
    <p:sldId id="671" r:id="rId7"/>
    <p:sldId id="585" r:id="rId8"/>
    <p:sldId id="546" r:id="rId9"/>
    <p:sldId id="481" r:id="rId10"/>
    <p:sldId id="672" r:id="rId11"/>
    <p:sldId id="577" r:id="rId12"/>
    <p:sldId id="595" r:id="rId13"/>
    <p:sldId id="578" r:id="rId14"/>
    <p:sldId id="579" r:id="rId15"/>
    <p:sldId id="581" r:id="rId16"/>
    <p:sldId id="569" r:id="rId17"/>
    <p:sldId id="586" r:id="rId18"/>
    <p:sldId id="674" r:id="rId19"/>
    <p:sldId id="675" r:id="rId20"/>
    <p:sldId id="572" r:id="rId21"/>
    <p:sldId id="573" r:id="rId22"/>
    <p:sldId id="515" r:id="rId23"/>
    <p:sldId id="587" r:id="rId24"/>
    <p:sldId id="568" r:id="rId25"/>
    <p:sldId id="655" r:id="rId26"/>
    <p:sldId id="589" r:id="rId27"/>
    <p:sldId id="567" r:id="rId28"/>
    <p:sldId id="642" r:id="rId29"/>
    <p:sldId id="657" r:id="rId30"/>
    <p:sldId id="660" r:id="rId31"/>
    <p:sldId id="662" r:id="rId32"/>
    <p:sldId id="501" r:id="rId33"/>
    <p:sldId id="644" r:id="rId34"/>
    <p:sldId id="591" r:id="rId35"/>
    <p:sldId id="646" r:id="rId36"/>
    <p:sldId id="668" r:id="rId37"/>
    <p:sldId id="665" r:id="rId38"/>
    <p:sldId id="676" r:id="rId39"/>
    <p:sldId id="653" r:id="rId40"/>
    <p:sldId id="677" r:id="rId41"/>
    <p:sldId id="654" r:id="rId42"/>
    <p:sldId id="648" r:id="rId43"/>
    <p:sldId id="571" r:id="rId44"/>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4"/>
    <p:restoredTop sz="80549"/>
  </p:normalViewPr>
  <p:slideViewPr>
    <p:cSldViewPr snapToGrid="0">
      <p:cViewPr varScale="1">
        <p:scale>
          <a:sx n="177" d="100"/>
          <a:sy n="177" d="100"/>
        </p:scale>
        <p:origin x="10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69733A-BBB2-0042-A69A-037FCA82599A}" type="datetimeFigureOut">
              <a:rPr lang="it-IT" smtClean="0"/>
              <a:t>19/05/26</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AABC4-A8CC-1D4E-A9C3-CD427222022D}" type="slidenum">
              <a:rPr lang="it-IT" smtClean="0"/>
              <a:t>‹#›</a:t>
            </a:fld>
            <a:endParaRPr lang="it-IT"/>
          </a:p>
        </p:txBody>
      </p:sp>
    </p:spTree>
    <p:extLst>
      <p:ext uri="{BB962C8B-B14F-4D97-AF65-F5344CB8AC3E}">
        <p14:creationId xmlns:p14="http://schemas.microsoft.com/office/powerpoint/2010/main" val="3563870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err="1"/>
              <a:t>Our</a:t>
            </a:r>
            <a:r>
              <a:rPr lang="it-IT" dirty="0"/>
              <a:t> </a:t>
            </a:r>
            <a:r>
              <a:rPr lang="it-IT" dirty="0" err="1"/>
              <a:t>course</a:t>
            </a:r>
            <a:r>
              <a:rPr lang="it-IT" dirty="0"/>
              <a:t> </a:t>
            </a:r>
            <a:r>
              <a:rPr lang="it-IT" dirty="0" err="1"/>
              <a:t>is</a:t>
            </a:r>
            <a:r>
              <a:rPr lang="it-IT" dirty="0"/>
              <a:t> </a:t>
            </a:r>
            <a:r>
              <a:rPr lang="it-IT" dirty="0" err="1"/>
              <a:t>structured</a:t>
            </a:r>
            <a:r>
              <a:rPr lang="it-IT" dirty="0"/>
              <a:t> </a:t>
            </a:r>
            <a:r>
              <a:rPr lang="it-IT" dirty="0" err="1"/>
              <a:t>into</a:t>
            </a:r>
            <a:r>
              <a:rPr lang="it-IT" dirty="0"/>
              <a:t> </a:t>
            </a:r>
            <a:r>
              <a:rPr lang="it-IT" dirty="0" err="1"/>
              <a:t>two</a:t>
            </a:r>
            <a:r>
              <a:rPr lang="it-IT" dirty="0"/>
              <a:t> </a:t>
            </a:r>
            <a:r>
              <a:rPr lang="it-IT" dirty="0" err="1"/>
              <a:t>main</a:t>
            </a:r>
            <a:r>
              <a:rPr lang="it-IT" dirty="0"/>
              <a:t> </a:t>
            </a:r>
            <a:r>
              <a:rPr lang="it-IT" dirty="0" err="1"/>
              <a:t>modules</a:t>
            </a:r>
            <a:r>
              <a:rPr lang="it-IT" dirty="0"/>
              <a:t>. Module 1 </a:t>
            </a:r>
            <a:r>
              <a:rPr lang="it-IT" dirty="0" err="1"/>
              <a:t>focuses</a:t>
            </a:r>
            <a:r>
              <a:rPr lang="it-IT" dirty="0"/>
              <a:t> on </a:t>
            </a:r>
            <a:r>
              <a:rPr lang="it-IT" dirty="0" err="1"/>
              <a:t>classical</a:t>
            </a:r>
            <a:r>
              <a:rPr lang="it-IT" dirty="0"/>
              <a:t> machine learning, </a:t>
            </a:r>
            <a:r>
              <a:rPr lang="it-IT" dirty="0" err="1"/>
              <a:t>where</a:t>
            </a:r>
            <a:r>
              <a:rPr lang="it-IT" dirty="0"/>
              <a:t> </a:t>
            </a:r>
            <a:r>
              <a:rPr lang="it-IT" dirty="0" err="1"/>
              <a:t>we</a:t>
            </a:r>
            <a:r>
              <a:rPr lang="it-IT" dirty="0"/>
              <a:t> </a:t>
            </a:r>
            <a:r>
              <a:rPr lang="it-IT" dirty="0" err="1"/>
              <a:t>will</a:t>
            </a:r>
            <a:r>
              <a:rPr lang="it-IT" dirty="0"/>
              <a:t> dive </a:t>
            </a:r>
            <a:r>
              <a:rPr lang="it-IT" dirty="0" err="1"/>
              <a:t>into</a:t>
            </a:r>
            <a:r>
              <a:rPr lang="it-IT" dirty="0"/>
              <a:t> techniques like Random </a:t>
            </a:r>
            <a:r>
              <a:rPr lang="it-IT" dirty="0" err="1"/>
              <a:t>Forest</a:t>
            </a:r>
            <a:r>
              <a:rPr lang="it-IT" dirty="0"/>
              <a:t>, </a:t>
            </a:r>
            <a:r>
              <a:rPr lang="it-IT" dirty="0" err="1"/>
              <a:t>decision</a:t>
            </a:r>
            <a:r>
              <a:rPr lang="it-IT" dirty="0"/>
              <a:t> </a:t>
            </a:r>
            <a:r>
              <a:rPr lang="it-IT" dirty="0" err="1"/>
              <a:t>trees</a:t>
            </a:r>
            <a:r>
              <a:rPr lang="it-IT" dirty="0"/>
              <a:t>, and the </a:t>
            </a:r>
            <a:r>
              <a:rPr lang="it-IT" dirty="0" err="1"/>
              <a:t>essential</a:t>
            </a:r>
            <a:r>
              <a:rPr lang="it-IT" dirty="0"/>
              <a:t> steps of feature engineering. </a:t>
            </a:r>
            <a:r>
              <a:rPr lang="it-IT" dirty="0" err="1"/>
              <a:t>Later</a:t>
            </a:r>
            <a:r>
              <a:rPr lang="it-IT" dirty="0"/>
              <a:t>, in Module 2, </a:t>
            </a:r>
            <a:r>
              <a:rPr lang="it-IT" dirty="0" err="1"/>
              <a:t>we</a:t>
            </a:r>
            <a:r>
              <a:rPr lang="it-IT" dirty="0"/>
              <a:t> </a:t>
            </a:r>
            <a:r>
              <a:rPr lang="it-IT" dirty="0" err="1"/>
              <a:t>will</a:t>
            </a:r>
            <a:r>
              <a:rPr lang="it-IT" dirty="0"/>
              <a:t> </a:t>
            </a:r>
            <a:r>
              <a:rPr lang="it-IT" dirty="0" err="1"/>
              <a:t>transition</a:t>
            </a:r>
            <a:r>
              <a:rPr lang="it-IT" dirty="0"/>
              <a:t> </a:t>
            </a:r>
            <a:r>
              <a:rPr lang="it-IT" dirty="0" err="1"/>
              <a:t>into</a:t>
            </a:r>
            <a:r>
              <a:rPr lang="it-IT" dirty="0"/>
              <a:t> deep learning </a:t>
            </a:r>
            <a:r>
              <a:rPr lang="it-IT" dirty="0" err="1"/>
              <a:t>architectures</a:t>
            </a:r>
            <a:r>
              <a:rPr lang="it-IT" dirty="0"/>
              <a:t> </a:t>
            </a:r>
            <a:r>
              <a:rPr lang="it-IT" dirty="0" err="1"/>
              <a:t>designed</a:t>
            </a:r>
            <a:r>
              <a:rPr lang="it-IT" dirty="0"/>
              <a:t> for </a:t>
            </a:r>
            <a:r>
              <a:rPr lang="it-IT" dirty="0" err="1"/>
              <a:t>highly</a:t>
            </a:r>
            <a:r>
              <a:rPr lang="it-IT" dirty="0"/>
              <a:t> </a:t>
            </a:r>
            <a:r>
              <a:rPr lang="it-IT" dirty="0" err="1"/>
              <a:t>complex</a:t>
            </a:r>
            <a:r>
              <a:rPr lang="it-IT" dirty="0"/>
              <a:t>, multi-</a:t>
            </a:r>
            <a:r>
              <a:rPr lang="it-IT" dirty="0" err="1"/>
              <a:t>dimensional</a:t>
            </a:r>
            <a:r>
              <a:rPr lang="it-IT" dirty="0"/>
              <a:t> tasks. Today, </a:t>
            </a:r>
            <a:r>
              <a:rPr lang="it-IT" dirty="0" err="1"/>
              <a:t>our</a:t>
            </a:r>
            <a:r>
              <a:rPr lang="it-IT" dirty="0"/>
              <a:t> core focus </a:t>
            </a:r>
            <a:r>
              <a:rPr lang="it-IT" dirty="0" err="1"/>
              <a:t>is</a:t>
            </a:r>
            <a:r>
              <a:rPr lang="it-IT" dirty="0"/>
              <a:t> </a:t>
            </a:r>
            <a:r>
              <a:rPr lang="it-IT" dirty="0" err="1"/>
              <a:t>entirely</a:t>
            </a:r>
            <a:r>
              <a:rPr lang="it-IT" dirty="0"/>
              <a:t> on Module 1.</a:t>
            </a:r>
          </a:p>
          <a:p>
            <a:endParaRPr lang="it-IT" dirty="0"/>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2</a:t>
            </a:fld>
            <a:endParaRPr lang="it-IT"/>
          </a:p>
        </p:txBody>
      </p:sp>
    </p:spTree>
    <p:extLst>
      <p:ext uri="{BB962C8B-B14F-4D97-AF65-F5344CB8AC3E}">
        <p14:creationId xmlns:p14="http://schemas.microsoft.com/office/powerpoint/2010/main" val="2930021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3</a:t>
            </a:fld>
            <a:endParaRPr lang="it-IT"/>
          </a:p>
        </p:txBody>
      </p:sp>
    </p:spTree>
    <p:extLst>
      <p:ext uri="{BB962C8B-B14F-4D97-AF65-F5344CB8AC3E}">
        <p14:creationId xmlns:p14="http://schemas.microsoft.com/office/powerpoint/2010/main" val="821191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"Machine learning (ML) </a:t>
            </a:r>
            <a:r>
              <a:rPr lang="it-IT" dirty="0" err="1"/>
              <a:t>is</a:t>
            </a:r>
            <a:r>
              <a:rPr lang="it-IT" dirty="0"/>
              <a:t> a </a:t>
            </a:r>
            <a:r>
              <a:rPr lang="it-IT" dirty="0" err="1"/>
              <a:t>type</a:t>
            </a:r>
            <a:r>
              <a:rPr lang="it-IT" dirty="0"/>
              <a:t> of </a:t>
            </a:r>
            <a:r>
              <a:rPr lang="it-IT" dirty="0" err="1"/>
              <a:t>computational</a:t>
            </a:r>
            <a:r>
              <a:rPr lang="it-IT" dirty="0"/>
              <a:t> </a:t>
            </a:r>
            <a:r>
              <a:rPr lang="it-IT" dirty="0" err="1"/>
              <a:t>technology</a:t>
            </a:r>
            <a:r>
              <a:rPr lang="it-IT" dirty="0"/>
              <a:t> </a:t>
            </a:r>
            <a:r>
              <a:rPr lang="it-IT" dirty="0" err="1"/>
              <a:t>that</a:t>
            </a:r>
            <a:r>
              <a:rPr lang="it-IT" dirty="0"/>
              <a:t> </a:t>
            </a:r>
            <a:r>
              <a:rPr lang="it-IT" dirty="0" err="1"/>
              <a:t>enables</a:t>
            </a:r>
            <a:r>
              <a:rPr lang="it-IT" dirty="0"/>
              <a:t> machines (i.e., computers) to </a:t>
            </a:r>
            <a:r>
              <a:rPr lang="it-IT" dirty="0" err="1"/>
              <a:t>learn</a:t>
            </a:r>
            <a:r>
              <a:rPr lang="it-IT" dirty="0"/>
              <a:t> and make </a:t>
            </a:r>
            <a:r>
              <a:rPr lang="it-IT" dirty="0" err="1"/>
              <a:t>predictions</a:t>
            </a:r>
            <a:r>
              <a:rPr lang="it-IT" dirty="0"/>
              <a:t> </a:t>
            </a:r>
            <a:r>
              <a:rPr lang="it-IT" dirty="0" err="1"/>
              <a:t>without</a:t>
            </a:r>
            <a:r>
              <a:rPr lang="it-IT" dirty="0"/>
              <a:t> </a:t>
            </a:r>
            <a:r>
              <a:rPr lang="it-IT" dirty="0" err="1"/>
              <a:t>being</a:t>
            </a:r>
            <a:r>
              <a:rPr lang="it-IT" dirty="0"/>
              <a:t> </a:t>
            </a:r>
            <a:r>
              <a:rPr lang="it-IT" dirty="0" err="1"/>
              <a:t>explicitly</a:t>
            </a:r>
            <a:r>
              <a:rPr lang="it-IT" dirty="0"/>
              <a:t> </a:t>
            </a:r>
            <a:r>
              <a:rPr lang="it-IT" dirty="0" err="1"/>
              <a:t>programmed</a:t>
            </a:r>
            <a:r>
              <a:rPr lang="it-IT" dirty="0"/>
              <a:t>."</a:t>
            </a:r>
          </a:p>
          <a:p>
            <a:r>
              <a:rPr lang="it-IT" dirty="0"/>
              <a:t>&gt; "ML </a:t>
            </a:r>
            <a:r>
              <a:rPr lang="it-IT" dirty="0" err="1"/>
              <a:t>includes</a:t>
            </a:r>
            <a:r>
              <a:rPr lang="it-IT" dirty="0"/>
              <a:t> </a:t>
            </a:r>
            <a:r>
              <a:rPr lang="it-IT" dirty="0" err="1"/>
              <a:t>algorithms</a:t>
            </a:r>
            <a:r>
              <a:rPr lang="it-IT" dirty="0"/>
              <a:t> </a:t>
            </a:r>
            <a:r>
              <a:rPr lang="it-IT" dirty="0" err="1"/>
              <a:t>capable</a:t>
            </a:r>
            <a:r>
              <a:rPr lang="it-IT" dirty="0"/>
              <a:t> of learning from data, </a:t>
            </a:r>
            <a:r>
              <a:rPr lang="it-IT" dirty="0" err="1"/>
              <a:t>through</a:t>
            </a:r>
            <a:r>
              <a:rPr lang="it-IT" dirty="0"/>
              <a:t> the </a:t>
            </a:r>
            <a:r>
              <a:rPr lang="it-IT" dirty="0" err="1"/>
              <a:t>modeling</a:t>
            </a:r>
            <a:r>
              <a:rPr lang="it-IT" dirty="0"/>
              <a:t> of the </a:t>
            </a:r>
            <a:r>
              <a:rPr lang="it-IT" dirty="0" err="1"/>
              <a:t>hidden</a:t>
            </a:r>
            <a:r>
              <a:rPr lang="it-IT" dirty="0"/>
              <a:t> </a:t>
            </a:r>
            <a:r>
              <a:rPr lang="it-IT" dirty="0" err="1"/>
              <a:t>relationships</a:t>
            </a:r>
            <a:r>
              <a:rPr lang="it-IT" dirty="0"/>
              <a:t> </a:t>
            </a:r>
            <a:r>
              <a:rPr lang="it-IT" dirty="0" err="1"/>
              <a:t>between</a:t>
            </a:r>
            <a:r>
              <a:rPr lang="it-IT" dirty="0"/>
              <a:t> a set of input and output </a:t>
            </a:r>
            <a:r>
              <a:rPr lang="it-IT" dirty="0" err="1"/>
              <a:t>variables</a:t>
            </a:r>
            <a:r>
              <a:rPr lang="it-IT" dirty="0"/>
              <a:t>."</a:t>
            </a:r>
          </a:p>
          <a:p>
            <a:endParaRPr lang="it-IT" dirty="0"/>
          </a:p>
          <a:p>
            <a:r>
              <a:rPr lang="it-IT" dirty="0"/>
              <a:t>To </a:t>
            </a:r>
            <a:r>
              <a:rPr lang="it-IT" dirty="0" err="1"/>
              <a:t>keep</a:t>
            </a:r>
            <a:r>
              <a:rPr lang="it-IT" dirty="0"/>
              <a:t> </a:t>
            </a:r>
            <a:r>
              <a:rPr lang="it-IT" dirty="0" err="1"/>
              <a:t>it</a:t>
            </a:r>
            <a:r>
              <a:rPr lang="it-IT" dirty="0"/>
              <a:t> concise, the key </a:t>
            </a:r>
            <a:r>
              <a:rPr lang="it-IT" dirty="0" err="1"/>
              <a:t>distinction</a:t>
            </a:r>
            <a:r>
              <a:rPr lang="it-IT" dirty="0"/>
              <a:t> </a:t>
            </a:r>
            <a:r>
              <a:rPr lang="it-IT" dirty="0" err="1"/>
              <a:t>between</a:t>
            </a:r>
            <a:r>
              <a:rPr lang="it-IT" dirty="0"/>
              <a:t> machine learning and </a:t>
            </a:r>
            <a:r>
              <a:rPr lang="it-IT" dirty="0" err="1"/>
              <a:t>traditional</a:t>
            </a:r>
            <a:r>
              <a:rPr lang="it-IT" dirty="0"/>
              <a:t> programming </a:t>
            </a:r>
            <a:r>
              <a:rPr lang="it-IT" dirty="0" err="1"/>
              <a:t>is</a:t>
            </a:r>
            <a:r>
              <a:rPr lang="it-IT" dirty="0"/>
              <a:t> </a:t>
            </a:r>
            <a:r>
              <a:rPr lang="it-IT" dirty="0" err="1"/>
              <a:t>that</a:t>
            </a:r>
            <a:r>
              <a:rPr lang="it-IT" dirty="0"/>
              <a:t> </a:t>
            </a:r>
            <a:r>
              <a:rPr lang="it-IT" dirty="0" err="1"/>
              <a:t>you</a:t>
            </a:r>
            <a:r>
              <a:rPr lang="it-IT" dirty="0"/>
              <a:t> do </a:t>
            </a:r>
            <a:r>
              <a:rPr lang="it-IT" dirty="0" err="1"/>
              <a:t>not</a:t>
            </a:r>
            <a:r>
              <a:rPr lang="it-IT" dirty="0"/>
              <a:t> </a:t>
            </a:r>
            <a:r>
              <a:rPr lang="it-IT" dirty="0" err="1"/>
              <a:t>write</a:t>
            </a:r>
            <a:r>
              <a:rPr lang="it-IT" dirty="0"/>
              <a:t> the rules </a:t>
            </a:r>
            <a:r>
              <a:rPr lang="it-IT" dirty="0" err="1"/>
              <a:t>yourself</a:t>
            </a:r>
            <a:r>
              <a:rPr lang="it-IT" dirty="0"/>
              <a:t>—the </a:t>
            </a:r>
            <a:r>
              <a:rPr lang="it-IT" dirty="0" err="1"/>
              <a:t>algorithm</a:t>
            </a:r>
            <a:r>
              <a:rPr lang="it-IT" dirty="0"/>
              <a:t> </a:t>
            </a:r>
            <a:r>
              <a:rPr lang="it-IT" dirty="0" err="1"/>
              <a:t>discovers</a:t>
            </a:r>
            <a:r>
              <a:rPr lang="it-IT" dirty="0"/>
              <a:t> </a:t>
            </a:r>
            <a:r>
              <a:rPr lang="it-IT" dirty="0" err="1"/>
              <a:t>those</a:t>
            </a:r>
            <a:r>
              <a:rPr lang="it-IT" dirty="0"/>
              <a:t> rules </a:t>
            </a:r>
            <a:r>
              <a:rPr lang="it-IT" dirty="0" err="1"/>
              <a:t>directly</a:t>
            </a:r>
            <a:r>
              <a:rPr lang="it-IT" dirty="0"/>
              <a:t> from the data. </a:t>
            </a:r>
            <a:r>
              <a:rPr lang="it-IT" dirty="0" err="1"/>
              <a:t>This</a:t>
            </a:r>
            <a:r>
              <a:rPr lang="it-IT" dirty="0"/>
              <a:t> </a:t>
            </a:r>
            <a:r>
              <a:rPr lang="it-IT" dirty="0" err="1"/>
              <a:t>is</a:t>
            </a:r>
            <a:r>
              <a:rPr lang="it-IT" dirty="0"/>
              <a:t> </a:t>
            </a:r>
            <a:r>
              <a:rPr lang="it-IT" dirty="0" err="1"/>
              <a:t>fundamentally</a:t>
            </a:r>
            <a:r>
              <a:rPr lang="it-IT" dirty="0"/>
              <a:t> </a:t>
            </a:r>
            <a:r>
              <a:rPr lang="it-IT" dirty="0" err="1"/>
              <a:t>different</a:t>
            </a:r>
            <a:r>
              <a:rPr lang="it-IT" dirty="0"/>
              <a:t> from the </a:t>
            </a:r>
            <a:r>
              <a:rPr lang="it-IT" dirty="0" err="1"/>
              <a:t>physics-based</a:t>
            </a:r>
            <a:r>
              <a:rPr lang="it-IT" dirty="0"/>
              <a:t> models </a:t>
            </a:r>
            <a:r>
              <a:rPr lang="it-IT" dirty="0" err="1"/>
              <a:t>you</a:t>
            </a:r>
            <a:r>
              <a:rPr lang="it-IT" dirty="0"/>
              <a:t> are </a:t>
            </a:r>
            <a:r>
              <a:rPr lang="it-IT" dirty="0" err="1"/>
              <a:t>likely</a:t>
            </a:r>
            <a:r>
              <a:rPr lang="it-IT" dirty="0"/>
              <a:t> </a:t>
            </a:r>
            <a:r>
              <a:rPr lang="it-IT" dirty="0" err="1"/>
              <a:t>used</a:t>
            </a:r>
            <a:r>
              <a:rPr lang="it-IT" dirty="0"/>
              <a:t> to working with in </a:t>
            </a:r>
            <a:r>
              <a:rPr lang="it-IT" dirty="0" err="1"/>
              <a:t>environmental</a:t>
            </a:r>
            <a:r>
              <a:rPr lang="it-IT" dirty="0"/>
              <a:t> science.</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4</a:t>
            </a:fld>
            <a:endParaRPr lang="it-IT"/>
          </a:p>
        </p:txBody>
      </p:sp>
    </p:spTree>
    <p:extLst>
      <p:ext uri="{BB962C8B-B14F-4D97-AF65-F5344CB8AC3E}">
        <p14:creationId xmlns:p14="http://schemas.microsoft.com/office/powerpoint/2010/main" val="1281572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"ML </a:t>
            </a:r>
            <a:r>
              <a:rPr lang="it-IT" dirty="0" err="1"/>
              <a:t>performs</a:t>
            </a:r>
            <a:r>
              <a:rPr lang="it-IT" dirty="0"/>
              <a:t> </a:t>
            </a:r>
            <a:r>
              <a:rPr lang="it-IT" dirty="0" err="1"/>
              <a:t>particularly</a:t>
            </a:r>
            <a:r>
              <a:rPr lang="it-IT" dirty="0"/>
              <a:t> </a:t>
            </a:r>
            <a:r>
              <a:rPr lang="it-IT" dirty="0" err="1"/>
              <a:t>well</a:t>
            </a:r>
            <a:r>
              <a:rPr lang="it-IT" dirty="0"/>
              <a:t> to model </a:t>
            </a:r>
            <a:r>
              <a:rPr lang="it-IT" dirty="0" err="1"/>
              <a:t>environmental</a:t>
            </a:r>
            <a:r>
              <a:rPr lang="it-IT" dirty="0"/>
              <a:t> hazards, </a:t>
            </a:r>
            <a:r>
              <a:rPr lang="it-IT" dirty="0" err="1"/>
              <a:t>which</a:t>
            </a:r>
            <a:r>
              <a:rPr lang="it-IT" dirty="0"/>
              <a:t> </a:t>
            </a:r>
            <a:r>
              <a:rPr lang="it-IT" dirty="0" err="1"/>
              <a:t>naturally</a:t>
            </a:r>
            <a:r>
              <a:rPr lang="it-IT" dirty="0"/>
              <a:t> </a:t>
            </a:r>
            <a:r>
              <a:rPr lang="it-IT" dirty="0" err="1"/>
              <a:t>present</a:t>
            </a:r>
            <a:r>
              <a:rPr lang="it-IT" dirty="0"/>
              <a:t> </a:t>
            </a:r>
            <a:r>
              <a:rPr lang="it-IT" dirty="0" err="1"/>
              <a:t>complex</a:t>
            </a:r>
            <a:r>
              <a:rPr lang="it-IT" dirty="0"/>
              <a:t> interactions and non-linear </a:t>
            </a:r>
            <a:r>
              <a:rPr lang="it-IT" dirty="0" err="1"/>
              <a:t>behaviors</a:t>
            </a:r>
            <a:r>
              <a:rPr lang="it-IT" dirty="0"/>
              <a:t>."</a:t>
            </a:r>
          </a:p>
          <a:p>
            <a:r>
              <a:rPr lang="it-IT" dirty="0"/>
              <a:t>&gt; "</a:t>
            </a:r>
            <a:r>
              <a:rPr lang="it-IT" dirty="0" err="1"/>
              <a:t>Wildfire</a:t>
            </a:r>
            <a:r>
              <a:rPr lang="it-IT" dirty="0"/>
              <a:t> </a:t>
            </a:r>
            <a:r>
              <a:rPr lang="it-IT" dirty="0" err="1"/>
              <a:t>occurrence</a:t>
            </a:r>
            <a:r>
              <a:rPr lang="it-IT" dirty="0"/>
              <a:t> can </a:t>
            </a:r>
            <a:r>
              <a:rPr lang="it-IT" dirty="0" err="1"/>
              <a:t>depend</a:t>
            </a:r>
            <a:r>
              <a:rPr lang="it-IT" dirty="0"/>
              <a:t> </a:t>
            </a:r>
            <a:r>
              <a:rPr lang="it-IT" dirty="0" err="1"/>
              <a:t>simultaneously</a:t>
            </a:r>
            <a:r>
              <a:rPr lang="it-IT" dirty="0"/>
              <a:t> on </a:t>
            </a:r>
            <a:r>
              <a:rPr lang="it-IT" dirty="0" err="1"/>
              <a:t>vegetation</a:t>
            </a:r>
            <a:r>
              <a:rPr lang="it-IT" dirty="0"/>
              <a:t>, </a:t>
            </a:r>
            <a:r>
              <a:rPr lang="it-IT" dirty="0" err="1"/>
              <a:t>topography</a:t>
            </a:r>
            <a:r>
              <a:rPr lang="it-IT" dirty="0"/>
              <a:t>, </a:t>
            </a:r>
            <a:r>
              <a:rPr lang="it-IT" dirty="0" err="1"/>
              <a:t>climate</a:t>
            </a:r>
            <a:r>
              <a:rPr lang="it-IT" dirty="0"/>
              <a:t>, human </a:t>
            </a:r>
            <a:r>
              <a:rPr lang="it-IT" dirty="0" err="1"/>
              <a:t>accessibility</a:t>
            </a:r>
            <a:r>
              <a:rPr lang="it-IT" dirty="0"/>
              <a:t>, etc."</a:t>
            </a:r>
          </a:p>
          <a:p>
            <a:r>
              <a:rPr lang="it-IT" dirty="0"/>
              <a:t>&gt; "</a:t>
            </a:r>
            <a:r>
              <a:rPr lang="it-IT" dirty="0" err="1"/>
              <a:t>Traditional</a:t>
            </a:r>
            <a:r>
              <a:rPr lang="it-IT" dirty="0"/>
              <a:t> rule-</a:t>
            </a:r>
            <a:r>
              <a:rPr lang="it-IT" dirty="0" err="1"/>
              <a:t>based</a:t>
            </a:r>
            <a:r>
              <a:rPr lang="it-IT" dirty="0"/>
              <a:t> models </a:t>
            </a:r>
            <a:r>
              <a:rPr lang="it-IT" dirty="0" err="1"/>
              <a:t>struggle</a:t>
            </a:r>
            <a:r>
              <a:rPr lang="it-IT" dirty="0"/>
              <a:t> to </a:t>
            </a:r>
            <a:r>
              <a:rPr lang="it-IT" dirty="0" err="1"/>
              <a:t>represent</a:t>
            </a:r>
            <a:r>
              <a:rPr lang="it-IT" dirty="0"/>
              <a:t> </a:t>
            </a:r>
            <a:r>
              <a:rPr lang="it-IT" dirty="0" err="1"/>
              <a:t>these</a:t>
            </a:r>
            <a:r>
              <a:rPr lang="it-IT" dirty="0"/>
              <a:t> interactions. Machine Learning can leverage </a:t>
            </a:r>
            <a:r>
              <a:rPr lang="it-IT" dirty="0" err="1"/>
              <a:t>this</a:t>
            </a:r>
            <a:r>
              <a:rPr lang="it-IT" dirty="0"/>
              <a:t> </a:t>
            </a:r>
            <a:r>
              <a:rPr lang="it-IT" dirty="0" err="1"/>
              <a:t>environmental</a:t>
            </a:r>
            <a:r>
              <a:rPr lang="it-IT" dirty="0"/>
              <a:t> data </a:t>
            </a:r>
            <a:r>
              <a:rPr lang="it-IT" dirty="0" err="1"/>
              <a:t>abundance</a:t>
            </a:r>
            <a:r>
              <a:rPr lang="it-IT" dirty="0"/>
              <a:t> and </a:t>
            </a:r>
            <a:r>
              <a:rPr lang="it-IT" dirty="0" err="1"/>
              <a:t>learn</a:t>
            </a:r>
            <a:r>
              <a:rPr lang="it-IT" dirty="0"/>
              <a:t> patterns and relations from </a:t>
            </a:r>
            <a:r>
              <a:rPr lang="it-IT" dirty="0" err="1"/>
              <a:t>historical</a:t>
            </a:r>
            <a:r>
              <a:rPr lang="it-IT" dirty="0"/>
              <a:t> data."</a:t>
            </a:r>
          </a:p>
          <a:p>
            <a:endParaRPr lang="it-IT" dirty="0"/>
          </a:p>
          <a:p>
            <a:r>
              <a:rPr lang="it-IT" dirty="0" err="1"/>
              <a:t>Environmental</a:t>
            </a:r>
            <a:r>
              <a:rPr lang="it-IT" dirty="0"/>
              <a:t> hazards are multi-</a:t>
            </a:r>
            <a:r>
              <a:rPr lang="it-IT" dirty="0" err="1"/>
              <a:t>factor</a:t>
            </a:r>
            <a:r>
              <a:rPr lang="it-IT" dirty="0"/>
              <a:t>, </a:t>
            </a:r>
            <a:r>
              <a:rPr lang="it-IT" dirty="0" err="1"/>
              <a:t>highly</a:t>
            </a:r>
            <a:r>
              <a:rPr lang="it-IT" dirty="0"/>
              <a:t> non-linear, and data-</a:t>
            </a:r>
            <a:r>
              <a:rPr lang="it-IT" dirty="0" err="1"/>
              <a:t>rich</a:t>
            </a:r>
            <a:r>
              <a:rPr lang="it-IT" dirty="0"/>
              <a:t>, </a:t>
            </a:r>
            <a:r>
              <a:rPr lang="it-IT" dirty="0" err="1"/>
              <a:t>which</a:t>
            </a:r>
            <a:r>
              <a:rPr lang="it-IT" dirty="0"/>
              <a:t> makes </a:t>
            </a:r>
            <a:r>
              <a:rPr lang="it-IT" dirty="0" err="1"/>
              <a:t>them</a:t>
            </a:r>
            <a:r>
              <a:rPr lang="it-IT" dirty="0"/>
              <a:t> a </a:t>
            </a:r>
            <a:r>
              <a:rPr lang="it-IT" dirty="0" err="1"/>
              <a:t>perfect</a:t>
            </a:r>
            <a:r>
              <a:rPr lang="it-IT" dirty="0"/>
              <a:t> </a:t>
            </a:r>
            <a:r>
              <a:rPr lang="it-IT" dirty="0" err="1"/>
              <a:t>fit</a:t>
            </a:r>
            <a:r>
              <a:rPr lang="it-IT" dirty="0"/>
              <a:t> for machine learning. </a:t>
            </a:r>
            <a:r>
              <a:rPr lang="it-IT" dirty="0" err="1"/>
              <a:t>Traditional</a:t>
            </a:r>
            <a:r>
              <a:rPr lang="it-IT" dirty="0"/>
              <a:t> rule-</a:t>
            </a:r>
            <a:r>
              <a:rPr lang="it-IT" dirty="0" err="1"/>
              <a:t>based</a:t>
            </a:r>
            <a:r>
              <a:rPr lang="it-IT" dirty="0"/>
              <a:t> models </a:t>
            </a:r>
            <a:r>
              <a:rPr lang="it-IT" dirty="0" err="1"/>
              <a:t>struggle</a:t>
            </a:r>
            <a:r>
              <a:rPr lang="it-IT" dirty="0"/>
              <a:t> to </a:t>
            </a:r>
            <a:r>
              <a:rPr lang="it-IT" dirty="0" err="1"/>
              <a:t>capture</a:t>
            </a:r>
            <a:r>
              <a:rPr lang="it-IT" dirty="0"/>
              <a:t> </a:t>
            </a:r>
            <a:r>
              <a:rPr lang="it-IT" dirty="0" err="1"/>
              <a:t>how</a:t>
            </a:r>
            <a:r>
              <a:rPr lang="it-IT" dirty="0"/>
              <a:t> </a:t>
            </a:r>
            <a:r>
              <a:rPr lang="it-IT" dirty="0" err="1"/>
              <a:t>dozens</a:t>
            </a:r>
            <a:r>
              <a:rPr lang="it-IT" dirty="0"/>
              <a:t> of </a:t>
            </a:r>
            <a:r>
              <a:rPr lang="it-IT" dirty="0" err="1"/>
              <a:t>variables</a:t>
            </a:r>
            <a:r>
              <a:rPr lang="it-IT" dirty="0"/>
              <a:t> </a:t>
            </a:r>
            <a:r>
              <a:rPr lang="it-IT" dirty="0" err="1"/>
              <a:t>interact</a:t>
            </a:r>
            <a:r>
              <a:rPr lang="it-IT" dirty="0"/>
              <a:t> </a:t>
            </a:r>
            <a:r>
              <a:rPr lang="it-IT" dirty="0" err="1"/>
              <a:t>at</a:t>
            </a:r>
            <a:r>
              <a:rPr lang="it-IT" dirty="0"/>
              <a:t> once, </a:t>
            </a:r>
            <a:r>
              <a:rPr lang="it-IT" dirty="0" err="1"/>
              <a:t>but</a:t>
            </a:r>
            <a:r>
              <a:rPr lang="it-IT" dirty="0"/>
              <a:t> ML </a:t>
            </a:r>
            <a:r>
              <a:rPr lang="it-IT" dirty="0" err="1"/>
              <a:t>excels</a:t>
            </a:r>
            <a:r>
              <a:rPr lang="it-IT" dirty="0"/>
              <a:t> </a:t>
            </a:r>
            <a:r>
              <a:rPr lang="it-IT" dirty="0" err="1"/>
              <a:t>at</a:t>
            </a:r>
            <a:r>
              <a:rPr lang="it-IT" dirty="0"/>
              <a:t> </a:t>
            </a:r>
            <a:r>
              <a:rPr lang="it-IT" dirty="0" err="1"/>
              <a:t>finding</a:t>
            </a:r>
            <a:r>
              <a:rPr lang="it-IT" dirty="0"/>
              <a:t> </a:t>
            </a:r>
            <a:r>
              <a:rPr lang="it-IT" dirty="0" err="1"/>
              <a:t>those</a:t>
            </a:r>
            <a:r>
              <a:rPr lang="it-IT" dirty="0"/>
              <a:t> </a:t>
            </a:r>
            <a:r>
              <a:rPr lang="it-IT" dirty="0" err="1"/>
              <a:t>hidden</a:t>
            </a:r>
            <a:r>
              <a:rPr lang="it-IT" dirty="0"/>
              <a:t> </a:t>
            </a:r>
            <a:r>
              <a:rPr lang="it-IT" dirty="0" err="1"/>
              <a:t>historical</a:t>
            </a:r>
            <a:r>
              <a:rPr lang="it-IT" dirty="0"/>
              <a:t> patterns.</a:t>
            </a:r>
          </a:p>
          <a:p>
            <a:endParaRPr lang="it-IT" dirty="0"/>
          </a:p>
          <a:p>
            <a:r>
              <a:rPr lang="it-IT" dirty="0"/>
              <a:t>*(Optional </a:t>
            </a:r>
            <a:r>
              <a:rPr lang="it-IT" dirty="0" err="1"/>
              <a:t>joke</a:t>
            </a:r>
            <a:r>
              <a:rPr lang="it-IT" dirty="0"/>
              <a:t>)*: </a:t>
            </a:r>
            <a:r>
              <a:rPr lang="it-IT" dirty="0" err="1"/>
              <a:t>As</a:t>
            </a:r>
            <a:r>
              <a:rPr lang="it-IT" dirty="0"/>
              <a:t> </a:t>
            </a:r>
            <a:r>
              <a:rPr lang="it-IT" dirty="0" err="1"/>
              <a:t>this</a:t>
            </a:r>
            <a:r>
              <a:rPr lang="it-IT" dirty="0"/>
              <a:t> </a:t>
            </a:r>
            <a:r>
              <a:rPr lang="it-IT" dirty="0" err="1"/>
              <a:t>classic</a:t>
            </a:r>
            <a:r>
              <a:rPr lang="it-IT" dirty="0"/>
              <a:t> XKCD comic highlights, </a:t>
            </a:r>
            <a:r>
              <a:rPr lang="it-IT" dirty="0" err="1"/>
              <a:t>sometimes</a:t>
            </a:r>
            <a:r>
              <a:rPr lang="it-IT" dirty="0"/>
              <a:t> </a:t>
            </a:r>
            <a:r>
              <a:rPr lang="it-IT" dirty="0" err="1"/>
              <a:t>we</a:t>
            </a:r>
            <a:r>
              <a:rPr lang="it-IT" dirty="0"/>
              <a:t> just pour the data </a:t>
            </a:r>
            <a:r>
              <a:rPr lang="it-IT" dirty="0" err="1"/>
              <a:t>into</a:t>
            </a:r>
            <a:r>
              <a:rPr lang="it-IT" dirty="0"/>
              <a:t> a big pile of linear algebra and </a:t>
            </a:r>
            <a:r>
              <a:rPr lang="it-IT" dirty="0" err="1"/>
              <a:t>stir</a:t>
            </a:r>
            <a:r>
              <a:rPr lang="it-IT" dirty="0"/>
              <a:t> the pile </a:t>
            </a:r>
            <a:r>
              <a:rPr lang="it-IT" dirty="0" err="1"/>
              <a:t>until</a:t>
            </a:r>
            <a:r>
              <a:rPr lang="it-IT" dirty="0"/>
              <a:t> the </a:t>
            </a:r>
            <a:r>
              <a:rPr lang="it-IT" dirty="0" err="1"/>
              <a:t>answers</a:t>
            </a:r>
            <a:r>
              <a:rPr lang="it-IT" dirty="0"/>
              <a:t> look </a:t>
            </a:r>
            <a:r>
              <a:rPr lang="it-IT" dirty="0" err="1"/>
              <a:t>right</a:t>
            </a:r>
            <a:r>
              <a:rPr lang="it-IT" dirty="0"/>
              <a:t>!</a:t>
            </a:r>
          </a:p>
        </p:txBody>
      </p:sp>
      <p:sp>
        <p:nvSpPr>
          <p:cNvPr id="4" name="Slide Number Placeholder 3"/>
          <p:cNvSpPr>
            <a:spLocks noGrp="1"/>
          </p:cNvSpPr>
          <p:nvPr>
            <p:ph type="sldNum" sz="quarter" idx="5"/>
          </p:nvPr>
        </p:nvSpPr>
        <p:spPr/>
        <p:txBody>
          <a:bodyPr/>
          <a:lstStyle/>
          <a:p>
            <a:fld id="{21AAABC4-A8CC-1D4E-A9C3-CD427222022D}" type="slidenum">
              <a:rPr lang="it-IT" smtClean="0"/>
              <a:t>5</a:t>
            </a:fld>
            <a:endParaRPr lang="it-IT"/>
          </a:p>
        </p:txBody>
      </p:sp>
    </p:spTree>
    <p:extLst>
      <p:ext uri="{BB962C8B-B14F-4D97-AF65-F5344CB8AC3E}">
        <p14:creationId xmlns:p14="http://schemas.microsoft.com/office/powerpoint/2010/main" val="3555598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"No </a:t>
            </a:r>
            <a:r>
              <a:rPr lang="it-IT" dirty="0" err="1"/>
              <a:t>matter</a:t>
            </a:r>
            <a:r>
              <a:rPr lang="it-IT" dirty="0"/>
              <a:t> </a:t>
            </a:r>
            <a:r>
              <a:rPr lang="it-IT" dirty="0" err="1"/>
              <a:t>how</a:t>
            </a:r>
            <a:r>
              <a:rPr lang="it-IT" dirty="0"/>
              <a:t> sophisticated or </a:t>
            </a:r>
            <a:r>
              <a:rPr lang="it-IT" dirty="0" err="1"/>
              <a:t>advanced</a:t>
            </a:r>
            <a:r>
              <a:rPr lang="it-IT" dirty="0"/>
              <a:t> the </a:t>
            </a:r>
            <a:r>
              <a:rPr lang="it-IT" dirty="0" err="1"/>
              <a:t>algorithms</a:t>
            </a:r>
            <a:r>
              <a:rPr lang="it-IT" dirty="0"/>
              <a:t> or models </a:t>
            </a:r>
            <a:r>
              <a:rPr lang="it-IT" dirty="0" err="1"/>
              <a:t>used</a:t>
            </a:r>
            <a:r>
              <a:rPr lang="it-IT" dirty="0"/>
              <a:t> in data </a:t>
            </a:r>
            <a:r>
              <a:rPr lang="it-IT" dirty="0" err="1"/>
              <a:t>analysis</a:t>
            </a:r>
            <a:r>
              <a:rPr lang="it-IT" dirty="0"/>
              <a:t>, </a:t>
            </a:r>
            <a:r>
              <a:rPr lang="it-IT" dirty="0" err="1"/>
              <a:t>if</a:t>
            </a:r>
            <a:r>
              <a:rPr lang="it-IT" dirty="0"/>
              <a:t> the </a:t>
            </a:r>
            <a:r>
              <a:rPr lang="it-IT" dirty="0" err="1"/>
              <a:t>underlying</a:t>
            </a:r>
            <a:r>
              <a:rPr lang="it-IT" dirty="0"/>
              <a:t> data </a:t>
            </a:r>
            <a:r>
              <a:rPr lang="it-IT" dirty="0" err="1"/>
              <a:t>is</a:t>
            </a:r>
            <a:r>
              <a:rPr lang="it-IT" dirty="0"/>
              <a:t> </a:t>
            </a:r>
            <a:r>
              <a:rPr lang="it-IT" dirty="0" err="1"/>
              <a:t>flawed</a:t>
            </a:r>
            <a:r>
              <a:rPr lang="it-IT" dirty="0"/>
              <a:t> or inaccurate, the output </a:t>
            </a:r>
            <a:r>
              <a:rPr lang="it-IT" dirty="0" err="1"/>
              <a:t>will</a:t>
            </a:r>
            <a:r>
              <a:rPr lang="it-IT" dirty="0"/>
              <a:t> be </a:t>
            </a:r>
            <a:r>
              <a:rPr lang="it-IT" dirty="0" err="1"/>
              <a:t>equally</a:t>
            </a:r>
            <a:r>
              <a:rPr lang="it-IT" dirty="0"/>
              <a:t> </a:t>
            </a:r>
            <a:r>
              <a:rPr lang="it-IT" dirty="0" err="1"/>
              <a:t>flawed</a:t>
            </a:r>
            <a:r>
              <a:rPr lang="it-IT" dirty="0"/>
              <a:t>."</a:t>
            </a:r>
          </a:p>
          <a:p>
            <a:endParaRPr lang="it-IT" dirty="0"/>
          </a:p>
          <a:p>
            <a:r>
              <a:rPr lang="it-IT" dirty="0" err="1"/>
              <a:t>This</a:t>
            </a:r>
            <a:r>
              <a:rPr lang="it-IT" dirty="0"/>
              <a:t> </a:t>
            </a:r>
            <a:r>
              <a:rPr lang="it-IT" dirty="0" err="1"/>
              <a:t>is</a:t>
            </a:r>
            <a:r>
              <a:rPr lang="it-IT" dirty="0"/>
              <a:t> the golden rule of machine learning. Data </a:t>
            </a:r>
            <a:r>
              <a:rPr lang="it-IT" dirty="0" err="1"/>
              <a:t>quality</a:t>
            </a:r>
            <a:r>
              <a:rPr lang="it-IT" dirty="0"/>
              <a:t> and </a:t>
            </a:r>
            <a:r>
              <a:rPr lang="it-IT" dirty="0" err="1"/>
              <a:t>preprocessing</a:t>
            </a:r>
            <a:r>
              <a:rPr lang="it-IT" dirty="0"/>
              <a:t> </a:t>
            </a:r>
            <a:r>
              <a:rPr lang="it-IT" dirty="0" err="1"/>
              <a:t>typically</a:t>
            </a:r>
            <a:r>
              <a:rPr lang="it-IT" dirty="0"/>
              <a:t> make up </a:t>
            </a:r>
            <a:r>
              <a:rPr lang="it-IT" dirty="0" err="1"/>
              <a:t>about</a:t>
            </a:r>
            <a:r>
              <a:rPr lang="it-IT" dirty="0"/>
              <a:t> 80% of the </a:t>
            </a:r>
            <a:r>
              <a:rPr lang="it-IT" dirty="0" err="1"/>
              <a:t>actual</a:t>
            </a:r>
            <a:r>
              <a:rPr lang="it-IT" dirty="0"/>
              <a:t> work. A </a:t>
            </a:r>
            <a:r>
              <a:rPr lang="it-IT" dirty="0" err="1"/>
              <a:t>brilliant</a:t>
            </a:r>
            <a:r>
              <a:rPr lang="it-IT" dirty="0"/>
              <a:t> </a:t>
            </a:r>
            <a:r>
              <a:rPr lang="it-IT" dirty="0" err="1"/>
              <a:t>algorithm</a:t>
            </a:r>
            <a:r>
              <a:rPr lang="it-IT" dirty="0"/>
              <a:t> </a:t>
            </a:r>
            <a:r>
              <a:rPr lang="it-IT" dirty="0" err="1"/>
              <a:t>is</a:t>
            </a:r>
            <a:r>
              <a:rPr lang="it-IT" dirty="0"/>
              <a:t> </a:t>
            </a:r>
            <a:r>
              <a:rPr lang="it-IT" dirty="0" err="1"/>
              <a:t>entirely</a:t>
            </a:r>
            <a:r>
              <a:rPr lang="it-IT" dirty="0"/>
              <a:t> </a:t>
            </a:r>
            <a:r>
              <a:rPr lang="it-IT" dirty="0" err="1"/>
              <a:t>useless</a:t>
            </a:r>
            <a:r>
              <a:rPr lang="it-IT" dirty="0"/>
              <a:t> </a:t>
            </a:r>
            <a:r>
              <a:rPr lang="it-IT" dirty="0" err="1"/>
              <a:t>if</a:t>
            </a:r>
            <a:r>
              <a:rPr lang="it-IT" dirty="0"/>
              <a:t> </a:t>
            </a:r>
            <a:r>
              <a:rPr lang="it-IT" dirty="0" err="1"/>
              <a:t>it</a:t>
            </a:r>
            <a:r>
              <a:rPr lang="it-IT" dirty="0"/>
              <a:t> </a:t>
            </a:r>
            <a:r>
              <a:rPr lang="it-IT" dirty="0" err="1"/>
              <a:t>is</a:t>
            </a:r>
            <a:r>
              <a:rPr lang="it-IT" dirty="0"/>
              <a:t> </a:t>
            </a:r>
            <a:r>
              <a:rPr lang="it-IT" dirty="0" err="1"/>
              <a:t>fed</a:t>
            </a:r>
            <a:r>
              <a:rPr lang="it-IT" dirty="0"/>
              <a:t> </a:t>
            </a:r>
            <a:r>
              <a:rPr lang="it-IT" dirty="0" err="1"/>
              <a:t>bad</a:t>
            </a:r>
            <a:r>
              <a:rPr lang="it-IT" dirty="0"/>
              <a:t> data. </a:t>
            </a:r>
            <a:r>
              <a:rPr lang="it-IT" dirty="0" err="1"/>
              <a:t>This</a:t>
            </a:r>
            <a:r>
              <a:rPr lang="it-IT" dirty="0"/>
              <a:t> </a:t>
            </a:r>
            <a:r>
              <a:rPr lang="it-IT" dirty="0" err="1"/>
              <a:t>is</a:t>
            </a:r>
            <a:r>
              <a:rPr lang="it-IT" dirty="0"/>
              <a:t> </a:t>
            </a:r>
            <a:r>
              <a:rPr lang="it-IT" dirty="0" err="1"/>
              <a:t>especially</a:t>
            </a:r>
            <a:r>
              <a:rPr lang="it-IT" dirty="0"/>
              <a:t> </a:t>
            </a:r>
            <a:r>
              <a:rPr lang="it-IT" dirty="0" err="1"/>
              <a:t>true</a:t>
            </a:r>
            <a:r>
              <a:rPr lang="it-IT" dirty="0"/>
              <a:t> in </a:t>
            </a:r>
            <a:r>
              <a:rPr lang="it-IT" dirty="0" err="1"/>
              <a:t>environmental</a:t>
            </a:r>
            <a:r>
              <a:rPr lang="it-IT" dirty="0"/>
              <a:t> science, </a:t>
            </a:r>
            <a:r>
              <a:rPr lang="it-IT" dirty="0" err="1"/>
              <a:t>where</a:t>
            </a:r>
            <a:r>
              <a:rPr lang="it-IT" dirty="0"/>
              <a:t> </a:t>
            </a:r>
            <a:r>
              <a:rPr lang="it-IT" dirty="0" err="1"/>
              <a:t>we</a:t>
            </a:r>
            <a:r>
              <a:rPr lang="it-IT" dirty="0"/>
              <a:t> </a:t>
            </a:r>
            <a:r>
              <a:rPr lang="it-IT" dirty="0" err="1"/>
              <a:t>constantly</a:t>
            </a:r>
            <a:r>
              <a:rPr lang="it-IT" dirty="0"/>
              <a:t> deal with </a:t>
            </a:r>
            <a:r>
              <a:rPr lang="it-IT" dirty="0" err="1"/>
              <a:t>failed</a:t>
            </a:r>
            <a:r>
              <a:rPr lang="it-IT" dirty="0"/>
              <a:t> </a:t>
            </a:r>
            <a:r>
              <a:rPr lang="it-IT" dirty="0" err="1"/>
              <a:t>sensors</a:t>
            </a:r>
            <a:r>
              <a:rPr lang="it-IT" dirty="0"/>
              <a:t>, cloud cover on satellite </a:t>
            </a:r>
            <a:r>
              <a:rPr lang="it-IT" dirty="0" err="1"/>
              <a:t>imagery</a:t>
            </a:r>
            <a:r>
              <a:rPr lang="it-IT" dirty="0"/>
              <a:t>, and </a:t>
            </a:r>
            <a:r>
              <a:rPr lang="it-IT" dirty="0" err="1"/>
              <a:t>messy</a:t>
            </a:r>
            <a:r>
              <a:rPr lang="it-IT" dirty="0"/>
              <a:t> data from </a:t>
            </a:r>
            <a:r>
              <a:rPr lang="it-IT" dirty="0" err="1"/>
              <a:t>completely</a:t>
            </a:r>
            <a:r>
              <a:rPr lang="it-IT" dirty="0"/>
              <a:t> </a:t>
            </a:r>
            <a:r>
              <a:rPr lang="it-IT" dirty="0" err="1"/>
              <a:t>heterogeneous</a:t>
            </a:r>
            <a:r>
              <a:rPr lang="it-IT" dirty="0"/>
              <a:t> sources.</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6</a:t>
            </a:fld>
            <a:endParaRPr lang="it-IT"/>
          </a:p>
        </p:txBody>
      </p:sp>
    </p:spTree>
    <p:extLst>
      <p:ext uri="{BB962C8B-B14F-4D97-AF65-F5344CB8AC3E}">
        <p14:creationId xmlns:p14="http://schemas.microsoft.com/office/powerpoint/2010/main" val="3977629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err="1"/>
              <a:t>Looking</a:t>
            </a:r>
            <a:r>
              <a:rPr lang="it-IT" dirty="0"/>
              <a:t> </a:t>
            </a:r>
            <a:r>
              <a:rPr lang="it-IT" dirty="0" err="1"/>
              <a:t>at</a:t>
            </a:r>
            <a:r>
              <a:rPr lang="it-IT" dirty="0"/>
              <a:t> </a:t>
            </a:r>
            <a:r>
              <a:rPr lang="it-IT" dirty="0" err="1"/>
              <a:t>this</a:t>
            </a:r>
            <a:r>
              <a:rPr lang="it-IT" dirty="0"/>
              <a:t> </a:t>
            </a:r>
            <a:r>
              <a:rPr lang="it-IT" dirty="0" err="1"/>
              <a:t>diagram</a:t>
            </a:r>
            <a:r>
              <a:rPr lang="it-IT" dirty="0"/>
              <a:t> of the pipeline, </a:t>
            </a:r>
            <a:r>
              <a:rPr lang="it-IT" dirty="0" err="1"/>
              <a:t>we</a:t>
            </a:r>
            <a:r>
              <a:rPr lang="it-IT" dirty="0"/>
              <a:t> can </a:t>
            </a:r>
            <a:r>
              <a:rPr lang="it-IT" dirty="0" err="1"/>
              <a:t>see</a:t>
            </a:r>
            <a:r>
              <a:rPr lang="it-IT" dirty="0"/>
              <a:t> </a:t>
            </a:r>
            <a:r>
              <a:rPr lang="it-IT" dirty="0" err="1"/>
              <a:t>exactly</a:t>
            </a:r>
            <a:r>
              <a:rPr lang="it-IT" dirty="0"/>
              <a:t> </a:t>
            </a:r>
            <a:r>
              <a:rPr lang="it-IT" dirty="0" err="1"/>
              <a:t>how</a:t>
            </a:r>
            <a:r>
              <a:rPr lang="it-IT" dirty="0"/>
              <a:t> the data flows from </a:t>
            </a:r>
            <a:r>
              <a:rPr lang="it-IT" dirty="0" err="1"/>
              <a:t>its</a:t>
            </a:r>
            <a:r>
              <a:rPr lang="it-IT" dirty="0"/>
              <a:t> </a:t>
            </a:r>
            <a:r>
              <a:rPr lang="it-IT" dirty="0" err="1"/>
              <a:t>raw</a:t>
            </a:r>
            <a:r>
              <a:rPr lang="it-IT" dirty="0"/>
              <a:t> state, </a:t>
            </a:r>
            <a:r>
              <a:rPr lang="it-IT" dirty="0" err="1"/>
              <a:t>through</a:t>
            </a:r>
            <a:r>
              <a:rPr lang="it-IT" dirty="0"/>
              <a:t> </a:t>
            </a:r>
            <a:r>
              <a:rPr lang="it-IT" dirty="0" err="1"/>
              <a:t>preprocessing</a:t>
            </a:r>
            <a:r>
              <a:rPr lang="it-IT" dirty="0"/>
              <a:t>, and </a:t>
            </a:r>
            <a:r>
              <a:rPr lang="it-IT" dirty="0" err="1"/>
              <a:t>straight</a:t>
            </a:r>
            <a:r>
              <a:rPr lang="it-IT" dirty="0"/>
              <a:t> </a:t>
            </a:r>
            <a:r>
              <a:rPr lang="it-IT" dirty="0" err="1"/>
              <a:t>into</a:t>
            </a:r>
            <a:r>
              <a:rPr lang="it-IT" dirty="0"/>
              <a:t> the model training </a:t>
            </a:r>
            <a:r>
              <a:rPr lang="it-IT" dirty="0" err="1"/>
              <a:t>phase</a:t>
            </a:r>
            <a:r>
              <a:rPr lang="it-IT" dirty="0"/>
              <a:t>.</a:t>
            </a:r>
          </a:p>
        </p:txBody>
      </p:sp>
      <p:sp>
        <p:nvSpPr>
          <p:cNvPr id="4" name="Slide Number Placeholder 3"/>
          <p:cNvSpPr>
            <a:spLocks noGrp="1"/>
          </p:cNvSpPr>
          <p:nvPr>
            <p:ph type="sldNum" sz="quarter" idx="5"/>
          </p:nvPr>
        </p:nvSpPr>
        <p:spPr/>
        <p:txBody>
          <a:bodyPr/>
          <a:lstStyle/>
          <a:p>
            <a:fld id="{21AAABC4-A8CC-1D4E-A9C3-CD427222022D}" type="slidenum">
              <a:rPr lang="it-IT" smtClean="0"/>
              <a:t>8</a:t>
            </a:fld>
            <a:endParaRPr lang="it-IT"/>
          </a:p>
        </p:txBody>
      </p:sp>
    </p:spTree>
    <p:extLst>
      <p:ext uri="{BB962C8B-B14F-4D97-AF65-F5344CB8AC3E}">
        <p14:creationId xmlns:p14="http://schemas.microsoft.com/office/powerpoint/2010/main" val="37073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a:t>
            </a:r>
            <a:r>
              <a:rPr lang="it-IT" dirty="0" err="1"/>
              <a:t>Supervised</a:t>
            </a:r>
            <a:r>
              <a:rPr lang="it-IT" dirty="0"/>
              <a:t> and </a:t>
            </a:r>
            <a:r>
              <a:rPr lang="it-IT" dirty="0" err="1"/>
              <a:t>unsupervised</a:t>
            </a:r>
            <a:r>
              <a:rPr lang="it-IT" dirty="0"/>
              <a:t> learning are the </a:t>
            </a:r>
            <a:r>
              <a:rPr lang="it-IT" dirty="0" err="1"/>
              <a:t>two</a:t>
            </a:r>
            <a:r>
              <a:rPr lang="it-IT" dirty="0"/>
              <a:t> </a:t>
            </a:r>
            <a:r>
              <a:rPr lang="it-IT" dirty="0" err="1"/>
              <a:t>main</a:t>
            </a:r>
            <a:r>
              <a:rPr lang="it-IT" dirty="0"/>
              <a:t> machine learning </a:t>
            </a:r>
            <a:r>
              <a:rPr lang="it-IT" dirty="0" err="1"/>
              <a:t>categories</a:t>
            </a:r>
            <a:r>
              <a:rPr lang="it-IT" dirty="0"/>
              <a:t>. The key </a:t>
            </a:r>
            <a:r>
              <a:rPr lang="it-IT" dirty="0" err="1"/>
              <a:t>difference</a:t>
            </a:r>
            <a:r>
              <a:rPr lang="it-IT" dirty="0"/>
              <a:t> </a:t>
            </a:r>
            <a:r>
              <a:rPr lang="it-IT" dirty="0" err="1"/>
              <a:t>between</a:t>
            </a:r>
            <a:r>
              <a:rPr lang="it-IT" dirty="0"/>
              <a:t> </a:t>
            </a:r>
            <a:r>
              <a:rPr lang="it-IT" dirty="0" err="1"/>
              <a:t>supervised</a:t>
            </a:r>
            <a:r>
              <a:rPr lang="it-IT" dirty="0"/>
              <a:t> and </a:t>
            </a:r>
            <a:r>
              <a:rPr lang="it-IT" dirty="0" err="1"/>
              <a:t>unsupervised</a:t>
            </a:r>
            <a:r>
              <a:rPr lang="it-IT" dirty="0"/>
              <a:t> learning </a:t>
            </a:r>
            <a:r>
              <a:rPr lang="it-IT" dirty="0" err="1"/>
              <a:t>is</a:t>
            </a:r>
            <a:r>
              <a:rPr lang="it-IT" dirty="0"/>
              <a:t> the use of labels."</a:t>
            </a:r>
          </a:p>
          <a:p>
            <a:endParaRPr lang="it-IT" dirty="0"/>
          </a:p>
          <a:p>
            <a:r>
              <a:rPr lang="it-IT" dirty="0"/>
              <a:t>The </a:t>
            </a:r>
            <a:r>
              <a:rPr lang="it-IT" dirty="0" err="1"/>
              <a:t>distinction</a:t>
            </a:r>
            <a:r>
              <a:rPr lang="it-IT" dirty="0"/>
              <a:t> </a:t>
            </a:r>
            <a:r>
              <a:rPr lang="it-IT" dirty="0" err="1"/>
              <a:t>here</a:t>
            </a:r>
            <a:r>
              <a:rPr lang="it-IT" dirty="0"/>
              <a:t> </a:t>
            </a:r>
            <a:r>
              <a:rPr lang="it-IT" dirty="0" err="1"/>
              <a:t>is</a:t>
            </a:r>
            <a:r>
              <a:rPr lang="it-IT" dirty="0"/>
              <a:t> </a:t>
            </a:r>
            <a:r>
              <a:rPr lang="it-IT" dirty="0" err="1"/>
              <a:t>straightforward</a:t>
            </a:r>
            <a:r>
              <a:rPr lang="it-IT" dirty="0"/>
              <a:t>. In **</a:t>
            </a:r>
            <a:r>
              <a:rPr lang="it-IT" dirty="0" err="1"/>
              <a:t>Supervised</a:t>
            </a:r>
            <a:r>
              <a:rPr lang="it-IT" dirty="0"/>
              <a:t> Learning**, </a:t>
            </a:r>
            <a:r>
              <a:rPr lang="it-IT" dirty="0" err="1"/>
              <a:t>you</a:t>
            </a:r>
            <a:r>
              <a:rPr lang="it-IT" dirty="0"/>
              <a:t> provide the model with input-output </a:t>
            </a:r>
            <a:r>
              <a:rPr lang="it-IT" dirty="0" err="1"/>
              <a:t>pairs</a:t>
            </a:r>
            <a:r>
              <a:rPr lang="it-IT" dirty="0"/>
              <a:t>—</a:t>
            </a:r>
            <a:r>
              <a:rPr lang="it-IT" dirty="0" err="1"/>
              <a:t>meaning</a:t>
            </a:r>
            <a:r>
              <a:rPr lang="it-IT" dirty="0"/>
              <a:t> </a:t>
            </a:r>
            <a:r>
              <a:rPr lang="it-IT" dirty="0" err="1"/>
              <a:t>you</a:t>
            </a:r>
            <a:r>
              <a:rPr lang="it-IT" dirty="0"/>
              <a:t> </a:t>
            </a:r>
            <a:r>
              <a:rPr lang="it-IT" dirty="0" err="1"/>
              <a:t>have</a:t>
            </a:r>
            <a:r>
              <a:rPr lang="it-IT" dirty="0"/>
              <a:t> features ($X$) and a </a:t>
            </a:r>
            <a:r>
              <a:rPr lang="it-IT" dirty="0" err="1"/>
              <a:t>corresponding</a:t>
            </a:r>
            <a:r>
              <a:rPr lang="it-IT" dirty="0"/>
              <a:t> label ($y$) so the model can </a:t>
            </a:r>
            <a:r>
              <a:rPr lang="it-IT" dirty="0" err="1"/>
              <a:t>learn</a:t>
            </a:r>
            <a:r>
              <a:rPr lang="it-IT" dirty="0"/>
              <a:t> the mapping from $X \</a:t>
            </a:r>
            <a:r>
              <a:rPr lang="it-IT" dirty="0" err="1"/>
              <a:t>rightarrow</a:t>
            </a:r>
            <a:r>
              <a:rPr lang="it-IT" dirty="0"/>
              <a:t> y$. In **</a:t>
            </a:r>
            <a:r>
              <a:rPr lang="it-IT" dirty="0" err="1"/>
              <a:t>Unsupervised</a:t>
            </a:r>
            <a:r>
              <a:rPr lang="it-IT" dirty="0"/>
              <a:t> Learning**, </a:t>
            </a:r>
            <a:r>
              <a:rPr lang="it-IT" dirty="0" err="1"/>
              <a:t>there</a:t>
            </a:r>
            <a:r>
              <a:rPr lang="it-IT" dirty="0"/>
              <a:t> are no labels; the model </a:t>
            </a:r>
            <a:r>
              <a:rPr lang="it-IT" dirty="0" err="1"/>
              <a:t>is</a:t>
            </a:r>
            <a:r>
              <a:rPr lang="it-IT" dirty="0"/>
              <a:t> </a:t>
            </a:r>
            <a:r>
              <a:rPr lang="it-IT" dirty="0" err="1"/>
              <a:t>left</a:t>
            </a:r>
            <a:r>
              <a:rPr lang="it-IT" dirty="0"/>
              <a:t> to </a:t>
            </a:r>
            <a:r>
              <a:rPr lang="it-IT" dirty="0" err="1"/>
              <a:t>find</a:t>
            </a:r>
            <a:r>
              <a:rPr lang="it-IT" dirty="0"/>
              <a:t> </a:t>
            </a:r>
            <a:r>
              <a:rPr lang="it-IT" dirty="0" err="1"/>
              <a:t>hidden</a:t>
            </a:r>
            <a:r>
              <a:rPr lang="it-IT" dirty="0"/>
              <a:t> </a:t>
            </a:r>
            <a:r>
              <a:rPr lang="it-IT" dirty="0" err="1"/>
              <a:t>structures</a:t>
            </a:r>
            <a:r>
              <a:rPr lang="it-IT" dirty="0"/>
              <a:t> or clusters on </a:t>
            </a:r>
            <a:r>
              <a:rPr lang="it-IT" dirty="0" err="1"/>
              <a:t>its</a:t>
            </a:r>
            <a:r>
              <a:rPr lang="it-IT" dirty="0"/>
              <a:t> </a:t>
            </a:r>
            <a:r>
              <a:rPr lang="it-IT" dirty="0" err="1"/>
              <a:t>own</a:t>
            </a:r>
            <a:r>
              <a:rPr lang="it-IT" dirty="0"/>
              <a:t>. In </a:t>
            </a:r>
            <a:r>
              <a:rPr lang="it-IT" dirty="0" err="1"/>
              <a:t>environmental</a:t>
            </a:r>
            <a:r>
              <a:rPr lang="it-IT" dirty="0"/>
              <a:t> </a:t>
            </a:r>
            <a:r>
              <a:rPr lang="it-IT" dirty="0" err="1"/>
              <a:t>applications</a:t>
            </a:r>
            <a:r>
              <a:rPr lang="it-IT" dirty="0"/>
              <a:t>, </a:t>
            </a:r>
            <a:r>
              <a:rPr lang="it-IT" dirty="0" err="1"/>
              <a:t>we</a:t>
            </a:r>
            <a:r>
              <a:rPr lang="it-IT" dirty="0"/>
              <a:t> </a:t>
            </a:r>
            <a:r>
              <a:rPr lang="it-IT" dirty="0" err="1"/>
              <a:t>spend</a:t>
            </a:r>
            <a:r>
              <a:rPr lang="it-IT" dirty="0"/>
              <a:t> </a:t>
            </a:r>
            <a:r>
              <a:rPr lang="it-IT" dirty="0" err="1"/>
              <a:t>most</a:t>
            </a:r>
            <a:r>
              <a:rPr lang="it-IT" dirty="0"/>
              <a:t> of </a:t>
            </a:r>
            <a:r>
              <a:rPr lang="it-IT" dirty="0" err="1"/>
              <a:t>our</a:t>
            </a:r>
            <a:r>
              <a:rPr lang="it-IT" dirty="0"/>
              <a:t> time in </a:t>
            </a:r>
            <a:r>
              <a:rPr lang="it-IT" dirty="0" err="1"/>
              <a:t>supervised</a:t>
            </a:r>
            <a:r>
              <a:rPr lang="it-IT" dirty="0"/>
              <a:t> learning, </a:t>
            </a:r>
            <a:r>
              <a:rPr lang="it-IT" dirty="0" err="1"/>
              <a:t>predicting</a:t>
            </a:r>
            <a:r>
              <a:rPr lang="it-IT" dirty="0"/>
              <a:t> </a:t>
            </a:r>
            <a:r>
              <a:rPr lang="it-IT" dirty="0" err="1"/>
              <a:t>things</a:t>
            </a:r>
            <a:r>
              <a:rPr lang="it-IT" dirty="0"/>
              <a:t> like </a:t>
            </a:r>
            <a:r>
              <a:rPr lang="it-IT" dirty="0" err="1"/>
              <a:t>fire</a:t>
            </a:r>
            <a:r>
              <a:rPr lang="it-IT" dirty="0"/>
              <a:t> </a:t>
            </a:r>
            <a:r>
              <a:rPr lang="it-IT" dirty="0" err="1"/>
              <a:t>occurrence</a:t>
            </a:r>
            <a:r>
              <a:rPr lang="it-IT" dirty="0"/>
              <a:t>, </a:t>
            </a:r>
            <a:r>
              <a:rPr lang="it-IT" dirty="0" err="1"/>
              <a:t>species</a:t>
            </a:r>
            <a:r>
              <a:rPr lang="it-IT" dirty="0"/>
              <a:t> </a:t>
            </a:r>
            <a:r>
              <a:rPr lang="it-IT" dirty="0" err="1"/>
              <a:t>distribution</a:t>
            </a:r>
            <a:r>
              <a:rPr lang="it-IT" dirty="0"/>
              <a:t>, or flood risk.</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9</a:t>
            </a:fld>
            <a:endParaRPr lang="it-IT"/>
          </a:p>
        </p:txBody>
      </p:sp>
    </p:spTree>
    <p:extLst>
      <p:ext uri="{BB962C8B-B14F-4D97-AF65-F5344CB8AC3E}">
        <p14:creationId xmlns:p14="http://schemas.microsoft.com/office/powerpoint/2010/main" val="295696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**Features (input </a:t>
            </a:r>
            <a:r>
              <a:rPr lang="it-IT" dirty="0" err="1"/>
              <a:t>variables</a:t>
            </a:r>
            <a:r>
              <a:rPr lang="it-IT" dirty="0"/>
              <a:t>):** </a:t>
            </a:r>
            <a:r>
              <a:rPr lang="it-IT" dirty="0" err="1"/>
              <a:t>Individual</a:t>
            </a:r>
            <a:r>
              <a:rPr lang="it-IT" dirty="0"/>
              <a:t> </a:t>
            </a:r>
            <a:r>
              <a:rPr lang="it-IT" dirty="0" err="1"/>
              <a:t>measurable</a:t>
            </a:r>
            <a:r>
              <a:rPr lang="it-IT" dirty="0"/>
              <a:t> </a:t>
            </a:r>
            <a:r>
              <a:rPr lang="it-IT" dirty="0" err="1"/>
              <a:t>properties</a:t>
            </a:r>
            <a:r>
              <a:rPr lang="it-IT" dirty="0"/>
              <a:t> of a </a:t>
            </a:r>
            <a:r>
              <a:rPr lang="it-IT" dirty="0" err="1"/>
              <a:t>phenomenon</a:t>
            </a:r>
            <a:r>
              <a:rPr lang="it-IT" dirty="0"/>
              <a:t> — e.g., </a:t>
            </a:r>
            <a:r>
              <a:rPr lang="it-IT" dirty="0" err="1"/>
              <a:t>elevation</a:t>
            </a:r>
            <a:r>
              <a:rPr lang="it-IT" dirty="0"/>
              <a:t>, </a:t>
            </a:r>
            <a:r>
              <a:rPr lang="it-IT" dirty="0" err="1"/>
              <a:t>slope</a:t>
            </a:r>
            <a:r>
              <a:rPr lang="it-IT" dirty="0"/>
              <a:t>, NDVI, </a:t>
            </a:r>
            <a:r>
              <a:rPr lang="it-IT" dirty="0" err="1"/>
              <a:t>distance</a:t>
            </a:r>
            <a:r>
              <a:rPr lang="it-IT" dirty="0"/>
              <a:t> to roads.</a:t>
            </a:r>
          </a:p>
          <a:p>
            <a:r>
              <a:rPr lang="it-IT" dirty="0"/>
              <a:t>**Labels (target </a:t>
            </a:r>
            <a:r>
              <a:rPr lang="it-IT" dirty="0" err="1"/>
              <a:t>variable</a:t>
            </a:r>
            <a:r>
              <a:rPr lang="it-IT" dirty="0"/>
              <a:t>):** </a:t>
            </a:r>
            <a:r>
              <a:rPr lang="it-IT" dirty="0" err="1"/>
              <a:t>What</a:t>
            </a:r>
            <a:r>
              <a:rPr lang="it-IT" dirty="0"/>
              <a:t> </a:t>
            </a:r>
            <a:r>
              <a:rPr lang="it-IT" dirty="0" err="1"/>
              <a:t>we</a:t>
            </a:r>
            <a:r>
              <a:rPr lang="it-IT" dirty="0"/>
              <a:t> </a:t>
            </a:r>
            <a:r>
              <a:rPr lang="it-IT" dirty="0" err="1"/>
              <a:t>want</a:t>
            </a:r>
            <a:r>
              <a:rPr lang="it-IT" dirty="0"/>
              <a:t> to </a:t>
            </a:r>
            <a:r>
              <a:rPr lang="it-IT" dirty="0" err="1"/>
              <a:t>predict</a:t>
            </a:r>
            <a:r>
              <a:rPr lang="it-IT" dirty="0"/>
              <a:t> — e.g., </a:t>
            </a:r>
            <a:r>
              <a:rPr lang="it-IT" dirty="0" err="1"/>
              <a:t>burned</a:t>
            </a:r>
            <a:r>
              <a:rPr lang="it-IT" dirty="0"/>
              <a:t> / </a:t>
            </a:r>
            <a:r>
              <a:rPr lang="it-IT" dirty="0" err="1"/>
              <a:t>not</a:t>
            </a:r>
            <a:r>
              <a:rPr lang="it-IT" dirty="0"/>
              <a:t> </a:t>
            </a:r>
            <a:r>
              <a:rPr lang="it-IT" dirty="0" err="1"/>
              <a:t>burned</a:t>
            </a:r>
            <a:r>
              <a:rPr lang="it-IT" dirty="0"/>
              <a:t>.</a:t>
            </a:r>
          </a:p>
          <a:p>
            <a:endParaRPr lang="it-IT" dirty="0"/>
          </a:p>
          <a:p>
            <a:r>
              <a:rPr lang="it-IT" dirty="0" err="1"/>
              <a:t>Both</a:t>
            </a:r>
            <a:r>
              <a:rPr lang="it-IT" dirty="0"/>
              <a:t> of </a:t>
            </a:r>
            <a:r>
              <a:rPr lang="it-IT" dirty="0" err="1"/>
              <a:t>these</a:t>
            </a:r>
            <a:r>
              <a:rPr lang="it-IT" dirty="0"/>
              <a:t> can be **</a:t>
            </a:r>
            <a:r>
              <a:rPr lang="it-IT" dirty="0" err="1"/>
              <a:t>Numerical</a:t>
            </a:r>
            <a:r>
              <a:rPr lang="it-IT" dirty="0"/>
              <a:t>**, </a:t>
            </a:r>
            <a:r>
              <a:rPr lang="it-IT" dirty="0" err="1"/>
              <a:t>meaning</a:t>
            </a:r>
            <a:r>
              <a:rPr lang="it-IT" dirty="0"/>
              <a:t> </a:t>
            </a:r>
            <a:r>
              <a:rPr lang="it-IT" dirty="0" err="1"/>
              <a:t>continuous</a:t>
            </a:r>
            <a:r>
              <a:rPr lang="it-IT" dirty="0"/>
              <a:t> </a:t>
            </a:r>
            <a:r>
              <a:rPr lang="it-IT" dirty="0" err="1"/>
              <a:t>values</a:t>
            </a:r>
            <a:r>
              <a:rPr lang="it-IT" dirty="0"/>
              <a:t> like temperature or </a:t>
            </a:r>
            <a:r>
              <a:rPr lang="it-IT" dirty="0" err="1"/>
              <a:t>elevation</a:t>
            </a:r>
            <a:r>
              <a:rPr lang="it-IT" dirty="0"/>
              <a:t>, or **</a:t>
            </a:r>
            <a:r>
              <a:rPr lang="it-IT" dirty="0" err="1"/>
              <a:t>Categorical</a:t>
            </a:r>
            <a:r>
              <a:rPr lang="it-IT" dirty="0"/>
              <a:t>**, </a:t>
            </a:r>
            <a:r>
              <a:rPr lang="it-IT" dirty="0" err="1"/>
              <a:t>representing</a:t>
            </a:r>
            <a:r>
              <a:rPr lang="it-IT" dirty="0"/>
              <a:t> discrete classes like </a:t>
            </a:r>
            <a:r>
              <a:rPr lang="it-IT" dirty="0" err="1"/>
              <a:t>vegetation</a:t>
            </a:r>
            <a:r>
              <a:rPr lang="it-IT" dirty="0"/>
              <a:t> </a:t>
            </a:r>
            <a:r>
              <a:rPr lang="it-IT" dirty="0" err="1"/>
              <a:t>type</a:t>
            </a:r>
            <a:r>
              <a:rPr lang="it-IT" dirty="0"/>
              <a:t> or </a:t>
            </a:r>
            <a:r>
              <a:rPr lang="it-IT" dirty="0" err="1"/>
              <a:t>land</a:t>
            </a:r>
            <a:r>
              <a:rPr lang="it-IT" dirty="0"/>
              <a:t> use. </a:t>
            </a:r>
            <a:r>
              <a:rPr lang="it-IT" dirty="0" err="1"/>
              <a:t>This</a:t>
            </a:r>
            <a:r>
              <a:rPr lang="it-IT" dirty="0"/>
              <a:t> </a:t>
            </a:r>
            <a:r>
              <a:rPr lang="it-IT" dirty="0" err="1"/>
              <a:t>vocabulary</a:t>
            </a:r>
            <a:r>
              <a:rPr lang="it-IT" dirty="0"/>
              <a:t> </a:t>
            </a:r>
            <a:r>
              <a:rPr lang="it-IT" dirty="0" err="1"/>
              <a:t>is</a:t>
            </a:r>
            <a:r>
              <a:rPr lang="it-IT" dirty="0"/>
              <a:t> </a:t>
            </a:r>
            <a:r>
              <a:rPr lang="it-IT" dirty="0" err="1"/>
              <a:t>foundational</a:t>
            </a:r>
            <a:r>
              <a:rPr lang="it-IT" dirty="0"/>
              <a:t>, so </a:t>
            </a:r>
            <a:r>
              <a:rPr lang="it-IT" dirty="0" err="1"/>
              <a:t>ensure</a:t>
            </a:r>
            <a:r>
              <a:rPr lang="it-IT" dirty="0"/>
              <a:t> </a:t>
            </a:r>
            <a:r>
              <a:rPr lang="it-IT" dirty="0" err="1"/>
              <a:t>you</a:t>
            </a:r>
            <a:r>
              <a:rPr lang="it-IT" dirty="0"/>
              <a:t> are </a:t>
            </a:r>
            <a:r>
              <a:rPr lang="it-IT" dirty="0" err="1"/>
              <a:t>completely</a:t>
            </a:r>
            <a:r>
              <a:rPr lang="it-IT" dirty="0"/>
              <a:t> </a:t>
            </a:r>
            <a:r>
              <a:rPr lang="it-IT" dirty="0" err="1"/>
              <a:t>comfortable</a:t>
            </a:r>
            <a:r>
              <a:rPr lang="it-IT" dirty="0"/>
              <a:t> with the </a:t>
            </a:r>
            <a:r>
              <a:rPr lang="it-IT" dirty="0" err="1"/>
              <a:t>terms</a:t>
            </a:r>
            <a:r>
              <a:rPr lang="it-IT" dirty="0"/>
              <a:t> "features" and "labels" </a:t>
            </a:r>
            <a:r>
              <a:rPr lang="it-IT" dirty="0" err="1"/>
              <a:t>before</a:t>
            </a:r>
            <a:r>
              <a:rPr lang="it-IT" dirty="0"/>
              <a:t> </a:t>
            </a:r>
            <a:r>
              <a:rPr lang="it-IT" dirty="0" err="1"/>
              <a:t>we</a:t>
            </a:r>
            <a:r>
              <a:rPr lang="it-IT" dirty="0"/>
              <a:t> </a:t>
            </a:r>
            <a:r>
              <a:rPr lang="it-IT" dirty="0" err="1"/>
              <a:t>move</a:t>
            </a:r>
            <a:r>
              <a:rPr lang="it-IT" dirty="0"/>
              <a:t> </a:t>
            </a:r>
            <a:r>
              <a:rPr lang="it-IT" dirty="0" err="1"/>
              <a:t>forward</a:t>
            </a:r>
            <a:r>
              <a:rPr lang="it-IT" dirty="0"/>
              <a:t>.</a:t>
            </a:r>
          </a:p>
        </p:txBody>
      </p:sp>
      <p:sp>
        <p:nvSpPr>
          <p:cNvPr id="4" name="Slide Number Placeholder 3"/>
          <p:cNvSpPr>
            <a:spLocks noGrp="1"/>
          </p:cNvSpPr>
          <p:nvPr>
            <p:ph type="sldNum" sz="quarter" idx="5"/>
          </p:nvPr>
        </p:nvSpPr>
        <p:spPr/>
        <p:txBody>
          <a:bodyPr/>
          <a:lstStyle/>
          <a:p>
            <a:fld id="{21AAABC4-A8CC-1D4E-A9C3-CD427222022D}" type="slidenum">
              <a:rPr lang="it-IT" smtClean="0"/>
              <a:t>10</a:t>
            </a:fld>
            <a:endParaRPr lang="it-IT"/>
          </a:p>
        </p:txBody>
      </p:sp>
    </p:spTree>
    <p:extLst>
      <p:ext uri="{BB962C8B-B14F-4D97-AF65-F5344CB8AC3E}">
        <p14:creationId xmlns:p14="http://schemas.microsoft.com/office/powerpoint/2010/main" val="2720110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"The model </a:t>
            </a:r>
            <a:r>
              <a:rPr lang="it-IT" dirty="0" err="1"/>
              <a:t>learns</a:t>
            </a:r>
            <a:r>
              <a:rPr lang="it-IT" dirty="0"/>
              <a:t> the </a:t>
            </a:r>
            <a:r>
              <a:rPr lang="it-IT" dirty="0" err="1"/>
              <a:t>relationship</a:t>
            </a:r>
            <a:r>
              <a:rPr lang="it-IT" dirty="0"/>
              <a:t> </a:t>
            </a:r>
            <a:r>
              <a:rPr lang="it-IT" dirty="0" err="1"/>
              <a:t>between</a:t>
            </a:r>
            <a:r>
              <a:rPr lang="it-IT" dirty="0"/>
              <a:t> features (X) and the label (y) by </a:t>
            </a:r>
            <a:r>
              <a:rPr lang="it-IT" dirty="0" err="1"/>
              <a:t>minimizing</a:t>
            </a:r>
            <a:r>
              <a:rPr lang="it-IT" dirty="0"/>
              <a:t> an </a:t>
            </a:r>
            <a:r>
              <a:rPr lang="it-IT" dirty="0" err="1"/>
              <a:t>objective</a:t>
            </a:r>
            <a:r>
              <a:rPr lang="it-IT" dirty="0"/>
              <a:t> (</a:t>
            </a:r>
            <a:r>
              <a:rPr lang="it-IT" dirty="0" err="1"/>
              <a:t>loss</a:t>
            </a:r>
            <a:r>
              <a:rPr lang="it-IT" dirty="0"/>
              <a:t>) </a:t>
            </a:r>
            <a:r>
              <a:rPr lang="it-IT" dirty="0" err="1"/>
              <a:t>function</a:t>
            </a:r>
            <a:r>
              <a:rPr lang="it-IT" dirty="0"/>
              <a:t> on the training data, </a:t>
            </a:r>
            <a:r>
              <a:rPr lang="it-IT" dirty="0" err="1"/>
              <a:t>then</a:t>
            </a:r>
            <a:r>
              <a:rPr lang="it-IT" dirty="0"/>
              <a:t> </a:t>
            </a:r>
            <a:r>
              <a:rPr lang="it-IT" dirty="0" err="1"/>
              <a:t>its</a:t>
            </a:r>
            <a:r>
              <a:rPr lang="it-IT" dirty="0"/>
              <a:t> performance </a:t>
            </a:r>
            <a:r>
              <a:rPr lang="it-IT" dirty="0" err="1"/>
              <a:t>is</a:t>
            </a:r>
            <a:r>
              <a:rPr lang="it-IT" dirty="0"/>
              <a:t> </a:t>
            </a:r>
            <a:r>
              <a:rPr lang="it-IT" dirty="0" err="1"/>
              <a:t>evaluated</a:t>
            </a:r>
            <a:r>
              <a:rPr lang="it-IT" dirty="0"/>
              <a:t> on </a:t>
            </a:r>
            <a:r>
              <a:rPr lang="it-IT" dirty="0" err="1"/>
              <a:t>unseen</a:t>
            </a:r>
            <a:r>
              <a:rPr lang="it-IT" dirty="0"/>
              <a:t> test data."</a:t>
            </a:r>
          </a:p>
          <a:p>
            <a:endParaRPr lang="it-IT" dirty="0"/>
          </a:p>
          <a:p>
            <a:r>
              <a:rPr lang="it-IT" dirty="0"/>
              <a:t>At a high </a:t>
            </a:r>
            <a:r>
              <a:rPr lang="it-IT" dirty="0" err="1"/>
              <a:t>level</a:t>
            </a:r>
            <a:r>
              <a:rPr lang="it-IT" dirty="0"/>
              <a:t>, the training loop works by </a:t>
            </a:r>
            <a:r>
              <a:rPr lang="it-IT" dirty="0" err="1"/>
              <a:t>feeding</a:t>
            </a:r>
            <a:r>
              <a:rPr lang="it-IT" dirty="0"/>
              <a:t> data </a:t>
            </a:r>
            <a:r>
              <a:rPr lang="it-IT" dirty="0" err="1"/>
              <a:t>into</a:t>
            </a:r>
            <a:r>
              <a:rPr lang="it-IT" dirty="0"/>
              <a:t> the model, computing </a:t>
            </a:r>
            <a:r>
              <a:rPr lang="it-IT" dirty="0" err="1"/>
              <a:t>its</a:t>
            </a:r>
            <a:r>
              <a:rPr lang="it-IT" dirty="0"/>
              <a:t> </a:t>
            </a:r>
            <a:r>
              <a:rPr lang="it-IT" dirty="0" err="1"/>
              <a:t>predictions</a:t>
            </a:r>
            <a:r>
              <a:rPr lang="it-IT" dirty="0"/>
              <a:t>, </a:t>
            </a:r>
            <a:r>
              <a:rPr lang="it-IT" dirty="0" err="1"/>
              <a:t>measuring</a:t>
            </a:r>
            <a:r>
              <a:rPr lang="it-IT" dirty="0"/>
              <a:t> the </a:t>
            </a:r>
            <a:r>
              <a:rPr lang="it-IT" dirty="0" err="1"/>
              <a:t>error</a:t>
            </a:r>
            <a:r>
              <a:rPr lang="it-IT" dirty="0"/>
              <a:t> </a:t>
            </a:r>
            <a:r>
              <a:rPr lang="it-IT" dirty="0" err="1"/>
              <a:t>using</a:t>
            </a:r>
            <a:r>
              <a:rPr lang="it-IT" dirty="0"/>
              <a:t> a </a:t>
            </a:r>
            <a:r>
              <a:rPr lang="it-IT" dirty="0" err="1"/>
              <a:t>loss</a:t>
            </a:r>
            <a:r>
              <a:rPr lang="it-IT" dirty="0"/>
              <a:t> </a:t>
            </a:r>
            <a:r>
              <a:rPr lang="it-IT" dirty="0" err="1"/>
              <a:t>function</a:t>
            </a:r>
            <a:r>
              <a:rPr lang="it-IT" dirty="0"/>
              <a:t>, and </a:t>
            </a:r>
            <a:r>
              <a:rPr lang="it-IT" dirty="0" err="1"/>
              <a:t>slightly</a:t>
            </a:r>
            <a:r>
              <a:rPr lang="it-IT" dirty="0"/>
              <a:t> </a:t>
            </a:r>
            <a:r>
              <a:rPr lang="it-IT" dirty="0" err="1"/>
              <a:t>adjusting</a:t>
            </a:r>
            <a:r>
              <a:rPr lang="it-IT" dirty="0"/>
              <a:t> the </a:t>
            </a:r>
            <a:r>
              <a:rPr lang="it-IT" dirty="0" err="1"/>
              <a:t>model's</a:t>
            </a:r>
            <a:r>
              <a:rPr lang="it-IT" dirty="0"/>
              <a:t> </a:t>
            </a:r>
            <a:r>
              <a:rPr lang="it-IT" dirty="0" err="1"/>
              <a:t>internal</a:t>
            </a:r>
            <a:r>
              <a:rPr lang="it-IT" dirty="0"/>
              <a:t> </a:t>
            </a:r>
            <a:r>
              <a:rPr lang="it-IT" dirty="0" err="1"/>
              <a:t>parameters</a:t>
            </a:r>
            <a:r>
              <a:rPr lang="it-IT" dirty="0"/>
              <a:t>. </a:t>
            </a:r>
            <a:r>
              <a:rPr lang="it-IT" dirty="0" err="1"/>
              <a:t>We</a:t>
            </a:r>
            <a:r>
              <a:rPr lang="it-IT" dirty="0"/>
              <a:t> </a:t>
            </a:r>
            <a:r>
              <a:rPr lang="it-IT" dirty="0" err="1"/>
              <a:t>repeat</a:t>
            </a:r>
            <a:r>
              <a:rPr lang="it-IT" dirty="0"/>
              <a:t> </a:t>
            </a:r>
            <a:r>
              <a:rPr lang="it-IT" dirty="0" err="1"/>
              <a:t>this</a:t>
            </a:r>
            <a:r>
              <a:rPr lang="it-IT" dirty="0"/>
              <a:t> </a:t>
            </a:r>
            <a:r>
              <a:rPr lang="it-IT" dirty="0" err="1"/>
              <a:t>cycle</a:t>
            </a:r>
            <a:r>
              <a:rPr lang="it-IT" dirty="0"/>
              <a:t> </a:t>
            </a:r>
            <a:r>
              <a:rPr lang="it-IT" dirty="0" err="1"/>
              <a:t>until</a:t>
            </a:r>
            <a:r>
              <a:rPr lang="it-IT" dirty="0"/>
              <a:t> the model </a:t>
            </a:r>
            <a:r>
              <a:rPr lang="it-IT" dirty="0" err="1"/>
              <a:t>generalizes</a:t>
            </a:r>
            <a:r>
              <a:rPr lang="it-IT" dirty="0"/>
              <a:t> </a:t>
            </a:r>
            <a:r>
              <a:rPr lang="it-IT" dirty="0" err="1"/>
              <a:t>well</a:t>
            </a:r>
            <a:r>
              <a:rPr lang="it-IT" dirty="0"/>
              <a:t>—</a:t>
            </a:r>
            <a:r>
              <a:rPr lang="it-IT" dirty="0" err="1"/>
              <a:t>remember</a:t>
            </a:r>
            <a:r>
              <a:rPr lang="it-IT" dirty="0"/>
              <a:t>, </a:t>
            </a:r>
            <a:r>
              <a:rPr lang="it-IT" dirty="0" err="1"/>
              <a:t>our</a:t>
            </a:r>
            <a:r>
              <a:rPr lang="it-IT" dirty="0"/>
              <a:t> goal </a:t>
            </a:r>
            <a:r>
              <a:rPr lang="it-IT" dirty="0" err="1"/>
              <a:t>is</a:t>
            </a:r>
            <a:r>
              <a:rPr lang="it-IT" dirty="0"/>
              <a:t> </a:t>
            </a:r>
            <a:r>
              <a:rPr lang="it-IT" dirty="0" err="1"/>
              <a:t>true</a:t>
            </a:r>
            <a:r>
              <a:rPr lang="it-IT" dirty="0"/>
              <a:t> </a:t>
            </a:r>
            <a:r>
              <a:rPr lang="it-IT" dirty="0" err="1"/>
              <a:t>generalization</a:t>
            </a:r>
            <a:r>
              <a:rPr lang="it-IT" dirty="0"/>
              <a:t>, </a:t>
            </a:r>
            <a:r>
              <a:rPr lang="it-IT" dirty="0" err="1"/>
              <a:t>not</a:t>
            </a:r>
            <a:r>
              <a:rPr lang="it-IT" dirty="0"/>
              <a:t> just pure </a:t>
            </a:r>
            <a:r>
              <a:rPr lang="it-IT" dirty="0" err="1"/>
              <a:t>memorization</a:t>
            </a:r>
            <a:r>
              <a:rPr lang="it-IT" dirty="0"/>
              <a:t> of the training data.</a:t>
            </a:r>
          </a:p>
        </p:txBody>
      </p:sp>
      <p:sp>
        <p:nvSpPr>
          <p:cNvPr id="4" name="Slide Number Placeholder 3"/>
          <p:cNvSpPr>
            <a:spLocks noGrp="1"/>
          </p:cNvSpPr>
          <p:nvPr>
            <p:ph type="sldNum" sz="quarter" idx="5"/>
          </p:nvPr>
        </p:nvSpPr>
        <p:spPr/>
        <p:txBody>
          <a:bodyPr/>
          <a:lstStyle/>
          <a:p>
            <a:fld id="{21AAABC4-A8CC-1D4E-A9C3-CD427222022D}" type="slidenum">
              <a:rPr lang="it-IT" smtClean="0"/>
              <a:t>11</a:t>
            </a:fld>
            <a:endParaRPr lang="it-IT"/>
          </a:p>
        </p:txBody>
      </p:sp>
    </p:spTree>
    <p:extLst>
      <p:ext uri="{BB962C8B-B14F-4D97-AF65-F5344CB8AC3E}">
        <p14:creationId xmlns:p14="http://schemas.microsoft.com/office/powerpoint/2010/main" val="583738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"Performance of the </a:t>
            </a:r>
            <a:r>
              <a:rPr lang="it-IT" dirty="0" err="1"/>
              <a:t>trained</a:t>
            </a:r>
            <a:r>
              <a:rPr lang="it-IT" dirty="0"/>
              <a:t> model </a:t>
            </a:r>
            <a:r>
              <a:rPr lang="it-IT" dirty="0" err="1"/>
              <a:t>should</a:t>
            </a:r>
            <a:r>
              <a:rPr lang="it-IT" dirty="0"/>
              <a:t> be </a:t>
            </a:r>
            <a:r>
              <a:rPr lang="it-IT" dirty="0" err="1"/>
              <a:t>tested</a:t>
            </a:r>
            <a:r>
              <a:rPr lang="it-IT" dirty="0"/>
              <a:t> </a:t>
            </a:r>
            <a:r>
              <a:rPr lang="it-IT" dirty="0" err="1"/>
              <a:t>against</a:t>
            </a:r>
            <a:r>
              <a:rPr lang="it-IT" dirty="0"/>
              <a:t> </a:t>
            </a:r>
            <a:r>
              <a:rPr lang="it-IT" dirty="0" err="1"/>
              <a:t>unseen</a:t>
            </a:r>
            <a:r>
              <a:rPr lang="it-IT" dirty="0"/>
              <a:t> data."</a:t>
            </a:r>
          </a:p>
          <a:p>
            <a:endParaRPr lang="it-IT" dirty="0"/>
          </a:p>
          <a:p>
            <a:r>
              <a:rPr lang="it-IT" dirty="0"/>
              <a:t>**</a:t>
            </a:r>
            <a:r>
              <a:rPr lang="it-IT" dirty="0" err="1"/>
              <a:t>Examples</a:t>
            </a:r>
            <a:r>
              <a:rPr lang="it-IT" dirty="0"/>
              <a:t> for </a:t>
            </a:r>
            <a:r>
              <a:rPr lang="it-IT" dirty="0" err="1"/>
              <a:t>Environmental</a:t>
            </a:r>
            <a:r>
              <a:rPr lang="it-IT" dirty="0"/>
              <a:t> </a:t>
            </a:r>
            <a:r>
              <a:rPr lang="it-IT" dirty="0" err="1"/>
              <a:t>Modelling</a:t>
            </a:r>
            <a:r>
              <a:rPr lang="it-IT" dirty="0"/>
              <a:t>:**</a:t>
            </a:r>
          </a:p>
          <a:p>
            <a:endParaRPr lang="it-IT" dirty="0"/>
          </a:p>
          <a:p>
            <a:r>
              <a:rPr lang="it-IT" dirty="0"/>
              <a:t>* </a:t>
            </a:r>
            <a:r>
              <a:rPr lang="it-IT" dirty="0" err="1"/>
              <a:t>Held</a:t>
            </a:r>
            <a:r>
              <a:rPr lang="it-IT" dirty="0"/>
              <a:t>-out </a:t>
            </a:r>
            <a:r>
              <a:rPr lang="it-IT" dirty="0" err="1"/>
              <a:t>environmental</a:t>
            </a:r>
            <a:r>
              <a:rPr lang="it-IT" dirty="0"/>
              <a:t> </a:t>
            </a:r>
            <a:r>
              <a:rPr lang="it-IT" dirty="0" err="1"/>
              <a:t>observations</a:t>
            </a:r>
            <a:r>
              <a:rPr lang="it-IT" dirty="0"/>
              <a:t> </a:t>
            </a:r>
            <a:r>
              <a:rPr lang="it-IT" dirty="0" err="1"/>
              <a:t>not</a:t>
            </a:r>
            <a:r>
              <a:rPr lang="it-IT" dirty="0"/>
              <a:t> </a:t>
            </a:r>
            <a:r>
              <a:rPr lang="it-IT" dirty="0" err="1"/>
              <a:t>used</a:t>
            </a:r>
            <a:r>
              <a:rPr lang="it-IT" dirty="0"/>
              <a:t> </a:t>
            </a:r>
            <a:r>
              <a:rPr lang="it-IT" dirty="0" err="1"/>
              <a:t>during</a:t>
            </a:r>
            <a:r>
              <a:rPr lang="it-IT" dirty="0"/>
              <a:t> training</a:t>
            </a:r>
          </a:p>
          <a:p>
            <a:r>
              <a:rPr lang="it-IT" dirty="0"/>
              <a:t>* </a:t>
            </a:r>
            <a:r>
              <a:rPr lang="it-IT" dirty="0" err="1"/>
              <a:t>Tests</a:t>
            </a:r>
            <a:r>
              <a:rPr lang="it-IT" dirty="0"/>
              <a:t> </a:t>
            </a:r>
            <a:r>
              <a:rPr lang="it-IT" dirty="0" err="1"/>
              <a:t>generalization</a:t>
            </a:r>
            <a:r>
              <a:rPr lang="it-IT" dirty="0"/>
              <a:t> </a:t>
            </a:r>
            <a:r>
              <a:rPr lang="it-IT" dirty="0" err="1"/>
              <a:t>across</a:t>
            </a:r>
            <a:r>
              <a:rPr lang="it-IT" dirty="0"/>
              <a:t> new locations, seasons, or events</a:t>
            </a:r>
          </a:p>
          <a:p>
            <a:r>
              <a:rPr lang="it-IT" dirty="0"/>
              <a:t>* </a:t>
            </a:r>
            <a:r>
              <a:rPr lang="it-IT" dirty="0" err="1"/>
              <a:t>Captures</a:t>
            </a:r>
            <a:r>
              <a:rPr lang="it-IT" dirty="0"/>
              <a:t> </a:t>
            </a:r>
            <a:r>
              <a:rPr lang="it-IT" dirty="0" err="1"/>
              <a:t>real</a:t>
            </a:r>
            <a:r>
              <a:rPr lang="it-IT" dirty="0"/>
              <a:t>-world </a:t>
            </a:r>
            <a:r>
              <a:rPr lang="it-IT" dirty="0" err="1"/>
              <a:t>variability</a:t>
            </a:r>
            <a:r>
              <a:rPr lang="it-IT" dirty="0"/>
              <a:t> and </a:t>
            </a:r>
            <a:r>
              <a:rPr lang="it-IT" dirty="0" err="1"/>
              <a:t>unseen</a:t>
            </a:r>
            <a:r>
              <a:rPr lang="it-IT" dirty="0"/>
              <a:t> </a:t>
            </a:r>
            <a:r>
              <a:rPr lang="it-IT" dirty="0" err="1"/>
              <a:t>environmental</a:t>
            </a:r>
            <a:r>
              <a:rPr lang="it-IT" dirty="0"/>
              <a:t> </a:t>
            </a:r>
            <a:r>
              <a:rPr lang="it-IT" dirty="0" err="1"/>
              <a:t>conditions</a:t>
            </a:r>
            <a:endParaRPr lang="it-IT" dirty="0"/>
          </a:p>
          <a:p>
            <a:endParaRPr lang="it-IT" dirty="0"/>
          </a:p>
          <a:p>
            <a:r>
              <a:rPr lang="it-IT" dirty="0"/>
              <a:t>I </a:t>
            </a:r>
            <a:r>
              <a:rPr lang="it-IT" dirty="0" err="1"/>
              <a:t>cannot</a:t>
            </a:r>
            <a:r>
              <a:rPr lang="it-IT" dirty="0"/>
              <a:t> stress the </a:t>
            </a:r>
            <a:r>
              <a:rPr lang="it-IT" dirty="0" err="1"/>
              <a:t>phrase</a:t>
            </a:r>
            <a:r>
              <a:rPr lang="it-IT" dirty="0"/>
              <a:t> **"</a:t>
            </a:r>
            <a:r>
              <a:rPr lang="it-IT" dirty="0" err="1"/>
              <a:t>unseen</a:t>
            </a:r>
            <a:r>
              <a:rPr lang="it-IT" dirty="0"/>
              <a:t> data"** </a:t>
            </a:r>
            <a:r>
              <a:rPr lang="it-IT" dirty="0" err="1"/>
              <a:t>enough</a:t>
            </a:r>
            <a:r>
              <a:rPr lang="it-IT" dirty="0"/>
              <a:t>. </a:t>
            </a:r>
            <a:r>
              <a:rPr lang="it-IT" dirty="0" err="1"/>
              <a:t>If</a:t>
            </a:r>
            <a:r>
              <a:rPr lang="it-IT" dirty="0"/>
              <a:t> </a:t>
            </a:r>
            <a:r>
              <a:rPr lang="it-IT" dirty="0" err="1"/>
              <a:t>you</a:t>
            </a:r>
            <a:r>
              <a:rPr lang="it-IT" dirty="0"/>
              <a:t> </a:t>
            </a:r>
            <a:r>
              <a:rPr lang="it-IT" dirty="0" err="1"/>
              <a:t>evaluate</a:t>
            </a:r>
            <a:r>
              <a:rPr lang="it-IT" dirty="0"/>
              <a:t> </a:t>
            </a:r>
            <a:r>
              <a:rPr lang="it-IT" dirty="0" err="1"/>
              <a:t>your</a:t>
            </a:r>
            <a:r>
              <a:rPr lang="it-IT" dirty="0"/>
              <a:t> model on the </a:t>
            </a:r>
            <a:r>
              <a:rPr lang="it-IT" dirty="0" err="1"/>
              <a:t>same</a:t>
            </a:r>
            <a:r>
              <a:rPr lang="it-IT" dirty="0"/>
              <a:t> data </a:t>
            </a:r>
            <a:r>
              <a:rPr lang="it-IT" dirty="0" err="1"/>
              <a:t>it</a:t>
            </a:r>
            <a:r>
              <a:rPr lang="it-IT" dirty="0"/>
              <a:t> </a:t>
            </a:r>
            <a:r>
              <a:rPr lang="it-IT" dirty="0" err="1"/>
              <a:t>trained</a:t>
            </a:r>
            <a:r>
              <a:rPr lang="it-IT" dirty="0"/>
              <a:t> on, </a:t>
            </a:r>
            <a:r>
              <a:rPr lang="it-IT" dirty="0" err="1"/>
              <a:t>you</a:t>
            </a:r>
            <a:r>
              <a:rPr lang="it-IT" dirty="0"/>
              <a:t> are </a:t>
            </a:r>
            <a:r>
              <a:rPr lang="it-IT" dirty="0" err="1"/>
              <a:t>simply</a:t>
            </a:r>
            <a:r>
              <a:rPr lang="it-IT" dirty="0"/>
              <a:t> </a:t>
            </a:r>
            <a:r>
              <a:rPr lang="it-IT" dirty="0" err="1"/>
              <a:t>measuring</a:t>
            </a:r>
            <a:r>
              <a:rPr lang="it-IT" dirty="0"/>
              <a:t> </a:t>
            </a:r>
            <a:r>
              <a:rPr lang="it-IT" dirty="0" err="1"/>
              <a:t>its</a:t>
            </a:r>
            <a:r>
              <a:rPr lang="it-IT" dirty="0"/>
              <a:t> </a:t>
            </a:r>
            <a:r>
              <a:rPr lang="it-IT" dirty="0" err="1"/>
              <a:t>ability</a:t>
            </a:r>
            <a:r>
              <a:rPr lang="it-IT" dirty="0"/>
              <a:t> to </a:t>
            </a:r>
            <a:r>
              <a:rPr lang="it-IT" dirty="0" err="1"/>
              <a:t>memorize</a:t>
            </a:r>
            <a:r>
              <a:rPr lang="it-IT" dirty="0"/>
              <a:t>. In </a:t>
            </a:r>
            <a:r>
              <a:rPr lang="it-IT" dirty="0" err="1"/>
              <a:t>environmental</a:t>
            </a:r>
            <a:r>
              <a:rPr lang="it-IT" dirty="0"/>
              <a:t> science, "</a:t>
            </a:r>
            <a:r>
              <a:rPr lang="it-IT" dirty="0" err="1"/>
              <a:t>unseen</a:t>
            </a:r>
            <a:r>
              <a:rPr lang="it-IT" dirty="0"/>
              <a:t>" can </a:t>
            </a:r>
            <a:r>
              <a:rPr lang="it-IT" dirty="0" err="1"/>
              <a:t>mean</a:t>
            </a:r>
            <a:r>
              <a:rPr lang="it-IT" dirty="0"/>
              <a:t> testing on an </a:t>
            </a:r>
            <a:r>
              <a:rPr lang="it-IT" dirty="0" err="1"/>
              <a:t>entirely</a:t>
            </a:r>
            <a:r>
              <a:rPr lang="it-IT" dirty="0"/>
              <a:t> </a:t>
            </a:r>
            <a:r>
              <a:rPr lang="it-IT" dirty="0" err="1"/>
              <a:t>different</a:t>
            </a:r>
            <a:r>
              <a:rPr lang="it-IT" dirty="0"/>
              <a:t> </a:t>
            </a:r>
            <a:r>
              <a:rPr lang="it-IT" dirty="0" err="1"/>
              <a:t>geographic</a:t>
            </a:r>
            <a:r>
              <a:rPr lang="it-IT" dirty="0"/>
              <a:t> </a:t>
            </a:r>
            <a:r>
              <a:rPr lang="it-IT" dirty="0" err="1"/>
              <a:t>region</a:t>
            </a:r>
            <a:r>
              <a:rPr lang="it-IT" dirty="0"/>
              <a:t>, a future time </a:t>
            </a:r>
            <a:r>
              <a:rPr lang="it-IT" dirty="0" err="1"/>
              <a:t>period</a:t>
            </a:r>
            <a:r>
              <a:rPr lang="it-IT" dirty="0"/>
              <a:t>, or data </a:t>
            </a:r>
            <a:r>
              <a:rPr lang="it-IT" dirty="0" err="1"/>
              <a:t>captured</a:t>
            </a:r>
            <a:r>
              <a:rPr lang="it-IT" dirty="0"/>
              <a:t> by a </a:t>
            </a:r>
            <a:r>
              <a:rPr lang="it-IT" dirty="0" err="1"/>
              <a:t>completely</a:t>
            </a:r>
            <a:r>
              <a:rPr lang="it-IT" dirty="0"/>
              <a:t> </a:t>
            </a:r>
            <a:r>
              <a:rPr lang="it-IT" dirty="0" err="1"/>
              <a:t>different</a:t>
            </a:r>
            <a:r>
              <a:rPr lang="it-IT" dirty="0"/>
              <a:t> </a:t>
            </a:r>
            <a:r>
              <a:rPr lang="it-IT" dirty="0" err="1"/>
              <a:t>sensor</a:t>
            </a:r>
            <a:r>
              <a:rPr lang="it-IT" dirty="0"/>
              <a:t>.</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12</a:t>
            </a:fld>
            <a:endParaRPr lang="it-IT"/>
          </a:p>
        </p:txBody>
      </p:sp>
    </p:spTree>
    <p:extLst>
      <p:ext uri="{BB962C8B-B14F-4D97-AF65-F5344CB8AC3E}">
        <p14:creationId xmlns:p14="http://schemas.microsoft.com/office/powerpoint/2010/main" val="3131019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 Slide 13 — Model Tuning</a:t>
            </a:r>
          </a:p>
          <a:p>
            <a:endParaRPr lang="it-IT" dirty="0"/>
          </a:p>
          <a:p>
            <a:r>
              <a:rPr lang="it-IT" dirty="0"/>
              <a:t>&gt; "Models </a:t>
            </a:r>
            <a:r>
              <a:rPr lang="it-IT" dirty="0" err="1"/>
              <a:t>have</a:t>
            </a:r>
            <a:r>
              <a:rPr lang="it-IT" dirty="0"/>
              <a:t> some </a:t>
            </a:r>
            <a:r>
              <a:rPr lang="it-IT" dirty="0" err="1"/>
              <a:t>tunable</a:t>
            </a:r>
            <a:r>
              <a:rPr lang="it-IT" dirty="0"/>
              <a:t> </a:t>
            </a:r>
            <a:r>
              <a:rPr lang="it-IT" dirty="0" err="1"/>
              <a:t>hyperparameters</a:t>
            </a:r>
            <a:r>
              <a:rPr lang="it-IT" dirty="0"/>
              <a:t> </a:t>
            </a:r>
            <a:r>
              <a:rPr lang="it-IT" dirty="0" err="1"/>
              <a:t>that</a:t>
            </a:r>
            <a:r>
              <a:rPr lang="it-IT" dirty="0"/>
              <a:t> can </a:t>
            </a:r>
            <a:r>
              <a:rPr lang="it-IT" dirty="0" err="1"/>
              <a:t>influence</a:t>
            </a:r>
            <a:r>
              <a:rPr lang="it-IT" dirty="0"/>
              <a:t> the </a:t>
            </a:r>
            <a:r>
              <a:rPr lang="it-IT" dirty="0" err="1"/>
              <a:t>outcome</a:t>
            </a:r>
            <a:r>
              <a:rPr lang="it-IT" dirty="0"/>
              <a:t> of the training </a:t>
            </a:r>
            <a:r>
              <a:rPr lang="it-IT" dirty="0" err="1"/>
              <a:t>process</a:t>
            </a:r>
            <a:r>
              <a:rPr lang="it-IT" dirty="0"/>
              <a:t>."</a:t>
            </a:r>
          </a:p>
          <a:p>
            <a:r>
              <a:rPr lang="it-IT" dirty="0"/>
              <a:t>&gt; "A subset of the training set </a:t>
            </a:r>
            <a:r>
              <a:rPr lang="it-IT" dirty="0" err="1"/>
              <a:t>called</a:t>
            </a:r>
            <a:r>
              <a:rPr lang="it-IT" dirty="0"/>
              <a:t> </a:t>
            </a:r>
            <a:r>
              <a:rPr lang="it-IT" dirty="0" err="1"/>
              <a:t>validation</a:t>
            </a:r>
            <a:r>
              <a:rPr lang="it-IT" dirty="0"/>
              <a:t> set </a:t>
            </a:r>
            <a:r>
              <a:rPr lang="it-IT" dirty="0" err="1"/>
              <a:t>is</a:t>
            </a:r>
            <a:r>
              <a:rPr lang="it-IT" dirty="0"/>
              <a:t> </a:t>
            </a:r>
            <a:r>
              <a:rPr lang="it-IT" dirty="0" err="1"/>
              <a:t>used</a:t>
            </a:r>
            <a:r>
              <a:rPr lang="it-IT" dirty="0"/>
              <a:t> to </a:t>
            </a:r>
            <a:r>
              <a:rPr lang="it-IT" dirty="0" err="1"/>
              <a:t>evaluate</a:t>
            </a:r>
            <a:r>
              <a:rPr lang="it-IT" dirty="0"/>
              <a:t> </a:t>
            </a:r>
            <a:r>
              <a:rPr lang="it-IT" dirty="0" err="1"/>
              <a:t>different</a:t>
            </a:r>
            <a:r>
              <a:rPr lang="it-IT" dirty="0"/>
              <a:t> </a:t>
            </a:r>
            <a:r>
              <a:rPr lang="it-IT" dirty="0" err="1"/>
              <a:t>hyperparameter</a:t>
            </a:r>
            <a:r>
              <a:rPr lang="it-IT" dirty="0"/>
              <a:t> </a:t>
            </a:r>
            <a:r>
              <a:rPr lang="it-IT" dirty="0" err="1"/>
              <a:t>values</a:t>
            </a:r>
            <a:r>
              <a:rPr lang="it-IT" dirty="0"/>
              <a:t> and </a:t>
            </a:r>
            <a:r>
              <a:rPr lang="it-IT" dirty="0" err="1"/>
              <a:t>select</a:t>
            </a:r>
            <a:r>
              <a:rPr lang="it-IT" dirty="0"/>
              <a:t> the model </a:t>
            </a:r>
            <a:r>
              <a:rPr lang="it-IT" dirty="0" err="1"/>
              <a:t>that</a:t>
            </a:r>
            <a:r>
              <a:rPr lang="it-IT" dirty="0"/>
              <a:t> </a:t>
            </a:r>
            <a:r>
              <a:rPr lang="it-IT" dirty="0" err="1"/>
              <a:t>generalizes</a:t>
            </a:r>
            <a:r>
              <a:rPr lang="it-IT" dirty="0"/>
              <a:t> best to </a:t>
            </a:r>
            <a:r>
              <a:rPr lang="it-IT" dirty="0" err="1"/>
              <a:t>unseen</a:t>
            </a:r>
            <a:r>
              <a:rPr lang="it-IT" dirty="0"/>
              <a:t> data."</a:t>
            </a:r>
          </a:p>
          <a:p>
            <a:endParaRPr lang="it-IT" dirty="0"/>
          </a:p>
          <a:p>
            <a:r>
              <a:rPr lang="it-IT" dirty="0" err="1"/>
              <a:t>This</a:t>
            </a:r>
            <a:r>
              <a:rPr lang="it-IT" dirty="0"/>
              <a:t> </a:t>
            </a:r>
            <a:r>
              <a:rPr lang="it-IT" dirty="0" err="1"/>
              <a:t>introduces</a:t>
            </a:r>
            <a:r>
              <a:rPr lang="it-IT" dirty="0"/>
              <a:t> the standard </a:t>
            </a:r>
            <a:r>
              <a:rPr lang="it-IT" dirty="0" err="1"/>
              <a:t>three</a:t>
            </a:r>
            <a:r>
              <a:rPr lang="it-IT" dirty="0"/>
              <a:t>-way split: **Train**, **</a:t>
            </a:r>
            <a:r>
              <a:rPr lang="it-IT" dirty="0" err="1"/>
              <a:t>Validation</a:t>
            </a:r>
            <a:r>
              <a:rPr lang="it-IT" dirty="0"/>
              <a:t>**, and **Test**. The training set </a:t>
            </a:r>
            <a:r>
              <a:rPr lang="it-IT" dirty="0" err="1"/>
              <a:t>is</a:t>
            </a:r>
            <a:r>
              <a:rPr lang="it-IT" dirty="0"/>
              <a:t> </a:t>
            </a:r>
            <a:r>
              <a:rPr lang="it-IT" dirty="0" err="1"/>
              <a:t>used</a:t>
            </a:r>
            <a:r>
              <a:rPr lang="it-IT" dirty="0"/>
              <a:t> to </a:t>
            </a:r>
            <a:r>
              <a:rPr lang="it-IT" dirty="0" err="1"/>
              <a:t>learn</a:t>
            </a:r>
            <a:r>
              <a:rPr lang="it-IT" dirty="0"/>
              <a:t> the core model </a:t>
            </a:r>
            <a:r>
              <a:rPr lang="it-IT" dirty="0" err="1"/>
              <a:t>parameters</a:t>
            </a:r>
            <a:r>
              <a:rPr lang="it-IT" dirty="0"/>
              <a:t>, the </a:t>
            </a:r>
            <a:r>
              <a:rPr lang="it-IT" dirty="0" err="1"/>
              <a:t>validation</a:t>
            </a:r>
            <a:r>
              <a:rPr lang="it-IT" dirty="0"/>
              <a:t> set </a:t>
            </a:r>
            <a:r>
              <a:rPr lang="it-IT" dirty="0" err="1"/>
              <a:t>is</a:t>
            </a:r>
            <a:r>
              <a:rPr lang="it-IT" dirty="0"/>
              <a:t> </a:t>
            </a:r>
            <a:r>
              <a:rPr lang="it-IT" dirty="0" err="1"/>
              <a:t>used</a:t>
            </a:r>
            <a:r>
              <a:rPr lang="it-IT" dirty="0"/>
              <a:t> to test and </a:t>
            </a:r>
            <a:r>
              <a:rPr lang="it-IT" dirty="0" err="1"/>
              <a:t>tune</a:t>
            </a:r>
            <a:r>
              <a:rPr lang="it-IT" dirty="0"/>
              <a:t> </a:t>
            </a:r>
            <a:r>
              <a:rPr lang="it-IT" dirty="0" err="1"/>
              <a:t>different</a:t>
            </a:r>
            <a:r>
              <a:rPr lang="it-IT" dirty="0"/>
              <a:t> </a:t>
            </a:r>
            <a:r>
              <a:rPr lang="it-IT" dirty="0" err="1"/>
              <a:t>hyperparameters</a:t>
            </a:r>
            <a:r>
              <a:rPr lang="it-IT" dirty="0"/>
              <a:t>, and the test set </a:t>
            </a:r>
            <a:r>
              <a:rPr lang="it-IT" dirty="0" err="1"/>
              <a:t>is</a:t>
            </a:r>
            <a:r>
              <a:rPr lang="it-IT" dirty="0"/>
              <a:t> </a:t>
            </a:r>
            <a:r>
              <a:rPr lang="it-IT" dirty="0" err="1"/>
              <a:t>saved</a:t>
            </a:r>
            <a:r>
              <a:rPr lang="it-IT" dirty="0"/>
              <a:t> for the </a:t>
            </a:r>
            <a:r>
              <a:rPr lang="it-IT" dirty="0" err="1"/>
              <a:t>final</a:t>
            </a:r>
            <a:r>
              <a:rPr lang="it-IT" dirty="0"/>
              <a:t>, </a:t>
            </a:r>
            <a:r>
              <a:rPr lang="it-IT" dirty="0" err="1"/>
              <a:t>completely</a:t>
            </a:r>
            <a:r>
              <a:rPr lang="it-IT" dirty="0"/>
              <a:t> </a:t>
            </a:r>
            <a:r>
              <a:rPr lang="it-IT" dirty="0" err="1"/>
              <a:t>unbiased</a:t>
            </a:r>
            <a:r>
              <a:rPr lang="it-IT" dirty="0"/>
              <a:t> </a:t>
            </a:r>
            <a:r>
              <a:rPr lang="it-IT" dirty="0" err="1"/>
              <a:t>evaluation</a:t>
            </a:r>
            <a:r>
              <a:rPr lang="it-IT" dirty="0"/>
              <a:t>. A </a:t>
            </a:r>
            <a:r>
              <a:rPr lang="it-IT" dirty="0" err="1"/>
              <a:t>very</a:t>
            </a:r>
            <a:r>
              <a:rPr lang="it-IT" dirty="0"/>
              <a:t> common rookie </a:t>
            </a:r>
            <a:r>
              <a:rPr lang="it-IT" dirty="0" err="1"/>
              <a:t>mistake</a:t>
            </a:r>
            <a:r>
              <a:rPr lang="it-IT" dirty="0"/>
              <a:t> </a:t>
            </a:r>
            <a:r>
              <a:rPr lang="it-IT" dirty="0" err="1"/>
              <a:t>is</a:t>
            </a:r>
            <a:r>
              <a:rPr lang="it-IT" dirty="0"/>
              <a:t> tuning </a:t>
            </a:r>
            <a:r>
              <a:rPr lang="it-IT" dirty="0" err="1"/>
              <a:t>your</a:t>
            </a:r>
            <a:r>
              <a:rPr lang="it-IT" dirty="0"/>
              <a:t> </a:t>
            </a:r>
            <a:r>
              <a:rPr lang="it-IT" dirty="0" err="1"/>
              <a:t>hyperparameters</a:t>
            </a:r>
            <a:r>
              <a:rPr lang="it-IT" dirty="0"/>
              <a:t> </a:t>
            </a:r>
            <a:r>
              <a:rPr lang="it-IT" dirty="0" err="1"/>
              <a:t>directly</a:t>
            </a:r>
            <a:r>
              <a:rPr lang="it-IT" dirty="0"/>
              <a:t> on the test set, </a:t>
            </a:r>
            <a:r>
              <a:rPr lang="it-IT" dirty="0" err="1"/>
              <a:t>which</a:t>
            </a:r>
            <a:r>
              <a:rPr lang="it-IT" dirty="0"/>
              <a:t> </a:t>
            </a:r>
            <a:r>
              <a:rPr lang="it-IT" dirty="0" err="1"/>
              <a:t>severely</a:t>
            </a:r>
            <a:r>
              <a:rPr lang="it-IT" dirty="0"/>
              <a:t> </a:t>
            </a:r>
            <a:r>
              <a:rPr lang="it-IT" dirty="0" err="1"/>
              <a:t>inflates</a:t>
            </a:r>
            <a:r>
              <a:rPr lang="it-IT" dirty="0"/>
              <a:t> </a:t>
            </a:r>
            <a:r>
              <a:rPr lang="it-IT" dirty="0" err="1"/>
              <a:t>your</a:t>
            </a:r>
            <a:r>
              <a:rPr lang="it-IT" dirty="0"/>
              <a:t> performance </a:t>
            </a:r>
            <a:r>
              <a:rPr lang="it-IT" dirty="0" err="1"/>
              <a:t>estimates</a:t>
            </a:r>
            <a:r>
              <a:rPr lang="it-IT" dirty="0"/>
              <a:t>.</a:t>
            </a:r>
          </a:p>
        </p:txBody>
      </p:sp>
      <p:sp>
        <p:nvSpPr>
          <p:cNvPr id="4" name="Slide Number Placeholder 3"/>
          <p:cNvSpPr>
            <a:spLocks noGrp="1"/>
          </p:cNvSpPr>
          <p:nvPr>
            <p:ph type="sldNum" sz="quarter" idx="5"/>
          </p:nvPr>
        </p:nvSpPr>
        <p:spPr/>
        <p:txBody>
          <a:bodyPr/>
          <a:lstStyle/>
          <a:p>
            <a:fld id="{21AAABC4-A8CC-1D4E-A9C3-CD427222022D}" type="slidenum">
              <a:rPr lang="it-IT" smtClean="0"/>
              <a:t>13</a:t>
            </a:fld>
            <a:endParaRPr lang="it-IT"/>
          </a:p>
        </p:txBody>
      </p:sp>
    </p:spTree>
    <p:extLst>
      <p:ext uri="{BB962C8B-B14F-4D97-AF65-F5344CB8AC3E}">
        <p14:creationId xmlns:p14="http://schemas.microsoft.com/office/powerpoint/2010/main" val="1802166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 **</a:t>
            </a:r>
            <a:r>
              <a:rPr lang="it-IT" dirty="0" err="1"/>
              <a:t>Underfitting</a:t>
            </a:r>
            <a:r>
              <a:rPr lang="it-IT" dirty="0"/>
              <a:t> (high </a:t>
            </a:r>
            <a:r>
              <a:rPr lang="it-IT" dirty="0" err="1"/>
              <a:t>bias</a:t>
            </a:r>
            <a:r>
              <a:rPr lang="it-IT" dirty="0"/>
              <a:t>):** </a:t>
            </a:r>
            <a:r>
              <a:rPr lang="it-IT" dirty="0" err="1"/>
              <a:t>Occurs</a:t>
            </a:r>
            <a:r>
              <a:rPr lang="it-IT" dirty="0"/>
              <a:t> </a:t>
            </a:r>
            <a:r>
              <a:rPr lang="it-IT" dirty="0" err="1"/>
              <a:t>when</a:t>
            </a:r>
            <a:r>
              <a:rPr lang="it-IT" dirty="0"/>
              <a:t> the model </a:t>
            </a:r>
            <a:r>
              <a:rPr lang="it-IT" dirty="0" err="1"/>
              <a:t>is</a:t>
            </a:r>
            <a:r>
              <a:rPr lang="it-IT" dirty="0"/>
              <a:t> </a:t>
            </a:r>
            <a:r>
              <a:rPr lang="it-IT" dirty="0" err="1"/>
              <a:t>too</a:t>
            </a:r>
            <a:r>
              <a:rPr lang="it-IT" dirty="0"/>
              <a:t> </a:t>
            </a:r>
            <a:r>
              <a:rPr lang="it-IT" dirty="0" err="1"/>
              <a:t>simple</a:t>
            </a:r>
            <a:r>
              <a:rPr lang="it-IT" dirty="0"/>
              <a:t> to </a:t>
            </a:r>
            <a:r>
              <a:rPr lang="it-IT" dirty="0" err="1"/>
              <a:t>capture</a:t>
            </a:r>
            <a:r>
              <a:rPr lang="it-IT" dirty="0"/>
              <a:t> the </a:t>
            </a:r>
            <a:r>
              <a:rPr lang="it-IT" dirty="0" err="1"/>
              <a:t>underlying</a:t>
            </a:r>
            <a:r>
              <a:rPr lang="it-IT" dirty="0"/>
              <a:t> patterns in the data.</a:t>
            </a:r>
          </a:p>
          <a:p>
            <a:r>
              <a:rPr lang="it-IT" dirty="0"/>
              <a:t>* **</a:t>
            </a:r>
            <a:r>
              <a:rPr lang="it-IT" dirty="0" err="1"/>
              <a:t>Overfitting</a:t>
            </a:r>
            <a:r>
              <a:rPr lang="it-IT" dirty="0"/>
              <a:t> (high </a:t>
            </a:r>
            <a:r>
              <a:rPr lang="it-IT" dirty="0" err="1"/>
              <a:t>variance</a:t>
            </a:r>
            <a:r>
              <a:rPr lang="it-IT" dirty="0"/>
              <a:t>):** </a:t>
            </a:r>
            <a:r>
              <a:rPr lang="it-IT" dirty="0" err="1"/>
              <a:t>Occurs</a:t>
            </a:r>
            <a:r>
              <a:rPr lang="it-IT" dirty="0"/>
              <a:t> </a:t>
            </a:r>
            <a:r>
              <a:rPr lang="it-IT" dirty="0" err="1"/>
              <a:t>when</a:t>
            </a:r>
            <a:r>
              <a:rPr lang="it-IT" dirty="0"/>
              <a:t> the model </a:t>
            </a:r>
            <a:r>
              <a:rPr lang="it-IT" dirty="0" err="1"/>
              <a:t>is</a:t>
            </a:r>
            <a:r>
              <a:rPr lang="it-IT" dirty="0"/>
              <a:t> </a:t>
            </a:r>
            <a:r>
              <a:rPr lang="it-IT" dirty="0" err="1"/>
              <a:t>overly</a:t>
            </a:r>
            <a:r>
              <a:rPr lang="it-IT" dirty="0"/>
              <a:t> </a:t>
            </a:r>
            <a:r>
              <a:rPr lang="it-IT" dirty="0" err="1"/>
              <a:t>complex</a:t>
            </a:r>
            <a:r>
              <a:rPr lang="it-IT" dirty="0"/>
              <a:t> and </a:t>
            </a:r>
            <a:r>
              <a:rPr lang="it-IT" dirty="0" err="1"/>
              <a:t>begins</a:t>
            </a:r>
            <a:r>
              <a:rPr lang="it-IT" dirty="0"/>
              <a:t> </a:t>
            </a:r>
            <a:r>
              <a:rPr lang="it-IT" dirty="0" err="1"/>
              <a:t>memorizing</a:t>
            </a:r>
            <a:r>
              <a:rPr lang="it-IT" dirty="0"/>
              <a:t> the random </a:t>
            </a:r>
            <a:r>
              <a:rPr lang="it-IT" dirty="0" err="1"/>
              <a:t>noise</a:t>
            </a:r>
            <a:r>
              <a:rPr lang="it-IT" dirty="0"/>
              <a:t> in the data.</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14</a:t>
            </a:fld>
            <a:endParaRPr lang="it-IT"/>
          </a:p>
        </p:txBody>
      </p:sp>
    </p:spTree>
    <p:extLst>
      <p:ext uri="{BB962C8B-B14F-4D97-AF65-F5344CB8AC3E}">
        <p14:creationId xmlns:p14="http://schemas.microsoft.com/office/powerpoint/2010/main" val="2844327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err="1"/>
              <a:t>This</a:t>
            </a:r>
            <a:r>
              <a:rPr lang="it-IT" dirty="0"/>
              <a:t> </a:t>
            </a:r>
            <a:r>
              <a:rPr lang="it-IT" dirty="0" err="1"/>
              <a:t>classic</a:t>
            </a:r>
            <a:r>
              <a:rPr lang="it-IT" dirty="0"/>
              <a:t> U-</a:t>
            </a:r>
            <a:r>
              <a:rPr lang="it-IT" dirty="0" err="1"/>
              <a:t>shaped</a:t>
            </a:r>
            <a:r>
              <a:rPr lang="it-IT" dirty="0"/>
              <a:t> curve </a:t>
            </a:r>
            <a:r>
              <a:rPr lang="it-IT" dirty="0" err="1"/>
              <a:t>visualizes</a:t>
            </a:r>
            <a:r>
              <a:rPr lang="it-IT" dirty="0"/>
              <a:t> the </a:t>
            </a:r>
            <a:r>
              <a:rPr lang="it-IT" dirty="0" err="1"/>
              <a:t>bias-variance</a:t>
            </a:r>
            <a:r>
              <a:rPr lang="it-IT" dirty="0"/>
              <a:t> </a:t>
            </a:r>
            <a:r>
              <a:rPr lang="it-IT" dirty="0" err="1"/>
              <a:t>tradeoff</a:t>
            </a:r>
            <a:r>
              <a:rPr lang="it-IT" dirty="0"/>
              <a:t>:</a:t>
            </a:r>
          </a:p>
          <a:p>
            <a:endParaRPr lang="it-IT" dirty="0"/>
          </a:p>
          <a:p>
            <a:r>
              <a:rPr lang="it-IT" dirty="0"/>
              <a:t>&gt; "</a:t>
            </a:r>
            <a:r>
              <a:rPr lang="it-IT" dirty="0" err="1"/>
              <a:t>As</a:t>
            </a:r>
            <a:r>
              <a:rPr lang="it-IT" dirty="0"/>
              <a:t> the </a:t>
            </a:r>
            <a:r>
              <a:rPr lang="it-IT" dirty="0" err="1"/>
              <a:t>complexity</a:t>
            </a:r>
            <a:r>
              <a:rPr lang="it-IT" dirty="0"/>
              <a:t> of model </a:t>
            </a:r>
            <a:r>
              <a:rPr lang="it-IT" dirty="0" err="1"/>
              <a:t>increases</a:t>
            </a:r>
            <a:r>
              <a:rPr lang="it-IT" dirty="0"/>
              <a:t> the </a:t>
            </a:r>
            <a:r>
              <a:rPr lang="it-IT" dirty="0" err="1"/>
              <a:t>bias</a:t>
            </a:r>
            <a:r>
              <a:rPr lang="it-IT" dirty="0"/>
              <a:t> </a:t>
            </a:r>
            <a:r>
              <a:rPr lang="it-IT" dirty="0" err="1"/>
              <a:t>decreases</a:t>
            </a:r>
            <a:r>
              <a:rPr lang="it-IT" dirty="0"/>
              <a:t> </a:t>
            </a:r>
            <a:r>
              <a:rPr lang="it-IT" dirty="0" err="1"/>
              <a:t>but</a:t>
            </a:r>
            <a:r>
              <a:rPr lang="it-IT" dirty="0"/>
              <a:t> the </a:t>
            </a:r>
            <a:r>
              <a:rPr lang="it-IT" dirty="0" err="1"/>
              <a:t>variance</a:t>
            </a:r>
            <a:r>
              <a:rPr lang="it-IT" dirty="0"/>
              <a:t> </a:t>
            </a:r>
            <a:r>
              <a:rPr lang="it-IT" dirty="0" err="1"/>
              <a:t>increases</a:t>
            </a:r>
            <a:r>
              <a:rPr lang="it-IT" dirty="0"/>
              <a:t>."</a:t>
            </a:r>
          </a:p>
          <a:p>
            <a:r>
              <a:rPr lang="it-IT" dirty="0"/>
              <a:t>&gt; "</a:t>
            </a:r>
            <a:r>
              <a:rPr lang="it-IT" dirty="0" err="1"/>
              <a:t>There</a:t>
            </a:r>
            <a:r>
              <a:rPr lang="it-IT" dirty="0"/>
              <a:t> </a:t>
            </a:r>
            <a:r>
              <a:rPr lang="it-IT" dirty="0" err="1"/>
              <a:t>is</a:t>
            </a:r>
            <a:r>
              <a:rPr lang="it-IT" dirty="0"/>
              <a:t> a trade-off </a:t>
            </a:r>
            <a:r>
              <a:rPr lang="it-IT" dirty="0" err="1"/>
              <a:t>between</a:t>
            </a:r>
            <a:r>
              <a:rPr lang="it-IT" dirty="0"/>
              <a:t> </a:t>
            </a:r>
            <a:r>
              <a:rPr lang="it-IT" dirty="0" err="1"/>
              <a:t>bias</a:t>
            </a:r>
            <a:r>
              <a:rPr lang="it-IT" dirty="0"/>
              <a:t> and </a:t>
            </a:r>
            <a:r>
              <a:rPr lang="it-IT" dirty="0" err="1"/>
              <a:t>variance</a:t>
            </a:r>
            <a:r>
              <a:rPr lang="it-IT" dirty="0"/>
              <a:t>. </a:t>
            </a:r>
            <a:r>
              <a:rPr lang="it-IT" dirty="0" err="1"/>
              <a:t>You</a:t>
            </a:r>
            <a:r>
              <a:rPr lang="it-IT" dirty="0"/>
              <a:t> </a:t>
            </a:r>
            <a:r>
              <a:rPr lang="it-IT" dirty="0" err="1"/>
              <a:t>can't</a:t>
            </a:r>
            <a:r>
              <a:rPr lang="it-IT" dirty="0"/>
              <a:t> </a:t>
            </a:r>
            <a:r>
              <a:rPr lang="it-IT" dirty="0" err="1"/>
              <a:t>get</a:t>
            </a:r>
            <a:r>
              <a:rPr lang="it-IT" dirty="0"/>
              <a:t> </a:t>
            </a:r>
            <a:r>
              <a:rPr lang="it-IT" dirty="0" err="1"/>
              <a:t>both</a:t>
            </a:r>
            <a:r>
              <a:rPr lang="it-IT" dirty="0"/>
              <a:t> low </a:t>
            </a:r>
            <a:r>
              <a:rPr lang="it-IT" dirty="0" err="1"/>
              <a:t>bias</a:t>
            </a:r>
            <a:r>
              <a:rPr lang="it-IT" dirty="0"/>
              <a:t> and low </a:t>
            </a:r>
            <a:r>
              <a:rPr lang="it-IT" dirty="0" err="1"/>
              <a:t>variance</a:t>
            </a:r>
            <a:r>
              <a:rPr lang="it-IT" dirty="0"/>
              <a:t> </a:t>
            </a:r>
            <a:r>
              <a:rPr lang="it-IT" dirty="0" err="1"/>
              <a:t>at</a:t>
            </a:r>
            <a:r>
              <a:rPr lang="it-IT" dirty="0"/>
              <a:t> the </a:t>
            </a:r>
            <a:r>
              <a:rPr lang="it-IT" dirty="0" err="1"/>
              <a:t>same</a:t>
            </a:r>
            <a:r>
              <a:rPr lang="it-IT" dirty="0"/>
              <a:t> time."</a:t>
            </a:r>
          </a:p>
          <a:p>
            <a:endParaRPr lang="it-IT" dirty="0"/>
          </a:p>
          <a:p>
            <a:r>
              <a:rPr lang="it-IT" dirty="0"/>
              <a:t>To </a:t>
            </a:r>
            <a:r>
              <a:rPr lang="it-IT" dirty="0" err="1"/>
              <a:t>define</a:t>
            </a:r>
            <a:r>
              <a:rPr lang="it-IT" dirty="0"/>
              <a:t> </a:t>
            </a:r>
            <a:r>
              <a:rPr lang="it-IT" dirty="0" err="1"/>
              <a:t>them</a:t>
            </a:r>
            <a:r>
              <a:rPr lang="it-IT" dirty="0"/>
              <a:t> </a:t>
            </a:r>
            <a:r>
              <a:rPr lang="it-IT" dirty="0" err="1"/>
              <a:t>simply</a:t>
            </a:r>
            <a:r>
              <a:rPr lang="it-IT" dirty="0"/>
              <a:t>: **</a:t>
            </a:r>
            <a:r>
              <a:rPr lang="it-IT" dirty="0" err="1"/>
              <a:t>Bias</a:t>
            </a:r>
            <a:r>
              <a:rPr lang="it-IT" dirty="0"/>
              <a:t>** </a:t>
            </a:r>
            <a:r>
              <a:rPr lang="it-IT" dirty="0" err="1"/>
              <a:t>is</a:t>
            </a:r>
            <a:r>
              <a:rPr lang="it-IT" dirty="0"/>
              <a:t> a </a:t>
            </a:r>
            <a:r>
              <a:rPr lang="it-IT" dirty="0" err="1"/>
              <a:t>systematic</a:t>
            </a:r>
            <a:r>
              <a:rPr lang="it-IT" dirty="0"/>
              <a:t> </a:t>
            </a:r>
            <a:r>
              <a:rPr lang="it-IT" dirty="0" err="1"/>
              <a:t>error</a:t>
            </a:r>
            <a:r>
              <a:rPr lang="it-IT" dirty="0"/>
              <a:t> </a:t>
            </a:r>
            <a:r>
              <a:rPr lang="it-IT" dirty="0" err="1"/>
              <a:t>where</a:t>
            </a:r>
            <a:r>
              <a:rPr lang="it-IT" dirty="0"/>
              <a:t> the model </a:t>
            </a:r>
            <a:r>
              <a:rPr lang="it-IT" dirty="0" err="1"/>
              <a:t>is</a:t>
            </a:r>
            <a:r>
              <a:rPr lang="it-IT" dirty="0"/>
              <a:t> </a:t>
            </a:r>
            <a:r>
              <a:rPr lang="it-IT" dirty="0" err="1"/>
              <a:t>consistently</a:t>
            </a:r>
            <a:r>
              <a:rPr lang="it-IT" dirty="0"/>
              <a:t> </a:t>
            </a:r>
            <a:r>
              <a:rPr lang="it-IT" dirty="0" err="1"/>
              <a:t>wrong</a:t>
            </a:r>
            <a:r>
              <a:rPr lang="it-IT" dirty="0"/>
              <a:t> in one </a:t>
            </a:r>
            <a:r>
              <a:rPr lang="it-IT" dirty="0" err="1"/>
              <a:t>direction</a:t>
            </a:r>
            <a:r>
              <a:rPr lang="it-IT" dirty="0"/>
              <a:t>. **</a:t>
            </a:r>
            <a:r>
              <a:rPr lang="it-IT" dirty="0" err="1"/>
              <a:t>Variance</a:t>
            </a:r>
            <a:r>
              <a:rPr lang="it-IT" dirty="0"/>
              <a:t>** </a:t>
            </a:r>
            <a:r>
              <a:rPr lang="it-IT" dirty="0" err="1"/>
              <a:t>is</a:t>
            </a:r>
            <a:r>
              <a:rPr lang="it-IT" dirty="0"/>
              <a:t> </a:t>
            </a:r>
            <a:r>
              <a:rPr lang="it-IT" dirty="0" err="1"/>
              <a:t>instability</a:t>
            </a:r>
            <a:r>
              <a:rPr lang="it-IT" dirty="0"/>
              <a:t>, </a:t>
            </a:r>
            <a:r>
              <a:rPr lang="it-IT" dirty="0" err="1"/>
              <a:t>where</a:t>
            </a:r>
            <a:r>
              <a:rPr lang="it-IT" dirty="0"/>
              <a:t> the </a:t>
            </a:r>
            <a:r>
              <a:rPr lang="it-IT" dirty="0" err="1"/>
              <a:t>model's</a:t>
            </a:r>
            <a:r>
              <a:rPr lang="it-IT" dirty="0"/>
              <a:t> </a:t>
            </a:r>
            <a:r>
              <a:rPr lang="it-IT" dirty="0" err="1"/>
              <a:t>predictions</a:t>
            </a:r>
            <a:r>
              <a:rPr lang="it-IT" dirty="0"/>
              <a:t> swing </a:t>
            </a:r>
            <a:r>
              <a:rPr lang="it-IT" dirty="0" err="1"/>
              <a:t>drastically</a:t>
            </a:r>
            <a:r>
              <a:rPr lang="it-IT" dirty="0"/>
              <a:t> </a:t>
            </a:r>
            <a:r>
              <a:rPr lang="it-IT" dirty="0" err="1"/>
              <a:t>based</a:t>
            </a:r>
            <a:r>
              <a:rPr lang="it-IT" dirty="0"/>
              <a:t> on </a:t>
            </a:r>
            <a:r>
              <a:rPr lang="it-IT" dirty="0" err="1"/>
              <a:t>tiny</a:t>
            </a:r>
            <a:r>
              <a:rPr lang="it-IT" dirty="0"/>
              <a:t> </a:t>
            </a:r>
            <a:r>
              <a:rPr lang="it-IT" dirty="0" err="1"/>
              <a:t>changes</a:t>
            </a:r>
            <a:r>
              <a:rPr lang="it-IT" dirty="0"/>
              <a:t> in the input data. </a:t>
            </a:r>
            <a:r>
              <a:rPr lang="it-IT" dirty="0" err="1"/>
              <a:t>As</a:t>
            </a:r>
            <a:r>
              <a:rPr lang="it-IT" dirty="0"/>
              <a:t> </a:t>
            </a:r>
            <a:r>
              <a:rPr lang="it-IT" dirty="0" err="1"/>
              <a:t>we</a:t>
            </a:r>
            <a:r>
              <a:rPr lang="it-IT" dirty="0"/>
              <a:t> </a:t>
            </a:r>
            <a:r>
              <a:rPr lang="it-IT" dirty="0" err="1"/>
              <a:t>will</a:t>
            </a:r>
            <a:r>
              <a:rPr lang="it-IT" dirty="0"/>
              <a:t> </a:t>
            </a:r>
            <a:r>
              <a:rPr lang="it-IT" dirty="0" err="1"/>
              <a:t>see</a:t>
            </a:r>
            <a:r>
              <a:rPr lang="it-IT" dirty="0"/>
              <a:t>, Random </a:t>
            </a:r>
            <a:r>
              <a:rPr lang="it-IT" dirty="0" err="1"/>
              <a:t>Forest</a:t>
            </a:r>
            <a:r>
              <a:rPr lang="it-IT" dirty="0"/>
              <a:t> </a:t>
            </a:r>
            <a:r>
              <a:rPr lang="it-IT" dirty="0" err="1"/>
              <a:t>is</a:t>
            </a:r>
            <a:r>
              <a:rPr lang="it-IT" dirty="0"/>
              <a:t> </a:t>
            </a:r>
            <a:r>
              <a:rPr lang="it-IT" dirty="0" err="1"/>
              <a:t>explicitly</a:t>
            </a:r>
            <a:r>
              <a:rPr lang="it-IT" dirty="0"/>
              <a:t> </a:t>
            </a:r>
            <a:r>
              <a:rPr lang="it-IT" dirty="0" err="1"/>
              <a:t>designed</a:t>
            </a:r>
            <a:r>
              <a:rPr lang="it-IT" dirty="0"/>
              <a:t> to </a:t>
            </a:r>
            <a:r>
              <a:rPr lang="it-IT" dirty="0" err="1"/>
              <a:t>crush</a:t>
            </a:r>
            <a:r>
              <a:rPr lang="it-IT" dirty="0"/>
              <a:t> </a:t>
            </a:r>
            <a:r>
              <a:rPr lang="it-IT" dirty="0" err="1"/>
              <a:t>variance</a:t>
            </a:r>
            <a:r>
              <a:rPr lang="it-IT" dirty="0"/>
              <a:t> by </a:t>
            </a:r>
            <a:r>
              <a:rPr lang="it-IT" dirty="0" err="1"/>
              <a:t>averaging</a:t>
            </a:r>
            <a:r>
              <a:rPr lang="it-IT" dirty="0"/>
              <a:t> multiple </a:t>
            </a:r>
            <a:r>
              <a:rPr lang="it-IT" dirty="0" err="1"/>
              <a:t>decorrelated</a:t>
            </a:r>
            <a:r>
              <a:rPr lang="it-IT" dirty="0"/>
              <a:t> </a:t>
            </a:r>
            <a:r>
              <a:rPr lang="it-IT" dirty="0" err="1"/>
              <a:t>decision</a:t>
            </a:r>
            <a:r>
              <a:rPr lang="it-IT" dirty="0"/>
              <a:t> </a:t>
            </a:r>
            <a:r>
              <a:rPr lang="it-IT" dirty="0" err="1"/>
              <a:t>trees</a:t>
            </a:r>
            <a:r>
              <a:rPr lang="it-IT" dirty="0"/>
              <a:t> </a:t>
            </a:r>
            <a:r>
              <a:rPr lang="it-IT" dirty="0" err="1"/>
              <a:t>while</a:t>
            </a:r>
            <a:r>
              <a:rPr lang="it-IT" dirty="0"/>
              <a:t> keeping </a:t>
            </a:r>
            <a:r>
              <a:rPr lang="it-IT" dirty="0" err="1"/>
              <a:t>bias</a:t>
            </a:r>
            <a:r>
              <a:rPr lang="it-IT" dirty="0"/>
              <a:t> low.</a:t>
            </a:r>
          </a:p>
          <a:p>
            <a:endParaRPr lang="it-IT" dirty="0"/>
          </a:p>
          <a:p>
            <a:r>
              <a:rPr lang="it-IT" dirty="0"/>
              <a:t>---</a:t>
            </a:r>
          </a:p>
          <a:p>
            <a:r>
              <a:rPr lang="it-IT" dirty="0" err="1"/>
              <a:t>Our</a:t>
            </a:r>
            <a:r>
              <a:rPr lang="it-IT" dirty="0"/>
              <a:t> goal </a:t>
            </a:r>
            <a:r>
              <a:rPr lang="it-IT" dirty="0" err="1"/>
              <a:t>is</a:t>
            </a:r>
            <a:r>
              <a:rPr lang="it-IT" dirty="0"/>
              <a:t> to </a:t>
            </a:r>
            <a:r>
              <a:rPr lang="it-IT" dirty="0" err="1"/>
              <a:t>find</a:t>
            </a:r>
            <a:r>
              <a:rPr lang="it-IT" dirty="0"/>
              <a:t> </a:t>
            </a:r>
            <a:r>
              <a:rPr lang="it-IT" dirty="0" err="1"/>
              <a:t>that</a:t>
            </a:r>
            <a:r>
              <a:rPr lang="it-IT" dirty="0"/>
              <a:t> </a:t>
            </a:r>
            <a:r>
              <a:rPr lang="it-IT" dirty="0" err="1"/>
              <a:t>perfect</a:t>
            </a:r>
            <a:r>
              <a:rPr lang="it-IT" dirty="0"/>
              <a:t> </a:t>
            </a:r>
            <a:r>
              <a:rPr lang="it-IT" dirty="0" err="1"/>
              <a:t>sweet</a:t>
            </a:r>
            <a:r>
              <a:rPr lang="it-IT" dirty="0"/>
              <a:t> spot </a:t>
            </a:r>
            <a:r>
              <a:rPr lang="it-IT" dirty="0" err="1"/>
              <a:t>right</a:t>
            </a:r>
            <a:r>
              <a:rPr lang="it-IT" dirty="0"/>
              <a:t> in the middle to </a:t>
            </a:r>
            <a:r>
              <a:rPr lang="it-IT" dirty="0" err="1"/>
              <a:t>achieve</a:t>
            </a:r>
            <a:r>
              <a:rPr lang="it-IT" dirty="0"/>
              <a:t> strong </a:t>
            </a:r>
            <a:r>
              <a:rPr lang="it-IT" dirty="0" err="1"/>
              <a:t>generalization</a:t>
            </a:r>
            <a:r>
              <a:rPr lang="it-IT" dirty="0"/>
              <a:t>.</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15</a:t>
            </a:fld>
            <a:endParaRPr lang="it-IT"/>
          </a:p>
        </p:txBody>
      </p:sp>
    </p:spTree>
    <p:extLst>
      <p:ext uri="{BB962C8B-B14F-4D97-AF65-F5344CB8AC3E}">
        <p14:creationId xmlns:p14="http://schemas.microsoft.com/office/powerpoint/2010/main" val="4093142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err="1"/>
              <a:t>Our</a:t>
            </a:r>
            <a:r>
              <a:rPr lang="it-IT" dirty="0"/>
              <a:t> workflow </a:t>
            </a:r>
            <a:r>
              <a:rPr lang="it-IT" dirty="0" err="1"/>
              <a:t>is</a:t>
            </a:r>
            <a:r>
              <a:rPr lang="it-IT" dirty="0"/>
              <a:t> </a:t>
            </a:r>
            <a:r>
              <a:rPr lang="it-IT" dirty="0" err="1"/>
              <a:t>divided</a:t>
            </a:r>
            <a:r>
              <a:rPr lang="it-IT" dirty="0"/>
              <a:t> </a:t>
            </a:r>
            <a:r>
              <a:rPr lang="it-IT" dirty="0" err="1"/>
              <a:t>into</a:t>
            </a:r>
            <a:r>
              <a:rPr lang="it-IT" dirty="0"/>
              <a:t> </a:t>
            </a:r>
            <a:r>
              <a:rPr lang="it-IT" dirty="0" err="1"/>
              <a:t>two</a:t>
            </a:r>
            <a:r>
              <a:rPr lang="it-IT" dirty="0"/>
              <a:t> </a:t>
            </a:r>
            <a:r>
              <a:rPr lang="it-IT" dirty="0" err="1"/>
              <a:t>distinct</a:t>
            </a:r>
            <a:r>
              <a:rPr lang="it-IT" dirty="0"/>
              <a:t> </a:t>
            </a:r>
            <a:r>
              <a:rPr lang="it-IT" dirty="0" err="1"/>
              <a:t>phases</a:t>
            </a:r>
            <a:r>
              <a:rPr lang="it-IT" dirty="0"/>
              <a:t>, </a:t>
            </a:r>
            <a:r>
              <a:rPr lang="it-IT" dirty="0" err="1"/>
              <a:t>but</a:t>
            </a:r>
            <a:r>
              <a:rPr lang="it-IT" dirty="0"/>
              <a:t> </a:t>
            </a:r>
            <a:r>
              <a:rPr lang="it-IT" dirty="0" err="1"/>
              <a:t>notice</a:t>
            </a:r>
            <a:r>
              <a:rPr lang="it-IT" dirty="0"/>
              <a:t> the "multiple </a:t>
            </a:r>
            <a:r>
              <a:rPr lang="it-IT" dirty="0" err="1"/>
              <a:t>iterations</a:t>
            </a:r>
            <a:r>
              <a:rPr lang="it-IT" dirty="0"/>
              <a:t>" </a:t>
            </a:r>
            <a:r>
              <a:rPr lang="it-IT" dirty="0" err="1"/>
              <a:t>arrow</a:t>
            </a:r>
            <a:r>
              <a:rPr lang="it-IT" dirty="0"/>
              <a:t>—</a:t>
            </a:r>
            <a:r>
              <a:rPr lang="it-IT" dirty="0" err="1"/>
              <a:t>this</a:t>
            </a:r>
            <a:r>
              <a:rPr lang="it-IT" dirty="0"/>
              <a:t> </a:t>
            </a:r>
            <a:r>
              <a:rPr lang="it-IT" dirty="0" err="1"/>
              <a:t>is</a:t>
            </a:r>
            <a:r>
              <a:rPr lang="it-IT" dirty="0"/>
              <a:t> a </a:t>
            </a:r>
            <a:r>
              <a:rPr lang="it-IT" dirty="0" err="1"/>
              <a:t>highly</a:t>
            </a:r>
            <a:r>
              <a:rPr lang="it-IT" dirty="0"/>
              <a:t> </a:t>
            </a:r>
            <a:r>
              <a:rPr lang="it-IT" dirty="0" err="1"/>
              <a:t>cyclical</a:t>
            </a:r>
            <a:r>
              <a:rPr lang="it-IT" dirty="0"/>
              <a:t> </a:t>
            </a:r>
            <a:r>
              <a:rPr lang="it-IT" dirty="0" err="1"/>
              <a:t>process</a:t>
            </a:r>
            <a:r>
              <a:rPr lang="it-IT" dirty="0"/>
              <a:t>, </a:t>
            </a:r>
            <a:r>
              <a:rPr lang="it-IT" dirty="0" err="1"/>
              <a:t>not</a:t>
            </a:r>
            <a:r>
              <a:rPr lang="it-IT" dirty="0"/>
              <a:t> a </a:t>
            </a:r>
            <a:r>
              <a:rPr lang="it-IT" dirty="0" err="1"/>
              <a:t>straight</a:t>
            </a:r>
            <a:r>
              <a:rPr lang="it-IT" dirty="0"/>
              <a:t> line.</a:t>
            </a:r>
          </a:p>
          <a:p>
            <a:endParaRPr lang="it-IT" dirty="0"/>
          </a:p>
          <a:p>
            <a:r>
              <a:rPr lang="it-IT" dirty="0"/>
              <a:t>**Data </a:t>
            </a:r>
            <a:r>
              <a:rPr lang="it-IT" dirty="0" err="1"/>
              <a:t>Preparation</a:t>
            </a:r>
            <a:r>
              <a:rPr lang="it-IT" dirty="0"/>
              <a:t>:**</a:t>
            </a:r>
          </a:p>
          <a:p>
            <a:endParaRPr lang="it-IT" dirty="0"/>
          </a:p>
          <a:p>
            <a:r>
              <a:rPr lang="it-IT" dirty="0"/>
              <a:t>1. </a:t>
            </a:r>
            <a:r>
              <a:rPr lang="it-IT" dirty="0" err="1"/>
              <a:t>Gather</a:t>
            </a:r>
            <a:r>
              <a:rPr lang="it-IT" dirty="0"/>
              <a:t> </a:t>
            </a:r>
            <a:r>
              <a:rPr lang="it-IT" dirty="0" err="1"/>
              <a:t>raw</a:t>
            </a:r>
            <a:r>
              <a:rPr lang="it-IT" dirty="0"/>
              <a:t> data like satellite </a:t>
            </a:r>
            <a:r>
              <a:rPr lang="it-IT" dirty="0" err="1"/>
              <a:t>imagery</a:t>
            </a:r>
            <a:r>
              <a:rPr lang="it-IT" dirty="0"/>
              <a:t>, </a:t>
            </a:r>
            <a:r>
              <a:rPr lang="it-IT" dirty="0" err="1"/>
              <a:t>digital</a:t>
            </a:r>
            <a:r>
              <a:rPr lang="it-IT" dirty="0"/>
              <a:t> </a:t>
            </a:r>
            <a:r>
              <a:rPr lang="it-IT" dirty="0" err="1"/>
              <a:t>elevation</a:t>
            </a:r>
            <a:r>
              <a:rPr lang="it-IT" dirty="0"/>
              <a:t> models, and </a:t>
            </a:r>
            <a:r>
              <a:rPr lang="it-IT" dirty="0" err="1"/>
              <a:t>infrastructure</a:t>
            </a:r>
            <a:r>
              <a:rPr lang="it-IT" dirty="0"/>
              <a:t> </a:t>
            </a:r>
            <a:r>
              <a:rPr lang="it-IT" dirty="0" err="1"/>
              <a:t>maps</a:t>
            </a:r>
            <a:r>
              <a:rPr lang="it-IT" dirty="0"/>
              <a:t>.</a:t>
            </a:r>
          </a:p>
          <a:p>
            <a:r>
              <a:rPr lang="it-IT" dirty="0"/>
              <a:t>2. </a:t>
            </a:r>
            <a:r>
              <a:rPr lang="it-IT" dirty="0" err="1"/>
              <a:t>Clean</a:t>
            </a:r>
            <a:r>
              <a:rPr lang="it-IT" dirty="0"/>
              <a:t> the data by </a:t>
            </a:r>
            <a:r>
              <a:rPr lang="it-IT" dirty="0" err="1"/>
              <a:t>handling</a:t>
            </a:r>
            <a:r>
              <a:rPr lang="it-IT" dirty="0"/>
              <a:t> </a:t>
            </a:r>
            <a:r>
              <a:rPr lang="it-IT" dirty="0" err="1"/>
              <a:t>missing</a:t>
            </a:r>
            <a:r>
              <a:rPr lang="it-IT" dirty="0"/>
              <a:t> </a:t>
            </a:r>
            <a:r>
              <a:rPr lang="it-IT" dirty="0" err="1"/>
              <a:t>values</a:t>
            </a:r>
            <a:r>
              <a:rPr lang="it-IT" dirty="0"/>
              <a:t>, </a:t>
            </a:r>
            <a:r>
              <a:rPr lang="it-IT" dirty="0" err="1"/>
              <a:t>managing</a:t>
            </a:r>
            <a:r>
              <a:rPr lang="it-IT" dirty="0"/>
              <a:t> </a:t>
            </a:r>
            <a:r>
              <a:rPr lang="it-IT" dirty="0" err="1"/>
              <a:t>outliers</a:t>
            </a:r>
            <a:r>
              <a:rPr lang="it-IT" dirty="0"/>
              <a:t>, and </a:t>
            </a:r>
            <a:r>
              <a:rPr lang="it-IT" dirty="0" err="1"/>
              <a:t>unifying</a:t>
            </a:r>
            <a:r>
              <a:rPr lang="it-IT" dirty="0"/>
              <a:t> </a:t>
            </a:r>
            <a:r>
              <a:rPr lang="it-IT" dirty="0" err="1"/>
              <a:t>spatial</a:t>
            </a:r>
            <a:r>
              <a:rPr lang="it-IT" dirty="0"/>
              <a:t> </a:t>
            </a:r>
            <a:r>
              <a:rPr lang="it-IT" dirty="0" err="1"/>
              <a:t>resolutions</a:t>
            </a:r>
            <a:r>
              <a:rPr lang="it-IT" dirty="0"/>
              <a:t>.</a:t>
            </a:r>
          </a:p>
          <a:p>
            <a:r>
              <a:rPr lang="it-IT" dirty="0"/>
              <a:t>3. </a:t>
            </a:r>
            <a:r>
              <a:rPr lang="it-IT" dirty="0" err="1"/>
              <a:t>Engineer</a:t>
            </a:r>
            <a:r>
              <a:rPr lang="it-IT" dirty="0"/>
              <a:t> </a:t>
            </a:r>
            <a:r>
              <a:rPr lang="it-IT" dirty="0" err="1"/>
              <a:t>meaningful</a:t>
            </a:r>
            <a:r>
              <a:rPr lang="it-IT" dirty="0"/>
              <a:t> </a:t>
            </a:r>
            <a:r>
              <a:rPr lang="it-IT" dirty="0" err="1"/>
              <a:t>predictors</a:t>
            </a:r>
            <a:r>
              <a:rPr lang="it-IT" dirty="0"/>
              <a:t>, </a:t>
            </a:r>
            <a:r>
              <a:rPr lang="it-IT" dirty="0" err="1"/>
              <a:t>converting</a:t>
            </a:r>
            <a:r>
              <a:rPr lang="it-IT" dirty="0"/>
              <a:t> </a:t>
            </a:r>
            <a:r>
              <a:rPr lang="it-IT" dirty="0" err="1"/>
              <a:t>raw</a:t>
            </a:r>
            <a:r>
              <a:rPr lang="it-IT" dirty="0"/>
              <a:t> inputs </a:t>
            </a:r>
            <a:r>
              <a:rPr lang="it-IT" dirty="0" err="1"/>
              <a:t>into</a:t>
            </a:r>
            <a:r>
              <a:rPr lang="it-IT" dirty="0"/>
              <a:t> </a:t>
            </a:r>
            <a:r>
              <a:rPr lang="it-IT" dirty="0" err="1"/>
              <a:t>things</a:t>
            </a:r>
            <a:r>
              <a:rPr lang="it-IT" dirty="0"/>
              <a:t> like </a:t>
            </a:r>
            <a:r>
              <a:rPr lang="it-IT" dirty="0" err="1"/>
              <a:t>slope</a:t>
            </a:r>
            <a:r>
              <a:rPr lang="it-IT" dirty="0"/>
              <a:t>, </a:t>
            </a:r>
            <a:r>
              <a:rPr lang="it-IT" dirty="0" err="1"/>
              <a:t>aspect</a:t>
            </a:r>
            <a:r>
              <a:rPr lang="it-IT" dirty="0"/>
              <a:t>, or NDVI.</a:t>
            </a:r>
          </a:p>
          <a:p>
            <a:r>
              <a:rPr lang="it-IT" dirty="0"/>
              <a:t>4. Split </a:t>
            </a:r>
            <a:r>
              <a:rPr lang="it-IT" dirty="0" err="1"/>
              <a:t>your</a:t>
            </a:r>
            <a:r>
              <a:rPr lang="it-IT" dirty="0"/>
              <a:t> data </a:t>
            </a:r>
            <a:r>
              <a:rPr lang="it-IT" dirty="0" err="1"/>
              <a:t>into</a:t>
            </a:r>
            <a:r>
              <a:rPr lang="it-IT" dirty="0"/>
              <a:t> training and </a:t>
            </a:r>
            <a:r>
              <a:rPr lang="it-IT" dirty="0" err="1"/>
              <a:t>evaluation</a:t>
            </a:r>
            <a:r>
              <a:rPr lang="it-IT" dirty="0"/>
              <a:t> sets </a:t>
            </a:r>
            <a:r>
              <a:rPr lang="it-IT" dirty="0" err="1"/>
              <a:t>while</a:t>
            </a:r>
            <a:r>
              <a:rPr lang="it-IT" dirty="0"/>
              <a:t> </a:t>
            </a:r>
            <a:r>
              <a:rPr lang="it-IT" dirty="0" err="1"/>
              <a:t>being</a:t>
            </a:r>
            <a:r>
              <a:rPr lang="it-IT" dirty="0"/>
              <a:t> </a:t>
            </a:r>
            <a:r>
              <a:rPr lang="it-IT" dirty="0" err="1"/>
              <a:t>hyper-vigilant</a:t>
            </a:r>
            <a:r>
              <a:rPr lang="it-IT" dirty="0"/>
              <a:t> </a:t>
            </a:r>
            <a:r>
              <a:rPr lang="it-IT" dirty="0" err="1"/>
              <a:t>about</a:t>
            </a:r>
            <a:r>
              <a:rPr lang="it-IT" dirty="0"/>
              <a:t> </a:t>
            </a:r>
            <a:r>
              <a:rPr lang="it-IT" dirty="0" err="1"/>
              <a:t>avoiding</a:t>
            </a:r>
            <a:r>
              <a:rPr lang="it-IT" dirty="0"/>
              <a:t> </a:t>
            </a:r>
            <a:r>
              <a:rPr lang="it-IT" dirty="0" err="1"/>
              <a:t>spatial</a:t>
            </a:r>
            <a:r>
              <a:rPr lang="it-IT" dirty="0"/>
              <a:t> and </a:t>
            </a:r>
            <a:r>
              <a:rPr lang="it-IT" dirty="0" err="1"/>
              <a:t>temporal</a:t>
            </a:r>
            <a:r>
              <a:rPr lang="it-IT" dirty="0"/>
              <a:t> leakage.</a:t>
            </a:r>
          </a:p>
          <a:p>
            <a:endParaRPr lang="it-IT" dirty="0"/>
          </a:p>
          <a:p>
            <a:r>
              <a:rPr lang="it-IT" dirty="0"/>
              <a:t>**Model Development:**</a:t>
            </a:r>
          </a:p>
          <a:p>
            <a:r>
              <a:rPr lang="it-IT" dirty="0"/>
              <a:t>5. Train the model to </a:t>
            </a:r>
            <a:r>
              <a:rPr lang="it-IT" dirty="0" err="1"/>
              <a:t>learn</a:t>
            </a:r>
            <a:r>
              <a:rPr lang="it-IT" dirty="0"/>
              <a:t> the </a:t>
            </a:r>
            <a:r>
              <a:rPr lang="it-IT" dirty="0" err="1"/>
              <a:t>relationships</a:t>
            </a:r>
            <a:r>
              <a:rPr lang="it-IT" dirty="0"/>
              <a:t> </a:t>
            </a:r>
            <a:r>
              <a:rPr lang="it-IT" dirty="0" err="1"/>
              <a:t>between</a:t>
            </a:r>
            <a:r>
              <a:rPr lang="it-IT" dirty="0"/>
              <a:t> </a:t>
            </a:r>
            <a:r>
              <a:rPr lang="it-IT" dirty="0" err="1"/>
              <a:t>your</a:t>
            </a:r>
            <a:r>
              <a:rPr lang="it-IT" dirty="0"/>
              <a:t> </a:t>
            </a:r>
            <a:r>
              <a:rPr lang="it-IT" dirty="0" err="1"/>
              <a:t>predictors</a:t>
            </a:r>
            <a:r>
              <a:rPr lang="it-IT" dirty="0"/>
              <a:t> and targets.</a:t>
            </a:r>
          </a:p>
          <a:p>
            <a:r>
              <a:rPr lang="it-IT" dirty="0"/>
              <a:t>6. </a:t>
            </a:r>
            <a:r>
              <a:rPr lang="it-IT" dirty="0" err="1"/>
              <a:t>Evaluate</a:t>
            </a:r>
            <a:r>
              <a:rPr lang="it-IT" dirty="0"/>
              <a:t> </a:t>
            </a:r>
            <a:r>
              <a:rPr lang="it-IT" dirty="0" err="1"/>
              <a:t>using</a:t>
            </a:r>
            <a:r>
              <a:rPr lang="it-IT" dirty="0"/>
              <a:t> </a:t>
            </a:r>
            <a:r>
              <a:rPr lang="it-IT" dirty="0" err="1"/>
              <a:t>metrics</a:t>
            </a:r>
            <a:r>
              <a:rPr lang="it-IT" dirty="0"/>
              <a:t> like </a:t>
            </a:r>
            <a:r>
              <a:rPr lang="it-IT" dirty="0" err="1"/>
              <a:t>Accuracy</a:t>
            </a:r>
            <a:r>
              <a:rPr lang="it-IT" dirty="0"/>
              <a:t>, ROC-AUC, and </a:t>
            </a:r>
            <a:r>
              <a:rPr lang="it-IT" dirty="0" err="1"/>
              <a:t>Confusion</a:t>
            </a:r>
            <a:r>
              <a:rPr lang="it-IT" dirty="0"/>
              <a:t> </a:t>
            </a:r>
            <a:r>
              <a:rPr lang="it-IT" dirty="0" err="1"/>
              <a:t>Matrices</a:t>
            </a:r>
            <a:r>
              <a:rPr lang="it-IT" dirty="0"/>
              <a:t>.</a:t>
            </a:r>
          </a:p>
          <a:p>
            <a:r>
              <a:rPr lang="it-IT" dirty="0"/>
              <a:t>7. </a:t>
            </a:r>
            <a:r>
              <a:rPr lang="it-IT" dirty="0" err="1"/>
              <a:t>Interpret</a:t>
            </a:r>
            <a:r>
              <a:rPr lang="it-IT" dirty="0"/>
              <a:t> the </a:t>
            </a:r>
            <a:r>
              <a:rPr lang="it-IT" dirty="0" err="1"/>
              <a:t>inner</a:t>
            </a:r>
            <a:r>
              <a:rPr lang="it-IT" dirty="0"/>
              <a:t> </a:t>
            </a:r>
            <a:r>
              <a:rPr lang="it-IT" dirty="0" err="1"/>
              <a:t>workings</a:t>
            </a:r>
            <a:r>
              <a:rPr lang="it-IT" dirty="0"/>
              <a:t> </a:t>
            </a:r>
            <a:r>
              <a:rPr lang="it-IT" dirty="0" err="1"/>
              <a:t>using</a:t>
            </a:r>
            <a:r>
              <a:rPr lang="it-IT" dirty="0"/>
              <a:t> feature </a:t>
            </a:r>
            <a:r>
              <a:rPr lang="it-IT" dirty="0" err="1"/>
              <a:t>importance</a:t>
            </a:r>
            <a:r>
              <a:rPr lang="it-IT" dirty="0"/>
              <a:t>, </a:t>
            </a:r>
            <a:r>
              <a:rPr lang="it-IT" dirty="0" err="1"/>
              <a:t>Partial</a:t>
            </a:r>
            <a:r>
              <a:rPr lang="it-IT" dirty="0"/>
              <a:t> </a:t>
            </a:r>
            <a:r>
              <a:rPr lang="it-IT" dirty="0" err="1"/>
              <a:t>Dependence</a:t>
            </a:r>
            <a:r>
              <a:rPr lang="it-IT" dirty="0"/>
              <a:t>, or SHAP </a:t>
            </a:r>
            <a:r>
              <a:rPr lang="it-IT" dirty="0" err="1"/>
              <a:t>values</a:t>
            </a:r>
            <a:r>
              <a:rPr lang="it-IT" dirty="0"/>
              <a:t>.</a:t>
            </a:r>
          </a:p>
          <a:p>
            <a:r>
              <a:rPr lang="it-IT" dirty="0"/>
              <a:t>8. </a:t>
            </a:r>
            <a:r>
              <a:rPr lang="it-IT" dirty="0" err="1"/>
              <a:t>Deploy</a:t>
            </a:r>
            <a:r>
              <a:rPr lang="it-IT" dirty="0"/>
              <a:t> the model to generate </a:t>
            </a:r>
            <a:r>
              <a:rPr lang="it-IT" dirty="0" err="1"/>
              <a:t>actual</a:t>
            </a:r>
            <a:r>
              <a:rPr lang="it-IT" dirty="0"/>
              <a:t> </a:t>
            </a:r>
            <a:r>
              <a:rPr lang="it-IT" dirty="0" err="1"/>
              <a:t>predictive</a:t>
            </a:r>
            <a:r>
              <a:rPr lang="it-IT" dirty="0"/>
              <a:t> risk </a:t>
            </a:r>
            <a:r>
              <a:rPr lang="it-IT" dirty="0" err="1"/>
              <a:t>maps</a:t>
            </a:r>
            <a:r>
              <a:rPr lang="it-IT" dirty="0"/>
              <a:t> for new </a:t>
            </a:r>
            <a:r>
              <a:rPr lang="it-IT" dirty="0" err="1"/>
              <a:t>areas</a:t>
            </a:r>
            <a:r>
              <a:rPr lang="it-IT" dirty="0"/>
              <a:t> or future timelines.</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16</a:t>
            </a:fld>
            <a:endParaRPr lang="it-IT"/>
          </a:p>
        </p:txBody>
      </p:sp>
    </p:spTree>
    <p:extLst>
      <p:ext uri="{BB962C8B-B14F-4D97-AF65-F5344CB8AC3E}">
        <p14:creationId xmlns:p14="http://schemas.microsoft.com/office/powerpoint/2010/main" val="31464045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This slide introduces two foundational supervised-learning algorithms used in environmental data analysis.</a:t>
            </a:r>
          </a:p>
          <a:p>
            <a:r>
              <a:rPr lang="en-GB" dirty="0"/>
              <a:t>Linear and Logistic Regression model simple relationships between predictors and a target. Linear regression handles continuous outputs (e.g. predicting temperature from elevation, time, or other covariates), while logistic regression handles binary outcomes (e.g. whether a hazard event occurs or not). Typical environmental uses include temperature trend analysis, air quality estimation from meteorological inputs, and binary hazard occurrence modelling.</a:t>
            </a:r>
          </a:p>
          <a:p>
            <a:r>
              <a:rPr lang="en-GB" dirty="0"/>
              <a:t>Their main strengths are simplicity, speed, and interpretability — the coefficients have a direct physical meaning, which makes them excellent baseline models and useful when explainability matters (for reporting or policy contexts). The main limitation is that they assume relatively simple, mostly linear relationships, so they struggle with the complex non-linear processes typical of environmental systems.</a:t>
            </a:r>
          </a:p>
          <a:p>
            <a:r>
              <a:rPr lang="en-GB" dirty="0"/>
              <a:t>Support Vector Machines (SVM) take a different approach: they separate classes by finding the optimal decision boundary — the hyperplane that maximises the margin between groups. With kernel functions, they can also capture non-linear separations. In the environmental domain, SVMs are widely used for land-cover classification, remote sensing, and image segmentation tasks.</a:t>
            </a:r>
          </a:p>
          <a:p>
            <a:r>
              <a:rPr lang="en-GB" dirty="0"/>
              <a:t>Their strengths are working well even with limited training data and handling complex class separations. Limitations: they become computationally expensive on very large datasets, and the results are less interpretable than a linear model.</a:t>
            </a:r>
          </a:p>
          <a:p>
            <a:r>
              <a:rPr lang="en-GB" dirty="0"/>
              <a:t>Key takeaway: regression methods are your transparent baseline; SVM is a strong classical option when you have moderate-sized labelled data and need robust classification — particularly common in remote sensing workflows.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This slide covers two of the most powerful modern supervised methods, both heavily used in environmental science.</a:t>
            </a:r>
          </a:p>
          <a:p>
            <a:r>
              <a:rPr lang="en-GB" dirty="0"/>
              <a:t>Neural Networks and Deep Learning learn complex, hierarchical patterns directly from large datasets. Instead of hand-crafting features, the network learns its own representations layer by layer. Typical environmental applications include satellite image analysis, fire and smoke detection, flood mapping, and weather prediction. These methods are particularly powerful for computer vision and Earth observation, where convolutional architectures can exploit the spatial structure of imagery.</a:t>
            </a:r>
          </a:p>
          <a:p>
            <a:r>
              <a:rPr lang="en-GB" dirty="0"/>
              <a:t>Strengths: they excel on images and spatial data, and can model highly complex, non-linear relationships that simpler models cannot capture. Limitations: they require large labelled datasets and significant computational resources (often GPUs), and they often behave like a black box — making it harder to explain why a particular prediction was made, which can be an issue in scientific or regulatory contexts.</a:t>
            </a:r>
          </a:p>
          <a:p>
            <a:r>
              <a:rPr lang="en-GB" dirty="0"/>
              <a:t>Gradient Boosting takes an ensemble approach: many weak learners — typically small decision trees — are built sequentially, with each new learner focusing on correcting the mistakes made by the previous ones. Popular implementations include XGBoost, LightGBM, and CatBoost. Environmental applications include extreme-event prediction, risk mapping, and general environmental forecasting on tabular data.</a:t>
            </a:r>
          </a:p>
          <a:p>
            <a:r>
              <a:rPr lang="en-GB" dirty="0"/>
              <a:t>Strengths: very high predictive performance, often state-of-the-art on structured/tabular datasets, and considerable flexibility across regression and classification tasks. Limitations: harder to interpret than a single tree or linear model, and performance depends strongly on careful hyperparameter tuning (learning rate, tree depth, number of estimators, regularisation).</a:t>
            </a:r>
          </a:p>
          <a:p>
            <a:r>
              <a:rPr lang="en-GB" dirty="0"/>
              <a:t>Key takeaway: choose deep learning when the data is large and unstructured — especially images or spatio-temporal grids. Choose gradient boosting when the data is tabular and you need top-tier accuracy with reasonable training cost.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*"A </a:t>
            </a:r>
            <a:r>
              <a:rPr lang="it-IT" dirty="0" err="1"/>
              <a:t>Decision</a:t>
            </a:r>
            <a:r>
              <a:rPr lang="it-IT" dirty="0"/>
              <a:t> Tree </a:t>
            </a:r>
            <a:r>
              <a:rPr lang="it-IT" dirty="0" err="1"/>
              <a:t>splits</a:t>
            </a:r>
            <a:r>
              <a:rPr lang="it-IT" dirty="0"/>
              <a:t> the dataset </a:t>
            </a:r>
            <a:r>
              <a:rPr lang="it-IT" dirty="0" err="1"/>
              <a:t>into</a:t>
            </a:r>
            <a:r>
              <a:rPr lang="it-IT" dirty="0"/>
              <a:t> </a:t>
            </a:r>
            <a:r>
              <a:rPr lang="it-IT" dirty="0" err="1"/>
              <a:t>smaller</a:t>
            </a:r>
            <a:r>
              <a:rPr lang="it-IT" dirty="0"/>
              <a:t> and more </a:t>
            </a:r>
            <a:r>
              <a:rPr lang="it-IT" dirty="0" err="1"/>
              <a:t>homogeneous</a:t>
            </a:r>
            <a:r>
              <a:rPr lang="it-IT" dirty="0"/>
              <a:t> groups </a:t>
            </a:r>
            <a:r>
              <a:rPr lang="it-IT" dirty="0" err="1"/>
              <a:t>using</a:t>
            </a:r>
            <a:r>
              <a:rPr lang="it-IT" dirty="0"/>
              <a:t> </a:t>
            </a:r>
            <a:r>
              <a:rPr lang="it-IT" dirty="0" err="1"/>
              <a:t>sequential</a:t>
            </a:r>
            <a:r>
              <a:rPr lang="it-IT" dirty="0"/>
              <a:t> rules on </a:t>
            </a:r>
            <a:r>
              <a:rPr lang="it-IT" dirty="0" err="1"/>
              <a:t>predictor</a:t>
            </a:r>
            <a:r>
              <a:rPr lang="it-IT" dirty="0"/>
              <a:t> </a:t>
            </a:r>
            <a:r>
              <a:rPr lang="it-IT" dirty="0" err="1"/>
              <a:t>variables</a:t>
            </a:r>
            <a:r>
              <a:rPr lang="it-IT" dirty="0"/>
              <a:t>."*</a:t>
            </a:r>
          </a:p>
          <a:p>
            <a:endParaRPr lang="it-IT" dirty="0"/>
          </a:p>
          <a:p>
            <a:r>
              <a:rPr lang="it-IT" dirty="0"/>
              <a:t>**How </a:t>
            </a:r>
            <a:r>
              <a:rPr lang="it-IT" dirty="0" err="1"/>
              <a:t>it</a:t>
            </a:r>
            <a:r>
              <a:rPr lang="it-IT" dirty="0"/>
              <a:t> works:**</a:t>
            </a:r>
          </a:p>
          <a:p>
            <a:r>
              <a:rPr lang="it-IT" dirty="0"/>
              <a:t>1. Start from </a:t>
            </a:r>
            <a:r>
              <a:rPr lang="it-IT" dirty="0" err="1"/>
              <a:t>all</a:t>
            </a:r>
            <a:r>
              <a:rPr lang="it-IT" dirty="0"/>
              <a:t> </a:t>
            </a:r>
            <a:r>
              <a:rPr lang="it-IT" dirty="0" err="1"/>
              <a:t>observations</a:t>
            </a:r>
            <a:endParaRPr lang="it-IT" dirty="0"/>
          </a:p>
          <a:p>
            <a:r>
              <a:rPr lang="it-IT" dirty="0"/>
              <a:t>2. Select the </a:t>
            </a:r>
            <a:r>
              <a:rPr lang="it-IT" dirty="0" err="1"/>
              <a:t>variable</a:t>
            </a:r>
            <a:r>
              <a:rPr lang="it-IT" dirty="0"/>
              <a:t> </a:t>
            </a:r>
            <a:r>
              <a:rPr lang="it-IT" dirty="0" err="1"/>
              <a:t>that</a:t>
            </a:r>
            <a:r>
              <a:rPr lang="it-IT" dirty="0"/>
              <a:t> best </a:t>
            </a:r>
            <a:r>
              <a:rPr lang="it-IT" dirty="0" err="1"/>
              <a:t>separates</a:t>
            </a:r>
            <a:r>
              <a:rPr lang="it-IT" dirty="0"/>
              <a:t> classes</a:t>
            </a:r>
          </a:p>
          <a:p>
            <a:r>
              <a:rPr lang="it-IT" dirty="0"/>
              <a:t>3. Split the data </a:t>
            </a:r>
            <a:r>
              <a:rPr lang="it-IT" dirty="0" err="1"/>
              <a:t>into</a:t>
            </a:r>
            <a:r>
              <a:rPr lang="it-IT" dirty="0"/>
              <a:t> </a:t>
            </a:r>
            <a:r>
              <a:rPr lang="it-IT" dirty="0" err="1"/>
              <a:t>branches</a:t>
            </a:r>
            <a:endParaRPr lang="it-IT" dirty="0"/>
          </a:p>
          <a:p>
            <a:r>
              <a:rPr lang="it-IT" dirty="0"/>
              <a:t>4. </a:t>
            </a:r>
            <a:r>
              <a:rPr lang="it-IT" dirty="0" err="1"/>
              <a:t>Repeat</a:t>
            </a:r>
            <a:r>
              <a:rPr lang="it-IT" dirty="0"/>
              <a:t> </a:t>
            </a:r>
            <a:r>
              <a:rPr lang="it-IT" dirty="0" err="1"/>
              <a:t>recursively</a:t>
            </a:r>
            <a:r>
              <a:rPr lang="it-IT" dirty="0"/>
              <a:t> </a:t>
            </a:r>
            <a:r>
              <a:rPr lang="it-IT" dirty="0" err="1"/>
              <a:t>until</a:t>
            </a:r>
            <a:r>
              <a:rPr lang="it-IT" dirty="0"/>
              <a:t> terminal </a:t>
            </a:r>
            <a:r>
              <a:rPr lang="it-IT" dirty="0" err="1"/>
              <a:t>nodes</a:t>
            </a:r>
            <a:endParaRPr lang="it-IT" dirty="0"/>
          </a:p>
          <a:p>
            <a:endParaRPr lang="it-IT" dirty="0"/>
          </a:p>
          <a:p>
            <a:r>
              <a:rPr lang="it-IT" dirty="0"/>
              <a:t>**</a:t>
            </a:r>
            <a:r>
              <a:rPr lang="it-IT" dirty="0" err="1"/>
              <a:t>Advantages</a:t>
            </a:r>
            <a:r>
              <a:rPr lang="it-IT" dirty="0"/>
              <a:t>:** Simple and </a:t>
            </a:r>
            <a:r>
              <a:rPr lang="it-IT" dirty="0" err="1"/>
              <a:t>interpretable</a:t>
            </a:r>
            <a:r>
              <a:rPr lang="it-IT" dirty="0"/>
              <a:t>; handles </a:t>
            </a:r>
            <a:r>
              <a:rPr lang="it-IT" dirty="0" err="1"/>
              <a:t>numerical</a:t>
            </a:r>
            <a:r>
              <a:rPr lang="it-IT" dirty="0"/>
              <a:t> and </a:t>
            </a:r>
            <a:r>
              <a:rPr lang="it-IT" dirty="0" err="1"/>
              <a:t>categorical</a:t>
            </a:r>
            <a:r>
              <a:rPr lang="it-IT" dirty="0"/>
              <a:t> </a:t>
            </a:r>
            <a:r>
              <a:rPr lang="it-IT" dirty="0" err="1"/>
              <a:t>variables</a:t>
            </a:r>
            <a:r>
              <a:rPr lang="it-IT" dirty="0"/>
              <a:t>; </a:t>
            </a:r>
            <a:r>
              <a:rPr lang="it-IT" dirty="0" err="1"/>
              <a:t>captures</a:t>
            </a:r>
            <a:r>
              <a:rPr lang="it-IT" dirty="0"/>
              <a:t> non-linear </a:t>
            </a:r>
            <a:r>
              <a:rPr lang="it-IT" dirty="0" err="1"/>
              <a:t>relationships</a:t>
            </a:r>
            <a:r>
              <a:rPr lang="it-IT" dirty="0"/>
              <a:t>.  </a:t>
            </a:r>
          </a:p>
          <a:p>
            <a:r>
              <a:rPr lang="it-IT" dirty="0"/>
              <a:t>**</a:t>
            </a:r>
            <a:r>
              <a:rPr lang="it-IT" dirty="0" err="1"/>
              <a:t>Main</a:t>
            </a:r>
            <a:r>
              <a:rPr lang="it-IT" dirty="0"/>
              <a:t> </a:t>
            </a:r>
            <a:r>
              <a:rPr lang="it-IT" dirty="0" err="1"/>
              <a:t>limitation</a:t>
            </a:r>
            <a:r>
              <a:rPr lang="it-IT" dirty="0"/>
              <a:t>:** Single </a:t>
            </a:r>
            <a:r>
              <a:rPr lang="it-IT" dirty="0" err="1"/>
              <a:t>trees</a:t>
            </a:r>
            <a:r>
              <a:rPr lang="it-IT" dirty="0"/>
              <a:t> are </a:t>
            </a:r>
            <a:r>
              <a:rPr lang="it-IT" dirty="0" err="1"/>
              <a:t>unstable</a:t>
            </a:r>
            <a:r>
              <a:rPr lang="it-IT" dirty="0"/>
              <a:t> and prone to </a:t>
            </a:r>
            <a:r>
              <a:rPr lang="it-IT" dirty="0" err="1"/>
              <a:t>overfitting</a:t>
            </a:r>
            <a:r>
              <a:rPr lang="it-IT" dirty="0"/>
              <a:t>.</a:t>
            </a:r>
          </a:p>
          <a:p>
            <a:endParaRPr lang="it-IT" dirty="0"/>
          </a:p>
          <a:p>
            <a:r>
              <a:rPr lang="it-IT" dirty="0" err="1"/>
              <a:t>Draw</a:t>
            </a:r>
            <a:r>
              <a:rPr lang="it-IT" dirty="0"/>
              <a:t> or </a:t>
            </a:r>
            <a:r>
              <a:rPr lang="it-IT" dirty="0" err="1"/>
              <a:t>describe</a:t>
            </a:r>
            <a:r>
              <a:rPr lang="it-IT" dirty="0"/>
              <a:t> a </a:t>
            </a:r>
            <a:r>
              <a:rPr lang="it-IT" dirty="0" err="1"/>
              <a:t>simple</a:t>
            </a:r>
            <a:r>
              <a:rPr lang="it-IT" dirty="0"/>
              <a:t> </a:t>
            </a:r>
            <a:r>
              <a:rPr lang="it-IT" dirty="0" err="1"/>
              <a:t>tree</a:t>
            </a:r>
            <a:r>
              <a:rPr lang="it-IT" dirty="0"/>
              <a:t> — e.g., "</a:t>
            </a:r>
            <a:r>
              <a:rPr lang="it-IT" dirty="0" err="1"/>
              <a:t>If</a:t>
            </a:r>
            <a:r>
              <a:rPr lang="it-IT" dirty="0"/>
              <a:t> </a:t>
            </a:r>
            <a:r>
              <a:rPr lang="it-IT" dirty="0" err="1"/>
              <a:t>slope</a:t>
            </a:r>
            <a:r>
              <a:rPr lang="it-IT" dirty="0"/>
              <a:t> &gt; 20° AND </a:t>
            </a:r>
            <a:r>
              <a:rPr lang="it-IT" dirty="0" err="1"/>
              <a:t>vegetation</a:t>
            </a:r>
            <a:r>
              <a:rPr lang="it-IT" dirty="0"/>
              <a:t> = scrub → high </a:t>
            </a:r>
            <a:r>
              <a:rPr lang="it-IT" dirty="0" err="1"/>
              <a:t>fire</a:t>
            </a:r>
            <a:r>
              <a:rPr lang="it-IT" dirty="0"/>
              <a:t> risk." </a:t>
            </a:r>
            <a:r>
              <a:rPr lang="it-IT" dirty="0" err="1"/>
              <a:t>Decision</a:t>
            </a:r>
            <a:r>
              <a:rPr lang="it-IT" dirty="0"/>
              <a:t> </a:t>
            </a:r>
            <a:r>
              <a:rPr lang="it-IT" dirty="0" err="1"/>
              <a:t>trees</a:t>
            </a:r>
            <a:r>
              <a:rPr lang="it-IT" dirty="0"/>
              <a:t> are easy to </a:t>
            </a:r>
            <a:r>
              <a:rPr lang="it-IT" dirty="0" err="1"/>
              <a:t>visualize</a:t>
            </a:r>
            <a:r>
              <a:rPr lang="it-IT" dirty="0"/>
              <a:t> and </a:t>
            </a:r>
            <a:r>
              <a:rPr lang="it-IT" dirty="0" err="1"/>
              <a:t>explain</a:t>
            </a:r>
            <a:r>
              <a:rPr lang="it-IT" dirty="0"/>
              <a:t> to stakeholders.</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20</a:t>
            </a:fld>
            <a:endParaRPr lang="it-IT"/>
          </a:p>
        </p:txBody>
      </p:sp>
    </p:spTree>
    <p:extLst>
      <p:ext uri="{BB962C8B-B14F-4D97-AF65-F5344CB8AC3E}">
        <p14:creationId xmlns:p14="http://schemas.microsoft.com/office/powerpoint/2010/main" val="32026979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*"Random </a:t>
            </a:r>
            <a:r>
              <a:rPr lang="it-IT" dirty="0" err="1"/>
              <a:t>Forest</a:t>
            </a:r>
            <a:r>
              <a:rPr lang="it-IT" dirty="0"/>
              <a:t> </a:t>
            </a:r>
            <a:r>
              <a:rPr lang="it-IT" dirty="0" err="1"/>
              <a:t>is</a:t>
            </a:r>
            <a:r>
              <a:rPr lang="it-IT" dirty="0"/>
              <a:t> an ensemble-learning </a:t>
            </a:r>
            <a:r>
              <a:rPr lang="it-IT" dirty="0" err="1"/>
              <a:t>algorithm</a:t>
            </a:r>
            <a:r>
              <a:rPr lang="it-IT" dirty="0"/>
              <a:t> </a:t>
            </a:r>
            <a:r>
              <a:rPr lang="it-IT" dirty="0" err="1"/>
              <a:t>that</a:t>
            </a:r>
            <a:r>
              <a:rPr lang="it-IT" dirty="0"/>
              <a:t> combines </a:t>
            </a:r>
            <a:r>
              <a:rPr lang="it-IT" dirty="0" err="1"/>
              <a:t>predictions</a:t>
            </a:r>
            <a:r>
              <a:rPr lang="it-IT" dirty="0"/>
              <a:t> from </a:t>
            </a:r>
            <a:r>
              <a:rPr lang="it-IT" dirty="0" err="1"/>
              <a:t>many</a:t>
            </a:r>
            <a:r>
              <a:rPr lang="it-IT" dirty="0"/>
              <a:t> </a:t>
            </a:r>
            <a:r>
              <a:rPr lang="it-IT" dirty="0" err="1"/>
              <a:t>independent</a:t>
            </a:r>
            <a:r>
              <a:rPr lang="it-IT" dirty="0"/>
              <a:t> </a:t>
            </a:r>
            <a:r>
              <a:rPr lang="it-IT" dirty="0" err="1"/>
              <a:t>decision</a:t>
            </a:r>
            <a:r>
              <a:rPr lang="it-IT" dirty="0"/>
              <a:t> </a:t>
            </a:r>
            <a:r>
              <a:rPr lang="it-IT" dirty="0" err="1"/>
              <a:t>trees</a:t>
            </a:r>
            <a:r>
              <a:rPr lang="it-IT" dirty="0"/>
              <a:t>."*</a:t>
            </a:r>
          </a:p>
          <a:p>
            <a:endParaRPr lang="it-IT" dirty="0"/>
          </a:p>
          <a:p>
            <a:r>
              <a:rPr lang="it-IT" dirty="0"/>
              <a:t>**How </a:t>
            </a:r>
            <a:r>
              <a:rPr lang="it-IT" dirty="0" err="1"/>
              <a:t>it</a:t>
            </a:r>
            <a:r>
              <a:rPr lang="it-IT" dirty="0"/>
              <a:t> </a:t>
            </a:r>
            <a:r>
              <a:rPr lang="it-IT" dirty="0" err="1"/>
              <a:t>improves</a:t>
            </a:r>
            <a:r>
              <a:rPr lang="it-IT" dirty="0"/>
              <a:t> on </a:t>
            </a:r>
            <a:r>
              <a:rPr lang="it-IT" dirty="0" err="1"/>
              <a:t>Decision</a:t>
            </a:r>
            <a:r>
              <a:rPr lang="it-IT" dirty="0"/>
              <a:t> </a:t>
            </a:r>
            <a:r>
              <a:rPr lang="it-IT" dirty="0" err="1"/>
              <a:t>Trees</a:t>
            </a:r>
            <a:r>
              <a:rPr lang="it-IT" dirty="0"/>
              <a:t>:**</a:t>
            </a:r>
          </a:p>
          <a:p>
            <a:r>
              <a:rPr lang="it-IT" dirty="0"/>
              <a:t>- </a:t>
            </a:r>
            <a:r>
              <a:rPr lang="it-IT" dirty="0" err="1"/>
              <a:t>Each</a:t>
            </a:r>
            <a:r>
              <a:rPr lang="it-IT" dirty="0"/>
              <a:t> </a:t>
            </a:r>
            <a:r>
              <a:rPr lang="it-IT" dirty="0" err="1"/>
              <a:t>tree</a:t>
            </a:r>
            <a:r>
              <a:rPr lang="it-IT" dirty="0"/>
              <a:t> </a:t>
            </a:r>
            <a:r>
              <a:rPr lang="it-IT" dirty="0" err="1"/>
              <a:t>is</a:t>
            </a:r>
            <a:r>
              <a:rPr lang="it-IT" dirty="0"/>
              <a:t> </a:t>
            </a:r>
            <a:r>
              <a:rPr lang="it-IT" dirty="0" err="1"/>
              <a:t>trained</a:t>
            </a:r>
            <a:r>
              <a:rPr lang="it-IT" dirty="0"/>
              <a:t> on a **random subset of </a:t>
            </a:r>
            <a:r>
              <a:rPr lang="it-IT" dirty="0" err="1"/>
              <a:t>observations</a:t>
            </a:r>
            <a:r>
              <a:rPr lang="it-IT" dirty="0"/>
              <a:t>** (</a:t>
            </a:r>
            <a:r>
              <a:rPr lang="it-IT" dirty="0" err="1"/>
              <a:t>bagging</a:t>
            </a:r>
            <a:r>
              <a:rPr lang="it-IT" dirty="0"/>
              <a:t>)</a:t>
            </a:r>
          </a:p>
          <a:p>
            <a:r>
              <a:rPr lang="it-IT" dirty="0"/>
              <a:t>- </a:t>
            </a:r>
            <a:r>
              <a:rPr lang="it-IT" dirty="0" err="1"/>
              <a:t>Each</a:t>
            </a:r>
            <a:r>
              <a:rPr lang="it-IT" dirty="0"/>
              <a:t> </a:t>
            </a:r>
            <a:r>
              <a:rPr lang="it-IT" dirty="0" err="1"/>
              <a:t>tree</a:t>
            </a:r>
            <a:r>
              <a:rPr lang="it-IT" dirty="0"/>
              <a:t> </a:t>
            </a:r>
            <a:r>
              <a:rPr lang="it-IT" dirty="0" err="1"/>
              <a:t>uses</a:t>
            </a:r>
            <a:r>
              <a:rPr lang="it-IT" dirty="0"/>
              <a:t> a **random subset of </a:t>
            </a:r>
            <a:r>
              <a:rPr lang="it-IT" dirty="0" err="1"/>
              <a:t>predictor</a:t>
            </a:r>
            <a:r>
              <a:rPr lang="it-IT" dirty="0"/>
              <a:t> </a:t>
            </a:r>
            <a:r>
              <a:rPr lang="it-IT" dirty="0" err="1"/>
              <a:t>variables</a:t>
            </a:r>
            <a:r>
              <a:rPr lang="it-IT" dirty="0"/>
              <a:t>** (feature </a:t>
            </a:r>
            <a:r>
              <a:rPr lang="it-IT" dirty="0" err="1"/>
              <a:t>randomization</a:t>
            </a:r>
            <a:r>
              <a:rPr lang="it-IT" dirty="0"/>
              <a:t>)</a:t>
            </a:r>
          </a:p>
          <a:p>
            <a:r>
              <a:rPr lang="it-IT" dirty="0"/>
              <a:t>- </a:t>
            </a:r>
            <a:r>
              <a:rPr lang="it-IT" dirty="0" err="1"/>
              <a:t>This</a:t>
            </a:r>
            <a:r>
              <a:rPr lang="it-IT" dirty="0"/>
              <a:t> </a:t>
            </a:r>
            <a:r>
              <a:rPr lang="it-IT" dirty="0" err="1"/>
              <a:t>increases</a:t>
            </a:r>
            <a:r>
              <a:rPr lang="it-IT" dirty="0"/>
              <a:t> model </a:t>
            </a:r>
            <a:r>
              <a:rPr lang="it-IT" dirty="0" err="1"/>
              <a:t>diversity</a:t>
            </a:r>
            <a:r>
              <a:rPr lang="it-IT" dirty="0"/>
              <a:t> and </a:t>
            </a:r>
            <a:r>
              <a:rPr lang="it-IT" dirty="0" err="1"/>
              <a:t>reduces</a:t>
            </a:r>
            <a:r>
              <a:rPr lang="it-IT" dirty="0"/>
              <a:t> </a:t>
            </a:r>
            <a:r>
              <a:rPr lang="it-IT" dirty="0" err="1"/>
              <a:t>overfitting</a:t>
            </a:r>
            <a:endParaRPr lang="it-IT" dirty="0"/>
          </a:p>
          <a:p>
            <a:endParaRPr lang="it-IT" dirty="0"/>
          </a:p>
          <a:p>
            <a:r>
              <a:rPr lang="it-IT" dirty="0"/>
              <a:t>**</a:t>
            </a:r>
            <a:r>
              <a:rPr lang="it-IT" dirty="0" err="1"/>
              <a:t>Final</a:t>
            </a:r>
            <a:r>
              <a:rPr lang="it-IT" dirty="0"/>
              <a:t> </a:t>
            </a:r>
            <a:r>
              <a:rPr lang="it-IT" dirty="0" err="1"/>
              <a:t>prediction</a:t>
            </a:r>
            <a:r>
              <a:rPr lang="it-IT" dirty="0"/>
              <a:t>:**</a:t>
            </a:r>
          </a:p>
          <a:p>
            <a:r>
              <a:rPr lang="it-IT" dirty="0"/>
              <a:t>- </a:t>
            </a:r>
            <a:r>
              <a:rPr lang="it-IT" dirty="0" err="1"/>
              <a:t>Classification</a:t>
            </a:r>
            <a:r>
              <a:rPr lang="it-IT" dirty="0"/>
              <a:t> → </a:t>
            </a:r>
            <a:r>
              <a:rPr lang="it-IT" dirty="0" err="1"/>
              <a:t>majority</a:t>
            </a:r>
            <a:r>
              <a:rPr lang="it-IT" dirty="0"/>
              <a:t> vote</a:t>
            </a:r>
          </a:p>
          <a:p>
            <a:r>
              <a:rPr lang="it-IT" dirty="0"/>
              <a:t>- </a:t>
            </a:r>
            <a:r>
              <a:rPr lang="it-IT" dirty="0" err="1"/>
              <a:t>Probability</a:t>
            </a:r>
            <a:r>
              <a:rPr lang="it-IT" dirty="0"/>
              <a:t> → </a:t>
            </a:r>
            <a:r>
              <a:rPr lang="it-IT" dirty="0" err="1"/>
              <a:t>average</a:t>
            </a:r>
            <a:r>
              <a:rPr lang="it-IT" dirty="0"/>
              <a:t> </a:t>
            </a:r>
            <a:r>
              <a:rPr lang="it-IT" dirty="0" err="1"/>
              <a:t>probability</a:t>
            </a:r>
            <a:r>
              <a:rPr lang="it-IT" dirty="0"/>
              <a:t> </a:t>
            </a:r>
            <a:r>
              <a:rPr lang="it-IT" dirty="0" err="1"/>
              <a:t>across</a:t>
            </a:r>
            <a:r>
              <a:rPr lang="it-IT" dirty="0"/>
              <a:t> </a:t>
            </a:r>
            <a:r>
              <a:rPr lang="it-IT" dirty="0" err="1"/>
              <a:t>trees</a:t>
            </a:r>
            <a:endParaRPr lang="it-IT" dirty="0"/>
          </a:p>
          <a:p>
            <a:endParaRPr lang="it-IT" dirty="0"/>
          </a:p>
          <a:p>
            <a:r>
              <a:rPr lang="it-IT" dirty="0"/>
              <a:t>&gt; *"Random </a:t>
            </a:r>
            <a:r>
              <a:rPr lang="it-IT" dirty="0" err="1"/>
              <a:t>Forest</a:t>
            </a:r>
            <a:r>
              <a:rPr lang="it-IT" dirty="0"/>
              <a:t> trades some </a:t>
            </a:r>
            <a:r>
              <a:rPr lang="it-IT" dirty="0" err="1"/>
              <a:t>interpretability</a:t>
            </a:r>
            <a:r>
              <a:rPr lang="it-IT" dirty="0"/>
              <a:t> for </a:t>
            </a:r>
            <a:r>
              <a:rPr lang="it-IT" dirty="0" err="1"/>
              <a:t>better</a:t>
            </a:r>
            <a:r>
              <a:rPr lang="it-IT" dirty="0"/>
              <a:t> </a:t>
            </a:r>
            <a:r>
              <a:rPr lang="it-IT" dirty="0" err="1"/>
              <a:t>generalization</a:t>
            </a:r>
            <a:r>
              <a:rPr lang="it-IT" dirty="0"/>
              <a:t> and </a:t>
            </a:r>
            <a:r>
              <a:rPr lang="it-IT" dirty="0" err="1"/>
              <a:t>predictive</a:t>
            </a:r>
            <a:r>
              <a:rPr lang="it-IT" dirty="0"/>
              <a:t> </a:t>
            </a:r>
            <a:r>
              <a:rPr lang="it-IT" dirty="0" err="1"/>
              <a:t>robustness</a:t>
            </a:r>
            <a:r>
              <a:rPr lang="it-IT" dirty="0"/>
              <a:t>."*</a:t>
            </a:r>
          </a:p>
          <a:p>
            <a:endParaRPr lang="it-IT" dirty="0"/>
          </a:p>
          <a:p>
            <a:r>
              <a:rPr lang="it-IT" dirty="0" err="1"/>
              <a:t>This</a:t>
            </a:r>
            <a:r>
              <a:rPr lang="it-IT" dirty="0"/>
              <a:t> </a:t>
            </a:r>
            <a:r>
              <a:rPr lang="it-IT" dirty="0" err="1"/>
              <a:t>is</a:t>
            </a:r>
            <a:r>
              <a:rPr lang="it-IT" dirty="0"/>
              <a:t> the core </a:t>
            </a:r>
            <a:r>
              <a:rPr lang="it-IT" dirty="0" err="1"/>
              <a:t>algorithm</a:t>
            </a:r>
            <a:r>
              <a:rPr lang="it-IT" dirty="0"/>
              <a:t> for the </a:t>
            </a:r>
            <a:r>
              <a:rPr lang="it-IT" dirty="0" err="1"/>
              <a:t>wildfire</a:t>
            </a:r>
            <a:r>
              <a:rPr lang="it-IT" dirty="0"/>
              <a:t> case study. Stress </a:t>
            </a:r>
            <a:r>
              <a:rPr lang="it-IT" dirty="0" err="1"/>
              <a:t>that</a:t>
            </a:r>
            <a:r>
              <a:rPr lang="it-IT" dirty="0"/>
              <a:t> the "</a:t>
            </a:r>
            <a:r>
              <a:rPr lang="it-IT" dirty="0" err="1"/>
              <a:t>randomness</a:t>
            </a:r>
            <a:r>
              <a:rPr lang="it-IT" dirty="0"/>
              <a:t>" </a:t>
            </a:r>
            <a:r>
              <a:rPr lang="it-IT" dirty="0" err="1"/>
              <a:t>is</a:t>
            </a:r>
            <a:r>
              <a:rPr lang="it-IT" dirty="0"/>
              <a:t> a feature, </a:t>
            </a:r>
            <a:r>
              <a:rPr lang="it-IT" dirty="0" err="1"/>
              <a:t>not</a:t>
            </a:r>
            <a:r>
              <a:rPr lang="it-IT" dirty="0"/>
              <a:t> a bug — </a:t>
            </a:r>
            <a:r>
              <a:rPr lang="it-IT" dirty="0" err="1"/>
              <a:t>it</a:t>
            </a:r>
            <a:r>
              <a:rPr lang="it-IT" dirty="0"/>
              <a:t> </a:t>
            </a:r>
            <a:r>
              <a:rPr lang="it-IT" dirty="0" err="1"/>
              <a:t>prevents</a:t>
            </a:r>
            <a:r>
              <a:rPr lang="it-IT" dirty="0"/>
              <a:t> </a:t>
            </a:r>
            <a:r>
              <a:rPr lang="it-IT" dirty="0" err="1"/>
              <a:t>trees</a:t>
            </a:r>
            <a:r>
              <a:rPr lang="it-IT" dirty="0"/>
              <a:t> from </a:t>
            </a:r>
            <a:r>
              <a:rPr lang="it-IT" dirty="0" err="1"/>
              <a:t>correlating</a:t>
            </a:r>
            <a:r>
              <a:rPr lang="it-IT" dirty="0"/>
              <a:t> with </a:t>
            </a:r>
            <a:r>
              <a:rPr lang="it-IT" dirty="0" err="1"/>
              <a:t>each</a:t>
            </a:r>
            <a:r>
              <a:rPr lang="it-IT" dirty="0"/>
              <a:t> </a:t>
            </a:r>
            <a:r>
              <a:rPr lang="it-IT" dirty="0" err="1"/>
              <a:t>other</a:t>
            </a:r>
            <a:r>
              <a:rPr lang="it-IT" dirty="0"/>
              <a:t> and </a:t>
            </a:r>
            <a:r>
              <a:rPr lang="it-IT" dirty="0" err="1"/>
              <a:t>reduces</a:t>
            </a:r>
            <a:r>
              <a:rPr lang="it-IT" dirty="0"/>
              <a:t> </a:t>
            </a:r>
            <a:r>
              <a:rPr lang="it-IT" dirty="0" err="1"/>
              <a:t>variance</a:t>
            </a:r>
            <a:r>
              <a:rPr lang="it-IT" dirty="0"/>
              <a:t>.</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21</a:t>
            </a:fld>
            <a:endParaRPr lang="it-IT"/>
          </a:p>
        </p:txBody>
      </p:sp>
    </p:spTree>
    <p:extLst>
      <p:ext uri="{BB962C8B-B14F-4D97-AF65-F5344CB8AC3E}">
        <p14:creationId xmlns:p14="http://schemas.microsoft.com/office/powerpoint/2010/main" val="894077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*"Simple models </a:t>
            </a:r>
            <a:r>
              <a:rPr lang="it-IT" dirty="0" err="1"/>
              <a:t>allow</a:t>
            </a:r>
            <a:r>
              <a:rPr lang="it-IT" dirty="0"/>
              <a:t> </a:t>
            </a:r>
            <a:r>
              <a:rPr lang="it-IT" dirty="0" err="1"/>
              <a:t>understanding</a:t>
            </a:r>
            <a:r>
              <a:rPr lang="it-IT" dirty="0"/>
              <a:t> </a:t>
            </a:r>
            <a:r>
              <a:rPr lang="it-IT" dirty="0" err="1"/>
              <a:t>how</a:t>
            </a:r>
            <a:r>
              <a:rPr lang="it-IT" dirty="0"/>
              <a:t> </a:t>
            </a:r>
            <a:r>
              <a:rPr lang="it-IT" dirty="0" err="1"/>
              <a:t>predictions</a:t>
            </a:r>
            <a:r>
              <a:rPr lang="it-IT" dirty="0"/>
              <a:t> are made, </a:t>
            </a:r>
            <a:r>
              <a:rPr lang="it-IT" dirty="0" err="1"/>
              <a:t>without</a:t>
            </a:r>
            <a:r>
              <a:rPr lang="it-IT" dirty="0"/>
              <a:t> extra tools."*</a:t>
            </a:r>
          </a:p>
          <a:p>
            <a:r>
              <a:rPr lang="it-IT" dirty="0"/>
              <a:t>&gt; *"</a:t>
            </a:r>
            <a:r>
              <a:rPr lang="it-IT" dirty="0" err="1"/>
              <a:t>Complex</a:t>
            </a:r>
            <a:r>
              <a:rPr lang="it-IT" dirty="0"/>
              <a:t> models </a:t>
            </a:r>
            <a:r>
              <a:rPr lang="it-IT" dirty="0" err="1"/>
              <a:t>often</a:t>
            </a:r>
            <a:r>
              <a:rPr lang="it-IT" dirty="0"/>
              <a:t> work like 'black boxes'. </a:t>
            </a:r>
            <a:r>
              <a:rPr lang="it-IT" dirty="0" err="1"/>
              <a:t>Additional</a:t>
            </a:r>
            <a:r>
              <a:rPr lang="it-IT" dirty="0"/>
              <a:t> </a:t>
            </a:r>
            <a:r>
              <a:rPr lang="it-IT" dirty="0" err="1"/>
              <a:t>methods</a:t>
            </a:r>
            <a:r>
              <a:rPr lang="it-IT" dirty="0"/>
              <a:t> are </a:t>
            </a:r>
            <a:r>
              <a:rPr lang="it-IT" dirty="0" err="1"/>
              <a:t>needed</a:t>
            </a:r>
            <a:r>
              <a:rPr lang="it-IT" dirty="0"/>
              <a:t> to </a:t>
            </a:r>
            <a:r>
              <a:rPr lang="it-IT" dirty="0" err="1"/>
              <a:t>understand</a:t>
            </a:r>
            <a:r>
              <a:rPr lang="it-IT" dirty="0"/>
              <a:t> </a:t>
            </a:r>
            <a:r>
              <a:rPr lang="it-IT" dirty="0" err="1"/>
              <a:t>how</a:t>
            </a:r>
            <a:r>
              <a:rPr lang="it-IT" dirty="0"/>
              <a:t> </a:t>
            </a:r>
            <a:r>
              <a:rPr lang="it-IT" dirty="0" err="1"/>
              <a:t>they</a:t>
            </a:r>
            <a:r>
              <a:rPr lang="it-IT" dirty="0"/>
              <a:t> make </a:t>
            </a:r>
            <a:r>
              <a:rPr lang="it-IT" dirty="0" err="1"/>
              <a:t>predictions</a:t>
            </a:r>
            <a:r>
              <a:rPr lang="it-IT" dirty="0"/>
              <a:t>."*</a:t>
            </a:r>
          </a:p>
          <a:p>
            <a:r>
              <a:rPr lang="it-IT" dirty="0"/>
              <a:t>&gt; *"</a:t>
            </a:r>
            <a:r>
              <a:rPr lang="it-IT" dirty="0" err="1"/>
              <a:t>Explainability</a:t>
            </a:r>
            <a:r>
              <a:rPr lang="it-IT" dirty="0"/>
              <a:t> </a:t>
            </a:r>
            <a:r>
              <a:rPr lang="it-IT" dirty="0" err="1"/>
              <a:t>focuses</a:t>
            </a:r>
            <a:r>
              <a:rPr lang="it-IT" dirty="0"/>
              <a:t> on </a:t>
            </a:r>
            <a:r>
              <a:rPr lang="it-IT" dirty="0" err="1"/>
              <a:t>understanding</a:t>
            </a:r>
            <a:r>
              <a:rPr lang="it-IT" dirty="0"/>
              <a:t> </a:t>
            </a:r>
            <a:r>
              <a:rPr lang="it-IT" dirty="0" err="1"/>
              <a:t>what</a:t>
            </a:r>
            <a:r>
              <a:rPr lang="it-IT" dirty="0"/>
              <a:t> </a:t>
            </a:r>
            <a:r>
              <a:rPr lang="it-IT" dirty="0" err="1"/>
              <a:t>happens</a:t>
            </a:r>
            <a:r>
              <a:rPr lang="it-IT" dirty="0"/>
              <a:t> inside a model, from input to output."*</a:t>
            </a:r>
          </a:p>
          <a:p>
            <a:endParaRPr lang="it-IT" dirty="0"/>
          </a:p>
          <a:p>
            <a:r>
              <a:rPr lang="it-IT" dirty="0"/>
              <a:t>Reference image: </a:t>
            </a:r>
            <a:r>
              <a:rPr lang="it-IT" dirty="0" err="1"/>
              <a:t>interpretability</a:t>
            </a:r>
            <a:r>
              <a:rPr lang="it-IT" dirty="0"/>
              <a:t> </a:t>
            </a:r>
            <a:r>
              <a:rPr lang="it-IT" dirty="0" err="1"/>
              <a:t>spectrum</a:t>
            </a:r>
            <a:r>
              <a:rPr lang="it-IT" dirty="0"/>
              <a:t> from linear </a:t>
            </a:r>
            <a:r>
              <a:rPr lang="it-IT" dirty="0" err="1"/>
              <a:t>regression</a:t>
            </a:r>
            <a:r>
              <a:rPr lang="it-IT" dirty="0"/>
              <a:t> to deep </a:t>
            </a:r>
            <a:r>
              <a:rPr lang="it-IT" dirty="0" err="1"/>
              <a:t>neural</a:t>
            </a:r>
            <a:r>
              <a:rPr lang="it-IT" dirty="0"/>
              <a:t> networks.</a:t>
            </a:r>
          </a:p>
          <a:p>
            <a:endParaRPr lang="it-IT" dirty="0"/>
          </a:p>
          <a:p>
            <a:r>
              <a:rPr lang="it-IT" dirty="0"/>
              <a:t>For </a:t>
            </a:r>
            <a:r>
              <a:rPr lang="it-IT" dirty="0" err="1"/>
              <a:t>environmental</a:t>
            </a:r>
            <a:r>
              <a:rPr lang="it-IT" dirty="0"/>
              <a:t> decision-making, </a:t>
            </a:r>
            <a:r>
              <a:rPr lang="it-IT" dirty="0" err="1"/>
              <a:t>interpretability</a:t>
            </a:r>
            <a:r>
              <a:rPr lang="it-IT" dirty="0"/>
              <a:t> </a:t>
            </a:r>
            <a:r>
              <a:rPr lang="it-IT" dirty="0" err="1"/>
              <a:t>matters</a:t>
            </a:r>
            <a:r>
              <a:rPr lang="it-IT" dirty="0"/>
              <a:t> — stakeholders (</a:t>
            </a:r>
            <a:r>
              <a:rPr lang="it-IT" dirty="0" err="1"/>
              <a:t>fire</a:t>
            </a:r>
            <a:r>
              <a:rPr lang="it-IT" dirty="0"/>
              <a:t> managers, policymakers) </a:t>
            </a:r>
            <a:r>
              <a:rPr lang="it-IT" dirty="0" err="1"/>
              <a:t>need</a:t>
            </a:r>
            <a:r>
              <a:rPr lang="it-IT" dirty="0"/>
              <a:t> to trust and </a:t>
            </a:r>
            <a:r>
              <a:rPr lang="it-IT" dirty="0" err="1"/>
              <a:t>understand</a:t>
            </a:r>
            <a:r>
              <a:rPr lang="it-IT" dirty="0"/>
              <a:t> the model. Methods like feature </a:t>
            </a:r>
            <a:r>
              <a:rPr lang="it-IT" dirty="0" err="1"/>
              <a:t>importance</a:t>
            </a:r>
            <a:r>
              <a:rPr lang="it-IT" dirty="0"/>
              <a:t> and SHAP </a:t>
            </a:r>
            <a:r>
              <a:rPr lang="it-IT" dirty="0" err="1"/>
              <a:t>values</a:t>
            </a:r>
            <a:r>
              <a:rPr lang="it-IT" dirty="0"/>
              <a:t> help bridge </a:t>
            </a:r>
            <a:r>
              <a:rPr lang="it-IT" dirty="0" err="1"/>
              <a:t>this</a:t>
            </a:r>
            <a:r>
              <a:rPr lang="it-IT" dirty="0"/>
              <a:t> gap.</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22</a:t>
            </a:fld>
            <a:endParaRPr lang="it-IT"/>
          </a:p>
        </p:txBody>
      </p:sp>
    </p:spTree>
    <p:extLst>
      <p:ext uri="{BB962C8B-B14F-4D97-AF65-F5344CB8AC3E}">
        <p14:creationId xmlns:p14="http://schemas.microsoft.com/office/powerpoint/2010/main" val="347160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Introduce the </a:t>
            </a:r>
            <a:r>
              <a:rPr lang="it-IT" dirty="0" err="1"/>
              <a:t>practical</a:t>
            </a:r>
            <a:r>
              <a:rPr lang="it-IT" dirty="0"/>
              <a:t> case study. </a:t>
            </a:r>
            <a:r>
              <a:rPr lang="it-IT" dirty="0" err="1"/>
              <a:t>Everything</a:t>
            </a:r>
            <a:r>
              <a:rPr lang="it-IT" dirty="0"/>
              <a:t> </a:t>
            </a:r>
            <a:r>
              <a:rPr lang="it-IT" dirty="0" err="1"/>
              <a:t>discussed</a:t>
            </a:r>
            <a:r>
              <a:rPr lang="it-IT" dirty="0"/>
              <a:t> so far </a:t>
            </a:r>
            <a:r>
              <a:rPr lang="it-IT" dirty="0" err="1"/>
              <a:t>will</a:t>
            </a:r>
            <a:r>
              <a:rPr lang="it-IT" dirty="0"/>
              <a:t> </a:t>
            </a:r>
            <a:r>
              <a:rPr lang="it-IT" dirty="0" err="1"/>
              <a:t>now</a:t>
            </a:r>
            <a:r>
              <a:rPr lang="it-IT" dirty="0"/>
              <a:t> be </a:t>
            </a:r>
            <a:r>
              <a:rPr lang="it-IT" dirty="0" err="1"/>
              <a:t>applied</a:t>
            </a:r>
            <a:r>
              <a:rPr lang="it-IT" dirty="0"/>
              <a:t> to a </a:t>
            </a:r>
            <a:r>
              <a:rPr lang="it-IT" dirty="0" err="1"/>
              <a:t>real</a:t>
            </a:r>
            <a:r>
              <a:rPr lang="it-IT" dirty="0"/>
              <a:t> dataset.</a:t>
            </a:r>
          </a:p>
        </p:txBody>
      </p:sp>
      <p:sp>
        <p:nvSpPr>
          <p:cNvPr id="4" name="Slide Number Placeholder 3"/>
          <p:cNvSpPr>
            <a:spLocks noGrp="1"/>
          </p:cNvSpPr>
          <p:nvPr>
            <p:ph type="sldNum" sz="quarter" idx="5"/>
          </p:nvPr>
        </p:nvSpPr>
        <p:spPr/>
        <p:txBody>
          <a:bodyPr/>
          <a:lstStyle/>
          <a:p>
            <a:fld id="{21AAABC4-A8CC-1D4E-A9C3-CD427222022D}" type="slidenum">
              <a:rPr lang="it-IT" smtClean="0"/>
              <a:t>24</a:t>
            </a:fld>
            <a:endParaRPr lang="it-IT"/>
          </a:p>
        </p:txBody>
      </p:sp>
    </p:spTree>
    <p:extLst>
      <p:ext uri="{BB962C8B-B14F-4D97-AF65-F5344CB8AC3E}">
        <p14:creationId xmlns:p14="http://schemas.microsoft.com/office/powerpoint/2010/main" val="1514805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*"Goal: estimate the relative </a:t>
            </a:r>
            <a:r>
              <a:rPr lang="it-IT" dirty="0" err="1"/>
              <a:t>probability</a:t>
            </a:r>
            <a:r>
              <a:rPr lang="it-IT" dirty="0"/>
              <a:t> of </a:t>
            </a:r>
            <a:r>
              <a:rPr lang="it-IT" dirty="0" err="1"/>
              <a:t>wildfire</a:t>
            </a:r>
            <a:r>
              <a:rPr lang="it-IT" dirty="0"/>
              <a:t> </a:t>
            </a:r>
            <a:r>
              <a:rPr lang="it-IT" dirty="0" err="1"/>
              <a:t>occurrence</a:t>
            </a:r>
            <a:r>
              <a:rPr lang="it-IT" dirty="0"/>
              <a:t> </a:t>
            </a:r>
            <a:r>
              <a:rPr lang="it-IT" dirty="0" err="1"/>
              <a:t>as</a:t>
            </a:r>
            <a:r>
              <a:rPr lang="it-IT" dirty="0"/>
              <a:t> a proxy of </a:t>
            </a:r>
            <a:r>
              <a:rPr lang="it-IT" dirty="0" err="1"/>
              <a:t>wildfire</a:t>
            </a:r>
            <a:r>
              <a:rPr lang="it-IT" dirty="0"/>
              <a:t> </a:t>
            </a:r>
            <a:r>
              <a:rPr lang="it-IT" dirty="0" err="1"/>
              <a:t>susceptibility</a:t>
            </a:r>
            <a:r>
              <a:rPr lang="it-IT" dirty="0"/>
              <a:t>. Use </a:t>
            </a:r>
            <a:r>
              <a:rPr lang="it-IT" dirty="0" err="1"/>
              <a:t>occurred</a:t>
            </a:r>
            <a:r>
              <a:rPr lang="it-IT" dirty="0"/>
              <a:t> events, </a:t>
            </a:r>
            <a:r>
              <a:rPr lang="it-IT" dirty="0" err="1"/>
              <a:t>environmental</a:t>
            </a:r>
            <a:r>
              <a:rPr lang="it-IT" dirty="0"/>
              <a:t> and </a:t>
            </a:r>
            <a:r>
              <a:rPr lang="it-IT" dirty="0" err="1"/>
              <a:t>anthropogenic</a:t>
            </a:r>
            <a:r>
              <a:rPr lang="it-IT" dirty="0"/>
              <a:t> </a:t>
            </a:r>
            <a:r>
              <a:rPr lang="it-IT" dirty="0" err="1"/>
              <a:t>conditions</a:t>
            </a:r>
            <a:r>
              <a:rPr lang="it-IT" dirty="0"/>
              <a:t>."*</a:t>
            </a:r>
          </a:p>
          <a:p>
            <a:endParaRPr lang="it-IT" dirty="0"/>
          </a:p>
          <a:p>
            <a:r>
              <a:rPr lang="it-IT" dirty="0"/>
              <a:t>**Course </a:t>
            </a:r>
            <a:r>
              <a:rPr lang="it-IT" dirty="0" err="1"/>
              <a:t>material</a:t>
            </a:r>
            <a:r>
              <a:rPr lang="it-IT" dirty="0"/>
              <a:t>:** https://</a:t>
            </a:r>
            <a:r>
              <a:rPr lang="it-IT" dirty="0" err="1"/>
              <a:t>github.com</a:t>
            </a:r>
            <a:r>
              <a:rPr lang="it-IT" dirty="0"/>
              <a:t>/</a:t>
            </a:r>
            <a:r>
              <a:rPr lang="it-IT" dirty="0" err="1"/>
              <a:t>mirkodandrea</a:t>
            </a:r>
            <a:r>
              <a:rPr lang="it-IT" dirty="0"/>
              <a:t>/</a:t>
            </a:r>
            <a:r>
              <a:rPr lang="it-IT" dirty="0" err="1"/>
              <a:t>wildfire</a:t>
            </a:r>
            <a:r>
              <a:rPr lang="it-IT" dirty="0"/>
              <a:t>-</a:t>
            </a:r>
            <a:r>
              <a:rPr lang="it-IT" dirty="0" err="1"/>
              <a:t>susceptibility</a:t>
            </a:r>
            <a:r>
              <a:rPr lang="it-IT" dirty="0"/>
              <a:t>-ml-</a:t>
            </a:r>
            <a:r>
              <a:rPr lang="it-IT" dirty="0" err="1"/>
              <a:t>lesson</a:t>
            </a:r>
            <a:endParaRPr lang="it-IT" dirty="0"/>
          </a:p>
          <a:p>
            <a:endParaRPr lang="it-IT" dirty="0"/>
          </a:p>
          <a:p>
            <a:r>
              <a:rPr lang="it-IT" dirty="0" err="1"/>
              <a:t>This</a:t>
            </a:r>
            <a:r>
              <a:rPr lang="it-IT" dirty="0"/>
              <a:t> </a:t>
            </a:r>
            <a:r>
              <a:rPr lang="it-IT" dirty="0" err="1"/>
              <a:t>is</a:t>
            </a:r>
            <a:r>
              <a:rPr lang="it-IT" dirty="0"/>
              <a:t> a **</a:t>
            </a:r>
            <a:r>
              <a:rPr lang="it-IT" dirty="0" err="1"/>
              <a:t>presence-only</a:t>
            </a:r>
            <a:r>
              <a:rPr lang="it-IT" dirty="0"/>
              <a:t>** </a:t>
            </a:r>
            <a:r>
              <a:rPr lang="it-IT" dirty="0" err="1"/>
              <a:t>problem</a:t>
            </a:r>
            <a:r>
              <a:rPr lang="it-IT" dirty="0"/>
              <a:t> — </a:t>
            </a:r>
            <a:r>
              <a:rPr lang="it-IT" dirty="0" err="1"/>
              <a:t>we</a:t>
            </a:r>
            <a:r>
              <a:rPr lang="it-IT" dirty="0"/>
              <a:t> know </a:t>
            </a:r>
            <a:r>
              <a:rPr lang="it-IT" dirty="0" err="1"/>
              <a:t>where</a:t>
            </a:r>
            <a:r>
              <a:rPr lang="it-IT" dirty="0"/>
              <a:t> </a:t>
            </a:r>
            <a:r>
              <a:rPr lang="it-IT" dirty="0" err="1"/>
              <a:t>fires</a:t>
            </a:r>
            <a:r>
              <a:rPr lang="it-IT" dirty="0"/>
              <a:t> </a:t>
            </a:r>
            <a:r>
              <a:rPr lang="it-IT" dirty="0" err="1"/>
              <a:t>burned</a:t>
            </a:r>
            <a:r>
              <a:rPr lang="it-IT" dirty="0"/>
              <a:t>, </a:t>
            </a:r>
            <a:r>
              <a:rPr lang="it-IT" dirty="0" err="1"/>
              <a:t>but</a:t>
            </a:r>
            <a:r>
              <a:rPr lang="it-IT" dirty="0"/>
              <a:t> "</a:t>
            </a:r>
            <a:r>
              <a:rPr lang="it-IT" dirty="0" err="1"/>
              <a:t>absence</a:t>
            </a:r>
            <a:r>
              <a:rPr lang="it-IT" dirty="0"/>
              <a:t>" </a:t>
            </a:r>
            <a:r>
              <a:rPr lang="it-IT" dirty="0" err="1"/>
              <a:t>is</a:t>
            </a:r>
            <a:r>
              <a:rPr lang="it-IT" dirty="0"/>
              <a:t> </a:t>
            </a:r>
            <a:r>
              <a:rPr lang="it-IT" dirty="0" err="1"/>
              <a:t>ambiguous</a:t>
            </a:r>
            <a:r>
              <a:rPr lang="it-IT" dirty="0"/>
              <a:t>. </a:t>
            </a:r>
            <a:r>
              <a:rPr lang="it-IT" dirty="0" err="1"/>
              <a:t>We'll</a:t>
            </a:r>
            <a:r>
              <a:rPr lang="it-IT" dirty="0"/>
              <a:t> use pseudo-</a:t>
            </a:r>
            <a:r>
              <a:rPr lang="it-IT" dirty="0" err="1"/>
              <a:t>absences</a:t>
            </a:r>
            <a:r>
              <a:rPr lang="it-IT" dirty="0"/>
              <a:t> to </a:t>
            </a:r>
            <a:r>
              <a:rPr lang="it-IT" dirty="0" err="1"/>
              <a:t>construct</a:t>
            </a:r>
            <a:r>
              <a:rPr lang="it-IT" dirty="0"/>
              <a:t> a </a:t>
            </a:r>
            <a:r>
              <a:rPr lang="it-IT" dirty="0" err="1"/>
              <a:t>trainable</a:t>
            </a:r>
            <a:r>
              <a:rPr lang="it-IT" dirty="0"/>
              <a:t> dataset.</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25</a:t>
            </a:fld>
            <a:endParaRPr lang="it-IT"/>
          </a:p>
        </p:txBody>
      </p:sp>
    </p:spTree>
    <p:extLst>
      <p:ext uri="{BB962C8B-B14F-4D97-AF65-F5344CB8AC3E}">
        <p14:creationId xmlns:p14="http://schemas.microsoft.com/office/powerpoint/2010/main" val="3955580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*"The model </a:t>
            </a:r>
            <a:r>
              <a:rPr lang="it-IT" dirty="0" err="1"/>
              <a:t>uses</a:t>
            </a:r>
            <a:r>
              <a:rPr lang="it-IT" dirty="0"/>
              <a:t> </a:t>
            </a:r>
            <a:r>
              <a:rPr lang="it-IT" dirty="0" err="1"/>
              <a:t>environmental</a:t>
            </a:r>
            <a:r>
              <a:rPr lang="it-IT" dirty="0"/>
              <a:t> and </a:t>
            </a:r>
            <a:r>
              <a:rPr lang="it-IT" dirty="0" err="1"/>
              <a:t>anthropogenic</a:t>
            </a:r>
            <a:r>
              <a:rPr lang="it-IT" dirty="0"/>
              <a:t> </a:t>
            </a:r>
            <a:r>
              <a:rPr lang="it-IT" dirty="0" err="1"/>
              <a:t>predictors</a:t>
            </a:r>
            <a:r>
              <a:rPr lang="it-IT" dirty="0"/>
              <a:t> </a:t>
            </a:r>
            <a:r>
              <a:rPr lang="it-IT" dirty="0" err="1"/>
              <a:t>derived</a:t>
            </a:r>
            <a:r>
              <a:rPr lang="it-IT" dirty="0"/>
              <a:t> from </a:t>
            </a:r>
            <a:r>
              <a:rPr lang="it-IT" dirty="0" err="1"/>
              <a:t>raster</a:t>
            </a:r>
            <a:r>
              <a:rPr lang="it-IT" dirty="0"/>
              <a:t> </a:t>
            </a:r>
            <a:r>
              <a:rPr lang="it-IT" dirty="0" err="1"/>
              <a:t>layers</a:t>
            </a:r>
            <a:r>
              <a:rPr lang="it-IT" dirty="0"/>
              <a:t>. </a:t>
            </a:r>
            <a:r>
              <a:rPr lang="it-IT" dirty="0" err="1"/>
              <a:t>All</a:t>
            </a:r>
            <a:r>
              <a:rPr lang="it-IT" dirty="0"/>
              <a:t> </a:t>
            </a:r>
            <a:r>
              <a:rPr lang="it-IT" dirty="0" err="1"/>
              <a:t>rasters</a:t>
            </a:r>
            <a:r>
              <a:rPr lang="it-IT" dirty="0"/>
              <a:t> are </a:t>
            </a:r>
            <a:r>
              <a:rPr lang="it-IT" dirty="0" err="1"/>
              <a:t>aligned</a:t>
            </a:r>
            <a:r>
              <a:rPr lang="it-IT" dirty="0"/>
              <a:t> to the </a:t>
            </a:r>
            <a:r>
              <a:rPr lang="it-IT" dirty="0" err="1"/>
              <a:t>same</a:t>
            </a:r>
            <a:r>
              <a:rPr lang="it-IT" dirty="0"/>
              <a:t> </a:t>
            </a:r>
            <a:r>
              <a:rPr lang="it-IT" dirty="0" err="1"/>
              <a:t>grid</a:t>
            </a:r>
            <a:r>
              <a:rPr lang="it-IT" dirty="0"/>
              <a:t> and </a:t>
            </a:r>
            <a:r>
              <a:rPr lang="it-IT" dirty="0" err="1"/>
              <a:t>stacked</a:t>
            </a:r>
            <a:r>
              <a:rPr lang="it-IT" dirty="0"/>
              <a:t> to build the feature </a:t>
            </a:r>
            <a:r>
              <a:rPr lang="it-IT" dirty="0" err="1"/>
              <a:t>table</a:t>
            </a:r>
            <a:r>
              <a:rPr lang="it-IT" dirty="0"/>
              <a:t>."*</a:t>
            </a:r>
          </a:p>
          <a:p>
            <a:endParaRPr lang="it-IT" dirty="0"/>
          </a:p>
          <a:p>
            <a:r>
              <a:rPr lang="it-IT" dirty="0" err="1"/>
              <a:t>Describe</a:t>
            </a:r>
            <a:r>
              <a:rPr lang="it-IT" dirty="0"/>
              <a:t> the data pipeline: start from </a:t>
            </a:r>
            <a:r>
              <a:rPr lang="it-IT" dirty="0" err="1"/>
              <a:t>geospatial</a:t>
            </a:r>
            <a:r>
              <a:rPr lang="it-IT" dirty="0"/>
              <a:t> </a:t>
            </a:r>
            <a:r>
              <a:rPr lang="it-IT" dirty="0" err="1"/>
              <a:t>rasters</a:t>
            </a:r>
            <a:r>
              <a:rPr lang="it-IT" dirty="0"/>
              <a:t> (satellite-</a:t>
            </a:r>
            <a:r>
              <a:rPr lang="it-IT" dirty="0" err="1"/>
              <a:t>derived</a:t>
            </a:r>
            <a:r>
              <a:rPr lang="it-IT" dirty="0"/>
              <a:t>, DEM-</a:t>
            </a:r>
            <a:r>
              <a:rPr lang="it-IT" dirty="0" err="1"/>
              <a:t>derived</a:t>
            </a:r>
            <a:r>
              <a:rPr lang="it-IT" dirty="0"/>
              <a:t>, </a:t>
            </a:r>
            <a:r>
              <a:rPr lang="it-IT" dirty="0" err="1"/>
              <a:t>infrastructure</a:t>
            </a:r>
            <a:r>
              <a:rPr lang="it-IT" dirty="0"/>
              <a:t>) → </a:t>
            </a:r>
            <a:r>
              <a:rPr lang="it-IT" dirty="0" err="1"/>
              <a:t>align</a:t>
            </a:r>
            <a:r>
              <a:rPr lang="it-IT" dirty="0"/>
              <a:t> to common </a:t>
            </a:r>
            <a:r>
              <a:rPr lang="it-IT" dirty="0" err="1"/>
              <a:t>grid</a:t>
            </a:r>
            <a:r>
              <a:rPr lang="it-IT" dirty="0"/>
              <a:t> → </a:t>
            </a:r>
            <a:r>
              <a:rPr lang="it-IT" dirty="0" err="1"/>
              <a:t>extract</a:t>
            </a:r>
            <a:r>
              <a:rPr lang="it-IT" dirty="0"/>
              <a:t> pixel </a:t>
            </a:r>
            <a:r>
              <a:rPr lang="it-IT" dirty="0" err="1"/>
              <a:t>values</a:t>
            </a:r>
            <a:r>
              <a:rPr lang="it-IT" dirty="0"/>
              <a:t> → </a:t>
            </a:r>
            <a:r>
              <a:rPr lang="it-IT" dirty="0" err="1"/>
              <a:t>assemble</a:t>
            </a:r>
            <a:r>
              <a:rPr lang="it-IT" dirty="0"/>
              <a:t> feature </a:t>
            </a:r>
            <a:r>
              <a:rPr lang="it-IT" dirty="0" err="1"/>
              <a:t>matrix</a:t>
            </a:r>
            <a:r>
              <a:rPr lang="it-IT" dirty="0"/>
              <a:t>. </a:t>
            </a:r>
            <a:r>
              <a:rPr lang="it-IT" dirty="0" err="1"/>
              <a:t>Every</a:t>
            </a:r>
            <a:r>
              <a:rPr lang="it-IT" dirty="0"/>
              <a:t> </a:t>
            </a:r>
            <a:r>
              <a:rPr lang="it-IT" dirty="0" err="1"/>
              <a:t>row</a:t>
            </a:r>
            <a:r>
              <a:rPr lang="it-IT" dirty="0"/>
              <a:t> </a:t>
            </a:r>
            <a:r>
              <a:rPr lang="it-IT" dirty="0" err="1"/>
              <a:t>is</a:t>
            </a:r>
            <a:r>
              <a:rPr lang="it-IT" dirty="0"/>
              <a:t> a pixel; </a:t>
            </a:r>
            <a:r>
              <a:rPr lang="it-IT" dirty="0" err="1"/>
              <a:t>every</a:t>
            </a:r>
            <a:r>
              <a:rPr lang="it-IT" dirty="0"/>
              <a:t> </a:t>
            </a:r>
            <a:r>
              <a:rPr lang="it-IT" dirty="0" err="1"/>
              <a:t>column</a:t>
            </a:r>
            <a:r>
              <a:rPr lang="it-IT" dirty="0"/>
              <a:t> </a:t>
            </a:r>
            <a:r>
              <a:rPr lang="it-IT" dirty="0" err="1"/>
              <a:t>is</a:t>
            </a:r>
            <a:r>
              <a:rPr lang="it-IT" dirty="0"/>
              <a:t> a feature.</a:t>
            </a:r>
          </a:p>
        </p:txBody>
      </p:sp>
      <p:sp>
        <p:nvSpPr>
          <p:cNvPr id="4" name="Slide Number Placeholder 3"/>
          <p:cNvSpPr>
            <a:spLocks noGrp="1"/>
          </p:cNvSpPr>
          <p:nvPr>
            <p:ph type="sldNum" sz="quarter" idx="5"/>
          </p:nvPr>
        </p:nvSpPr>
        <p:spPr/>
        <p:txBody>
          <a:bodyPr/>
          <a:lstStyle/>
          <a:p>
            <a:fld id="{21AAABC4-A8CC-1D4E-A9C3-CD427222022D}" type="slidenum">
              <a:rPr lang="it-IT" smtClean="0"/>
              <a:t>26</a:t>
            </a:fld>
            <a:endParaRPr lang="it-IT"/>
          </a:p>
        </p:txBody>
      </p:sp>
    </p:spTree>
    <p:extLst>
      <p:ext uri="{BB962C8B-B14F-4D97-AF65-F5344CB8AC3E}">
        <p14:creationId xmlns:p14="http://schemas.microsoft.com/office/powerpoint/2010/main" val="41757761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*"Some Random </a:t>
            </a:r>
            <a:r>
              <a:rPr lang="it-IT" dirty="0" err="1"/>
              <a:t>Forest</a:t>
            </a:r>
            <a:r>
              <a:rPr lang="it-IT" dirty="0"/>
              <a:t> </a:t>
            </a:r>
            <a:r>
              <a:rPr lang="it-IT" dirty="0" err="1"/>
              <a:t>implementations</a:t>
            </a:r>
            <a:r>
              <a:rPr lang="it-IT" dirty="0"/>
              <a:t> </a:t>
            </a:r>
            <a:r>
              <a:rPr lang="it-IT" dirty="0" err="1"/>
              <a:t>need</a:t>
            </a:r>
            <a:r>
              <a:rPr lang="it-IT" dirty="0"/>
              <a:t> </a:t>
            </a:r>
            <a:r>
              <a:rPr lang="it-IT" dirty="0" err="1"/>
              <a:t>numeric</a:t>
            </a:r>
            <a:r>
              <a:rPr lang="it-IT" dirty="0"/>
              <a:t> inputs, so </a:t>
            </a:r>
            <a:r>
              <a:rPr lang="it-IT" dirty="0" err="1"/>
              <a:t>categorical</a:t>
            </a:r>
            <a:r>
              <a:rPr lang="it-IT" dirty="0"/>
              <a:t> </a:t>
            </a:r>
            <a:r>
              <a:rPr lang="it-IT" dirty="0" err="1"/>
              <a:t>variables</a:t>
            </a:r>
            <a:r>
              <a:rPr lang="it-IT" dirty="0"/>
              <a:t> must be </a:t>
            </a:r>
            <a:r>
              <a:rPr lang="it-IT" dirty="0" err="1"/>
              <a:t>encoded</a:t>
            </a:r>
            <a:r>
              <a:rPr lang="it-IT" dirty="0"/>
              <a:t> first."*</a:t>
            </a:r>
          </a:p>
          <a:p>
            <a:endParaRPr lang="it-IT" dirty="0"/>
          </a:p>
          <a:p>
            <a:r>
              <a:rPr lang="it-IT" dirty="0"/>
              <a:t>**</a:t>
            </a:r>
            <a:r>
              <a:rPr lang="it-IT" dirty="0" err="1"/>
              <a:t>Encoding</a:t>
            </a:r>
            <a:r>
              <a:rPr lang="it-IT" dirty="0"/>
              <a:t> strategies:**</a:t>
            </a:r>
          </a:p>
          <a:p>
            <a:r>
              <a:rPr lang="it-IT" dirty="0"/>
              <a:t>- **</a:t>
            </a:r>
            <a:r>
              <a:rPr lang="it-IT" dirty="0" err="1"/>
              <a:t>Ordinal</a:t>
            </a:r>
            <a:r>
              <a:rPr lang="it-IT" dirty="0"/>
              <a:t> </a:t>
            </a:r>
            <a:r>
              <a:rPr lang="it-IT" dirty="0" err="1"/>
              <a:t>encoding</a:t>
            </a:r>
            <a:r>
              <a:rPr lang="it-IT" dirty="0"/>
              <a:t>**: use </a:t>
            </a:r>
            <a:r>
              <a:rPr lang="it-IT" dirty="0" err="1"/>
              <a:t>when</a:t>
            </a:r>
            <a:r>
              <a:rPr lang="it-IT" dirty="0"/>
              <a:t> </a:t>
            </a:r>
            <a:r>
              <a:rPr lang="it-IT" dirty="0" err="1"/>
              <a:t>categories</a:t>
            </a:r>
            <a:r>
              <a:rPr lang="it-IT" dirty="0"/>
              <a:t> </a:t>
            </a:r>
            <a:r>
              <a:rPr lang="it-IT" dirty="0" err="1"/>
              <a:t>have</a:t>
            </a:r>
            <a:r>
              <a:rPr lang="it-IT" dirty="0"/>
              <a:t> </a:t>
            </a:r>
            <a:r>
              <a:rPr lang="it-IT" dirty="0" err="1"/>
              <a:t>order</a:t>
            </a:r>
            <a:r>
              <a:rPr lang="it-IT" dirty="0"/>
              <a:t> (low / medium / high)</a:t>
            </a:r>
          </a:p>
          <a:p>
            <a:r>
              <a:rPr lang="it-IT" dirty="0"/>
              <a:t>- **One-hot </a:t>
            </a:r>
            <a:r>
              <a:rPr lang="it-IT" dirty="0" err="1"/>
              <a:t>encoding</a:t>
            </a:r>
            <a:r>
              <a:rPr lang="it-IT" dirty="0"/>
              <a:t>**: use </a:t>
            </a:r>
            <a:r>
              <a:rPr lang="it-IT" dirty="0" err="1"/>
              <a:t>when</a:t>
            </a:r>
            <a:r>
              <a:rPr lang="it-IT" dirty="0"/>
              <a:t> </a:t>
            </a:r>
            <a:r>
              <a:rPr lang="it-IT" dirty="0" err="1"/>
              <a:t>categories</a:t>
            </a:r>
            <a:r>
              <a:rPr lang="it-IT" dirty="0"/>
              <a:t> </a:t>
            </a:r>
            <a:r>
              <a:rPr lang="it-IT" dirty="0" err="1"/>
              <a:t>have</a:t>
            </a:r>
            <a:r>
              <a:rPr lang="it-IT" dirty="0"/>
              <a:t> no </a:t>
            </a:r>
            <a:r>
              <a:rPr lang="it-IT" dirty="0" err="1"/>
              <a:t>order</a:t>
            </a:r>
            <a:r>
              <a:rPr lang="it-IT" dirty="0"/>
              <a:t> (</a:t>
            </a:r>
            <a:r>
              <a:rPr lang="it-IT" dirty="0" err="1"/>
              <a:t>forest</a:t>
            </a:r>
            <a:r>
              <a:rPr lang="it-IT" dirty="0"/>
              <a:t> </a:t>
            </a:r>
            <a:r>
              <a:rPr lang="it-IT" dirty="0" err="1"/>
              <a:t>type</a:t>
            </a:r>
            <a:r>
              <a:rPr lang="it-IT" dirty="0"/>
              <a:t>, </a:t>
            </a:r>
            <a:r>
              <a:rPr lang="it-IT" dirty="0" err="1"/>
              <a:t>land</a:t>
            </a:r>
            <a:r>
              <a:rPr lang="it-IT" dirty="0"/>
              <a:t>-use class) — </a:t>
            </a:r>
            <a:r>
              <a:rPr lang="it-IT" dirty="0" err="1"/>
              <a:t>creates</a:t>
            </a:r>
            <a:r>
              <a:rPr lang="it-IT" dirty="0"/>
              <a:t> 0/1 </a:t>
            </a:r>
            <a:r>
              <a:rPr lang="it-IT" dirty="0" err="1"/>
              <a:t>columns</a:t>
            </a:r>
            <a:endParaRPr lang="it-IT" dirty="0"/>
          </a:p>
          <a:p>
            <a:r>
              <a:rPr lang="it-IT" dirty="0"/>
              <a:t>- **Target </a:t>
            </a:r>
            <a:r>
              <a:rPr lang="it-IT" dirty="0" err="1"/>
              <a:t>encoding</a:t>
            </a:r>
            <a:r>
              <a:rPr lang="it-IT" dirty="0"/>
              <a:t>**: </a:t>
            </a:r>
            <a:r>
              <a:rPr lang="it-IT" dirty="0" err="1"/>
              <a:t>uses</a:t>
            </a:r>
            <a:r>
              <a:rPr lang="it-IT" dirty="0"/>
              <a:t> label/target relation — can introduce </a:t>
            </a:r>
            <a:r>
              <a:rPr lang="it-IT" dirty="0" err="1"/>
              <a:t>overfit</a:t>
            </a:r>
            <a:endParaRPr lang="it-IT" dirty="0"/>
          </a:p>
          <a:p>
            <a:endParaRPr lang="it-IT" dirty="0"/>
          </a:p>
          <a:p>
            <a:r>
              <a:rPr lang="it-IT" dirty="0"/>
              <a:t>&gt; *"For </a:t>
            </a:r>
            <a:r>
              <a:rPr lang="it-IT" dirty="0" err="1"/>
              <a:t>this</a:t>
            </a:r>
            <a:r>
              <a:rPr lang="it-IT" dirty="0"/>
              <a:t> </a:t>
            </a:r>
            <a:r>
              <a:rPr lang="it-IT" dirty="0" err="1"/>
              <a:t>example</a:t>
            </a:r>
            <a:r>
              <a:rPr lang="it-IT" dirty="0"/>
              <a:t>, </a:t>
            </a:r>
            <a:r>
              <a:rPr lang="it-IT" dirty="0" err="1"/>
              <a:t>we</a:t>
            </a:r>
            <a:r>
              <a:rPr lang="it-IT" dirty="0"/>
              <a:t> </a:t>
            </a:r>
            <a:r>
              <a:rPr lang="it-IT" dirty="0" err="1"/>
              <a:t>will</a:t>
            </a:r>
            <a:r>
              <a:rPr lang="it-IT" dirty="0"/>
              <a:t> use One Hot </a:t>
            </a:r>
            <a:r>
              <a:rPr lang="it-IT" dirty="0" err="1"/>
              <a:t>Encoding</a:t>
            </a:r>
            <a:r>
              <a:rPr lang="it-IT" dirty="0"/>
              <a:t> for the </a:t>
            </a:r>
            <a:r>
              <a:rPr lang="it-IT" dirty="0" err="1"/>
              <a:t>vegetation</a:t>
            </a:r>
            <a:r>
              <a:rPr lang="it-IT" dirty="0"/>
              <a:t> </a:t>
            </a:r>
            <a:r>
              <a:rPr lang="it-IT" dirty="0" err="1"/>
              <a:t>categorical</a:t>
            </a:r>
            <a:r>
              <a:rPr lang="it-IT" dirty="0"/>
              <a:t> </a:t>
            </a:r>
            <a:r>
              <a:rPr lang="it-IT" dirty="0" err="1"/>
              <a:t>variable</a:t>
            </a:r>
            <a:r>
              <a:rPr lang="it-IT" dirty="0"/>
              <a:t>."*</a:t>
            </a:r>
          </a:p>
          <a:p>
            <a:endParaRPr lang="it-IT" dirty="0"/>
          </a:p>
          <a:p>
            <a:r>
              <a:rPr lang="it-IT" dirty="0" err="1"/>
              <a:t>Ask</a:t>
            </a:r>
            <a:r>
              <a:rPr lang="it-IT" dirty="0"/>
              <a:t> the audience: "</a:t>
            </a:r>
            <a:r>
              <a:rPr lang="it-IT" dirty="0" err="1"/>
              <a:t>What</a:t>
            </a:r>
            <a:r>
              <a:rPr lang="it-IT" dirty="0"/>
              <a:t> </a:t>
            </a:r>
            <a:r>
              <a:rPr lang="it-IT" dirty="0" err="1"/>
              <a:t>happens</a:t>
            </a:r>
            <a:r>
              <a:rPr lang="it-IT" dirty="0"/>
              <a:t> </a:t>
            </a:r>
            <a:r>
              <a:rPr lang="it-IT" dirty="0" err="1"/>
              <a:t>if</a:t>
            </a:r>
            <a:r>
              <a:rPr lang="it-IT" dirty="0"/>
              <a:t> </a:t>
            </a:r>
            <a:r>
              <a:rPr lang="it-IT" dirty="0" err="1"/>
              <a:t>we</a:t>
            </a:r>
            <a:r>
              <a:rPr lang="it-IT" dirty="0"/>
              <a:t> feed the </a:t>
            </a:r>
            <a:r>
              <a:rPr lang="it-IT" dirty="0" err="1"/>
              <a:t>number</a:t>
            </a:r>
            <a:r>
              <a:rPr lang="it-IT" dirty="0"/>
              <a:t> code </a:t>
            </a:r>
            <a:r>
              <a:rPr lang="it-IT" dirty="0" err="1"/>
              <a:t>directly</a:t>
            </a:r>
            <a:r>
              <a:rPr lang="it-IT" dirty="0"/>
              <a:t> to a </a:t>
            </a:r>
            <a:r>
              <a:rPr lang="it-IT" dirty="0" err="1"/>
              <a:t>tree</a:t>
            </a:r>
            <a:r>
              <a:rPr lang="it-IT" dirty="0"/>
              <a:t>?" The </a:t>
            </a:r>
            <a:r>
              <a:rPr lang="it-IT" dirty="0" err="1"/>
              <a:t>tree</a:t>
            </a:r>
            <a:r>
              <a:rPr lang="it-IT" dirty="0"/>
              <a:t> </a:t>
            </a:r>
            <a:r>
              <a:rPr lang="it-IT" dirty="0" err="1"/>
              <a:t>would</a:t>
            </a:r>
            <a:r>
              <a:rPr lang="it-IT" dirty="0"/>
              <a:t> </a:t>
            </a:r>
            <a:r>
              <a:rPr lang="it-IT" dirty="0" err="1"/>
              <a:t>treat</a:t>
            </a:r>
            <a:r>
              <a:rPr lang="it-IT" dirty="0"/>
              <a:t> 3111 </a:t>
            </a:r>
            <a:r>
              <a:rPr lang="it-IT" dirty="0" err="1"/>
              <a:t>as</a:t>
            </a:r>
            <a:r>
              <a:rPr lang="it-IT" dirty="0"/>
              <a:t> </a:t>
            </a:r>
            <a:r>
              <a:rPr lang="it-IT" dirty="0" err="1"/>
              <a:t>numerically</a:t>
            </a:r>
            <a:r>
              <a:rPr lang="it-IT" dirty="0"/>
              <a:t> </a:t>
            </a:r>
            <a:r>
              <a:rPr lang="it-IT" dirty="0" err="1"/>
              <a:t>between</a:t>
            </a:r>
            <a:r>
              <a:rPr lang="it-IT" dirty="0"/>
              <a:t> 312 and 3112 — </a:t>
            </a:r>
            <a:r>
              <a:rPr lang="it-IT" dirty="0" err="1"/>
              <a:t>which</a:t>
            </a:r>
            <a:r>
              <a:rPr lang="it-IT" dirty="0"/>
              <a:t> </a:t>
            </a:r>
            <a:r>
              <a:rPr lang="it-IT" dirty="0" err="1"/>
              <a:t>is</a:t>
            </a:r>
            <a:r>
              <a:rPr lang="it-IT" dirty="0"/>
              <a:t> </a:t>
            </a:r>
            <a:r>
              <a:rPr lang="it-IT" dirty="0" err="1"/>
              <a:t>meaningless</a:t>
            </a:r>
            <a:r>
              <a:rPr lang="it-IT" dirty="0"/>
              <a:t>. One-hot </a:t>
            </a:r>
            <a:r>
              <a:rPr lang="it-IT" dirty="0" err="1"/>
              <a:t>encoding</a:t>
            </a:r>
            <a:r>
              <a:rPr lang="it-IT" dirty="0"/>
              <a:t> </a:t>
            </a:r>
            <a:r>
              <a:rPr lang="it-IT" dirty="0" err="1"/>
              <a:t>avoids</a:t>
            </a:r>
            <a:r>
              <a:rPr lang="it-IT" dirty="0"/>
              <a:t> </a:t>
            </a:r>
            <a:r>
              <a:rPr lang="it-IT" dirty="0" err="1"/>
              <a:t>this</a:t>
            </a:r>
            <a:r>
              <a:rPr lang="it-IT" dirty="0"/>
              <a:t>.</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27</a:t>
            </a:fld>
            <a:endParaRPr lang="it-IT"/>
          </a:p>
        </p:txBody>
      </p:sp>
    </p:spTree>
    <p:extLst>
      <p:ext uri="{BB962C8B-B14F-4D97-AF65-F5344CB8AC3E}">
        <p14:creationId xmlns:p14="http://schemas.microsoft.com/office/powerpoint/2010/main" val="1231343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**Key </a:t>
            </a:r>
            <a:r>
              <a:rPr lang="it-IT" dirty="0" err="1"/>
              <a:t>transforms</a:t>
            </a:r>
            <a:r>
              <a:rPr lang="it-IT" dirty="0"/>
              <a:t>:**</a:t>
            </a:r>
          </a:p>
          <a:p>
            <a:r>
              <a:rPr lang="it-IT" dirty="0"/>
              <a:t>```</a:t>
            </a:r>
            <a:r>
              <a:rPr lang="it-IT" dirty="0" err="1"/>
              <a:t>python</a:t>
            </a:r>
            <a:endParaRPr lang="it-IT" dirty="0"/>
          </a:p>
          <a:p>
            <a:r>
              <a:rPr lang="it-IT" dirty="0"/>
              <a:t># </a:t>
            </a:r>
            <a:r>
              <a:rPr lang="it-IT" dirty="0" err="1"/>
              <a:t>Aspect</a:t>
            </a:r>
            <a:r>
              <a:rPr lang="it-IT" dirty="0"/>
              <a:t>: degrees → </a:t>
            </a:r>
            <a:r>
              <a:rPr lang="it-IT" dirty="0" err="1"/>
              <a:t>two</a:t>
            </a:r>
            <a:r>
              <a:rPr lang="it-IT" dirty="0"/>
              <a:t> </a:t>
            </a:r>
            <a:r>
              <a:rPr lang="it-IT" dirty="0" err="1"/>
              <a:t>orthogonal</a:t>
            </a:r>
            <a:r>
              <a:rPr lang="it-IT" dirty="0"/>
              <a:t> </a:t>
            </a:r>
            <a:r>
              <a:rPr lang="it-IT" dirty="0" err="1"/>
              <a:t>components</a:t>
            </a:r>
            <a:endParaRPr lang="it-IT" dirty="0"/>
          </a:p>
          <a:p>
            <a:r>
              <a:rPr lang="it-IT" dirty="0" err="1"/>
              <a:t>def</a:t>
            </a:r>
            <a:r>
              <a:rPr lang="it-IT" dirty="0"/>
              <a:t> </a:t>
            </a:r>
            <a:r>
              <a:rPr lang="it-IT" dirty="0" err="1"/>
              <a:t>add_aspect_features</a:t>
            </a:r>
            <a:r>
              <a:rPr lang="it-IT" dirty="0"/>
              <a:t>(frame):</a:t>
            </a:r>
          </a:p>
          <a:p>
            <a:r>
              <a:rPr lang="it-IT" dirty="0"/>
              <a:t>    rad = np.deg2rad(frame["</a:t>
            </a:r>
            <a:r>
              <a:rPr lang="it-IT" dirty="0" err="1"/>
              <a:t>aspect</a:t>
            </a:r>
            <a:r>
              <a:rPr lang="it-IT" dirty="0"/>
              <a:t>"])</a:t>
            </a:r>
          </a:p>
          <a:p>
            <a:r>
              <a:rPr lang="it-IT" dirty="0"/>
              <a:t>    frame["</a:t>
            </a:r>
            <a:r>
              <a:rPr lang="it-IT" dirty="0" err="1"/>
              <a:t>aspect_eastness</a:t>
            </a:r>
            <a:r>
              <a:rPr lang="it-IT" dirty="0"/>
              <a:t>"]  = </a:t>
            </a:r>
            <a:r>
              <a:rPr lang="it-IT" dirty="0" err="1"/>
              <a:t>np.sin</a:t>
            </a:r>
            <a:r>
              <a:rPr lang="it-IT" dirty="0"/>
              <a:t>(rad)</a:t>
            </a:r>
          </a:p>
          <a:p>
            <a:r>
              <a:rPr lang="it-IT" dirty="0"/>
              <a:t>    frame["</a:t>
            </a:r>
            <a:r>
              <a:rPr lang="it-IT" dirty="0" err="1"/>
              <a:t>aspect_northness</a:t>
            </a:r>
            <a:r>
              <a:rPr lang="it-IT" dirty="0"/>
              <a:t>"] = </a:t>
            </a:r>
            <a:r>
              <a:rPr lang="it-IT" dirty="0" err="1"/>
              <a:t>np.cos</a:t>
            </a:r>
            <a:r>
              <a:rPr lang="it-IT" dirty="0"/>
              <a:t>(rad)</a:t>
            </a:r>
          </a:p>
          <a:p>
            <a:r>
              <a:rPr lang="it-IT" dirty="0"/>
              <a:t>    </a:t>
            </a:r>
            <a:r>
              <a:rPr lang="it-IT" dirty="0" err="1"/>
              <a:t>return</a:t>
            </a:r>
            <a:r>
              <a:rPr lang="it-IT" dirty="0"/>
              <a:t> frame</a:t>
            </a:r>
          </a:p>
          <a:p>
            <a:endParaRPr lang="it-IT" dirty="0"/>
          </a:p>
          <a:p>
            <a:r>
              <a:rPr lang="it-IT" dirty="0"/>
              <a:t># </a:t>
            </a:r>
            <a:r>
              <a:rPr lang="it-IT" dirty="0" err="1"/>
              <a:t>Vegetation</a:t>
            </a:r>
            <a:r>
              <a:rPr lang="it-IT" dirty="0"/>
              <a:t>: </a:t>
            </a:r>
            <a:r>
              <a:rPr lang="it-IT" dirty="0" err="1"/>
              <a:t>unordered</a:t>
            </a:r>
            <a:r>
              <a:rPr lang="it-IT" dirty="0"/>
              <a:t> </a:t>
            </a:r>
            <a:r>
              <a:rPr lang="it-IT" dirty="0" err="1"/>
              <a:t>codes</a:t>
            </a:r>
            <a:r>
              <a:rPr lang="it-IT" dirty="0"/>
              <a:t> → one </a:t>
            </a:r>
            <a:r>
              <a:rPr lang="it-IT" dirty="0" err="1"/>
              <a:t>binary</a:t>
            </a:r>
            <a:r>
              <a:rPr lang="it-IT" dirty="0"/>
              <a:t> </a:t>
            </a:r>
            <a:r>
              <a:rPr lang="it-IT" dirty="0" err="1"/>
              <a:t>column</a:t>
            </a:r>
            <a:r>
              <a:rPr lang="it-IT" dirty="0"/>
              <a:t> per class</a:t>
            </a:r>
          </a:p>
          <a:p>
            <a:r>
              <a:rPr lang="it-IT" dirty="0" err="1"/>
              <a:t>def</a:t>
            </a:r>
            <a:r>
              <a:rPr lang="it-IT" dirty="0"/>
              <a:t> </a:t>
            </a:r>
            <a:r>
              <a:rPr lang="it-IT" dirty="0" err="1"/>
              <a:t>one_hot_encode_vegetation</a:t>
            </a:r>
            <a:r>
              <a:rPr lang="it-IT" dirty="0"/>
              <a:t>(frame):</a:t>
            </a:r>
          </a:p>
          <a:p>
            <a:r>
              <a:rPr lang="it-IT" dirty="0"/>
              <a:t>    dummies = </a:t>
            </a:r>
            <a:r>
              <a:rPr lang="it-IT" dirty="0" err="1"/>
              <a:t>pd.get_dummies</a:t>
            </a:r>
            <a:r>
              <a:rPr lang="it-IT" dirty="0"/>
              <a:t>(frame["</a:t>
            </a:r>
            <a:r>
              <a:rPr lang="it-IT" dirty="0" err="1"/>
              <a:t>vegetation</a:t>
            </a:r>
            <a:r>
              <a:rPr lang="it-IT" dirty="0"/>
              <a:t>"].</a:t>
            </a:r>
            <a:r>
              <a:rPr lang="it-IT" dirty="0" err="1"/>
              <a:t>astype</a:t>
            </a:r>
            <a:r>
              <a:rPr lang="it-IT" dirty="0"/>
              <a:t>(</a:t>
            </a:r>
            <a:r>
              <a:rPr lang="it-IT" dirty="0" err="1"/>
              <a:t>int</a:t>
            </a:r>
            <a:r>
              <a:rPr lang="it-IT" dirty="0"/>
              <a:t>), </a:t>
            </a:r>
            <a:r>
              <a:rPr lang="it-IT" dirty="0" err="1"/>
              <a:t>prefix</a:t>
            </a:r>
            <a:r>
              <a:rPr lang="it-IT" dirty="0"/>
              <a:t>="</a:t>
            </a:r>
            <a:r>
              <a:rPr lang="it-IT" dirty="0" err="1"/>
              <a:t>vegetation</a:t>
            </a:r>
            <a:r>
              <a:rPr lang="it-IT" dirty="0"/>
              <a:t>", </a:t>
            </a:r>
            <a:r>
              <a:rPr lang="it-IT" dirty="0" err="1"/>
              <a:t>dtype</a:t>
            </a:r>
            <a:r>
              <a:rPr lang="it-IT" dirty="0"/>
              <a:t>=</a:t>
            </a:r>
            <a:r>
              <a:rPr lang="it-IT" dirty="0" err="1"/>
              <a:t>int</a:t>
            </a:r>
            <a:r>
              <a:rPr lang="it-IT" dirty="0"/>
              <a:t>)</a:t>
            </a:r>
          </a:p>
          <a:p>
            <a:r>
              <a:rPr lang="it-IT" dirty="0"/>
              <a:t>    </a:t>
            </a:r>
            <a:r>
              <a:rPr lang="it-IT" dirty="0" err="1"/>
              <a:t>return</a:t>
            </a:r>
            <a:r>
              <a:rPr lang="it-IT" dirty="0"/>
              <a:t> </a:t>
            </a:r>
            <a:r>
              <a:rPr lang="it-IT" dirty="0" err="1"/>
              <a:t>dummies.reindex</a:t>
            </a:r>
            <a:r>
              <a:rPr lang="it-IT" dirty="0"/>
              <a:t>(</a:t>
            </a:r>
            <a:r>
              <a:rPr lang="it-IT" dirty="0" err="1"/>
              <a:t>columns</a:t>
            </a:r>
            <a:r>
              <a:rPr lang="it-IT" dirty="0"/>
              <a:t>=VEGETATION_FEATURE_COLUMNS, </a:t>
            </a:r>
            <a:r>
              <a:rPr lang="it-IT" dirty="0" err="1"/>
              <a:t>fill_value</a:t>
            </a:r>
            <a:r>
              <a:rPr lang="it-IT" dirty="0"/>
              <a:t>=0)</a:t>
            </a:r>
          </a:p>
          <a:p>
            <a:r>
              <a:rPr lang="it-IT" dirty="0"/>
              <a:t>```</a:t>
            </a:r>
          </a:p>
          <a:p>
            <a:endParaRPr lang="it-IT" dirty="0"/>
          </a:p>
          <a:p>
            <a:r>
              <a:rPr lang="it-IT" dirty="0"/>
              <a:t>**</a:t>
            </a:r>
            <a:r>
              <a:rPr lang="it-IT" dirty="0" err="1"/>
              <a:t>Why</a:t>
            </a:r>
            <a:r>
              <a:rPr lang="it-IT" dirty="0"/>
              <a:t> </a:t>
            </a:r>
            <a:r>
              <a:rPr lang="it-IT" dirty="0" err="1"/>
              <a:t>these</a:t>
            </a:r>
            <a:r>
              <a:rPr lang="it-IT" dirty="0"/>
              <a:t> </a:t>
            </a:r>
            <a:r>
              <a:rPr lang="it-IT" dirty="0" err="1"/>
              <a:t>transforms</a:t>
            </a:r>
            <a:r>
              <a:rPr lang="it-IT" dirty="0"/>
              <a:t>?**</a:t>
            </a:r>
          </a:p>
          <a:p>
            <a:r>
              <a:rPr lang="it-IT" dirty="0"/>
              <a:t>- **</a:t>
            </a:r>
            <a:r>
              <a:rPr lang="it-IT" dirty="0" err="1"/>
              <a:t>Aspect</a:t>
            </a:r>
            <a:r>
              <a:rPr lang="it-IT" dirty="0"/>
              <a:t> </a:t>
            </a:r>
            <a:r>
              <a:rPr lang="it-IT" dirty="0" err="1"/>
              <a:t>is</a:t>
            </a:r>
            <a:r>
              <a:rPr lang="it-IT" dirty="0"/>
              <a:t> </a:t>
            </a:r>
            <a:r>
              <a:rPr lang="it-IT" dirty="0" err="1"/>
              <a:t>circular</a:t>
            </a:r>
            <a:r>
              <a:rPr lang="it-IT" dirty="0"/>
              <a:t>** — 1° and 359° point </a:t>
            </a:r>
            <a:r>
              <a:rPr lang="it-IT" dirty="0" err="1"/>
              <a:t>nearly</a:t>
            </a:r>
            <a:r>
              <a:rPr lang="it-IT" dirty="0"/>
              <a:t> the </a:t>
            </a:r>
            <a:r>
              <a:rPr lang="it-IT" dirty="0" err="1"/>
              <a:t>same</a:t>
            </a:r>
            <a:r>
              <a:rPr lang="it-IT" dirty="0"/>
              <a:t> </a:t>
            </a:r>
            <a:r>
              <a:rPr lang="it-IT" dirty="0" err="1"/>
              <a:t>direction</a:t>
            </a:r>
            <a:r>
              <a:rPr lang="it-IT" dirty="0"/>
              <a:t>. Sin/cos </a:t>
            </a:r>
            <a:r>
              <a:rPr lang="it-IT" dirty="0" err="1"/>
              <a:t>preserve</a:t>
            </a:r>
            <a:r>
              <a:rPr lang="it-IT" dirty="0"/>
              <a:t> </a:t>
            </a:r>
            <a:r>
              <a:rPr lang="it-IT" dirty="0" err="1"/>
              <a:t>direction</a:t>
            </a:r>
            <a:r>
              <a:rPr lang="it-IT" dirty="0"/>
              <a:t> </a:t>
            </a:r>
            <a:r>
              <a:rPr lang="it-IT" dirty="0" err="1"/>
              <a:t>without</a:t>
            </a:r>
            <a:r>
              <a:rPr lang="it-IT" dirty="0"/>
              <a:t> </a:t>
            </a:r>
            <a:r>
              <a:rPr lang="it-IT" dirty="0" err="1"/>
              <a:t>discontinuity</a:t>
            </a:r>
            <a:r>
              <a:rPr lang="it-IT" dirty="0"/>
              <a:t>.</a:t>
            </a:r>
          </a:p>
          <a:p>
            <a:r>
              <a:rPr lang="it-IT" dirty="0"/>
              <a:t>- **</a:t>
            </a:r>
            <a:r>
              <a:rPr lang="it-IT" dirty="0" err="1"/>
              <a:t>Vegetation</a:t>
            </a:r>
            <a:r>
              <a:rPr lang="it-IT" dirty="0"/>
              <a:t> </a:t>
            </a:r>
            <a:r>
              <a:rPr lang="it-IT" dirty="0" err="1"/>
              <a:t>is</a:t>
            </a:r>
            <a:r>
              <a:rPr lang="it-IT" dirty="0"/>
              <a:t> </a:t>
            </a:r>
            <a:r>
              <a:rPr lang="it-IT" dirty="0" err="1"/>
              <a:t>unordered</a:t>
            </a:r>
            <a:r>
              <a:rPr lang="it-IT" dirty="0"/>
              <a:t>** — code 3111 </a:t>
            </a:r>
            <a:r>
              <a:rPr lang="it-IT" dirty="0" err="1"/>
              <a:t>is</a:t>
            </a:r>
            <a:r>
              <a:rPr lang="it-IT" dirty="0"/>
              <a:t> </a:t>
            </a:r>
            <a:r>
              <a:rPr lang="it-IT" dirty="0" err="1"/>
              <a:t>not</a:t>
            </a:r>
            <a:r>
              <a:rPr lang="it-IT" dirty="0"/>
              <a:t> "</a:t>
            </a:r>
            <a:r>
              <a:rPr lang="it-IT" dirty="0" err="1"/>
              <a:t>between</a:t>
            </a:r>
            <a:r>
              <a:rPr lang="it-IT" dirty="0"/>
              <a:t>" 312 and 3112.</a:t>
            </a:r>
          </a:p>
          <a:p>
            <a:endParaRPr lang="it-IT" dirty="0"/>
          </a:p>
          <a:p>
            <a:r>
              <a:rPr lang="it-IT" dirty="0" err="1"/>
              <a:t>Result</a:t>
            </a:r>
            <a:r>
              <a:rPr lang="it-IT" dirty="0"/>
              <a:t>: 18-column feature </a:t>
            </a:r>
            <a:r>
              <a:rPr lang="it-IT" dirty="0" err="1"/>
              <a:t>matrix</a:t>
            </a:r>
            <a:r>
              <a:rPr lang="it-IT" dirty="0"/>
              <a:t> ready for the Random </a:t>
            </a:r>
            <a:r>
              <a:rPr lang="it-IT" dirty="0" err="1"/>
              <a:t>Forest</a:t>
            </a:r>
            <a:r>
              <a:rPr lang="it-IT" dirty="0"/>
              <a:t>.</a:t>
            </a:r>
          </a:p>
        </p:txBody>
      </p:sp>
      <p:sp>
        <p:nvSpPr>
          <p:cNvPr id="4" name="Slide Number Placeholder 3"/>
          <p:cNvSpPr>
            <a:spLocks noGrp="1"/>
          </p:cNvSpPr>
          <p:nvPr>
            <p:ph type="sldNum" sz="quarter" idx="5"/>
          </p:nvPr>
        </p:nvSpPr>
        <p:spPr/>
        <p:txBody>
          <a:bodyPr/>
          <a:lstStyle/>
          <a:p>
            <a:fld id="{21AAABC4-A8CC-1D4E-A9C3-CD427222022D}" type="slidenum">
              <a:rPr lang="it-IT" smtClean="0"/>
              <a:t>28</a:t>
            </a:fld>
            <a:endParaRPr lang="it-IT"/>
          </a:p>
        </p:txBody>
      </p:sp>
    </p:spTree>
    <p:extLst>
      <p:ext uri="{BB962C8B-B14F-4D97-AF65-F5344CB8AC3E}">
        <p14:creationId xmlns:p14="http://schemas.microsoft.com/office/powerpoint/2010/main" val="4288979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**Class-wise </a:t>
            </a:r>
            <a:r>
              <a:rPr lang="it-IT" dirty="0" err="1"/>
              <a:t>medians</a:t>
            </a:r>
            <a:r>
              <a:rPr lang="it-IT" dirty="0"/>
              <a:t> (</a:t>
            </a:r>
            <a:r>
              <a:rPr lang="it-IT" dirty="0" err="1"/>
              <a:t>continuous</a:t>
            </a:r>
            <a:r>
              <a:rPr lang="it-IT" dirty="0"/>
              <a:t> </a:t>
            </a:r>
            <a:r>
              <a:rPr lang="it-IT" dirty="0" err="1"/>
              <a:t>predictors</a:t>
            </a:r>
            <a:r>
              <a:rPr lang="it-IT" dirty="0"/>
              <a:t>):**</a:t>
            </a:r>
          </a:p>
          <a:p>
            <a:r>
              <a:rPr lang="it-IT" dirty="0"/>
              <a:t>- **</a:t>
            </a:r>
            <a:r>
              <a:rPr lang="it-IT" dirty="0" err="1"/>
              <a:t>Elevation</a:t>
            </a:r>
            <a:r>
              <a:rPr lang="it-IT" dirty="0"/>
              <a:t>:** </a:t>
            </a:r>
            <a:r>
              <a:rPr lang="it-IT" dirty="0" err="1"/>
              <a:t>burned</a:t>
            </a:r>
            <a:r>
              <a:rPr lang="it-IT" dirty="0"/>
              <a:t> 467 m vs </a:t>
            </a:r>
            <a:r>
              <a:rPr lang="it-IT" dirty="0" err="1"/>
              <a:t>unburned</a:t>
            </a:r>
            <a:r>
              <a:rPr lang="it-IT" dirty="0"/>
              <a:t> 565 m — </a:t>
            </a:r>
            <a:r>
              <a:rPr lang="it-IT" dirty="0" err="1"/>
              <a:t>fires</a:t>
            </a:r>
            <a:r>
              <a:rPr lang="it-IT" dirty="0"/>
              <a:t> concentrate </a:t>
            </a:r>
            <a:r>
              <a:rPr lang="it-IT" dirty="0" err="1"/>
              <a:t>lower</a:t>
            </a:r>
            <a:r>
              <a:rPr lang="it-IT" dirty="0"/>
              <a:t> in the </a:t>
            </a:r>
            <a:r>
              <a:rPr lang="it-IT" dirty="0" err="1"/>
              <a:t>landscape</a:t>
            </a:r>
            <a:endParaRPr lang="it-IT" dirty="0"/>
          </a:p>
          <a:p>
            <a:r>
              <a:rPr lang="it-IT" dirty="0"/>
              <a:t>- **</a:t>
            </a:r>
            <a:r>
              <a:rPr lang="it-IT" dirty="0" err="1"/>
              <a:t>Slope</a:t>
            </a:r>
            <a:r>
              <a:rPr lang="it-IT" dirty="0"/>
              <a:t>:** 21.3° vs 18.8° — </a:t>
            </a:r>
            <a:r>
              <a:rPr lang="it-IT" dirty="0" err="1"/>
              <a:t>burned</a:t>
            </a:r>
            <a:r>
              <a:rPr lang="it-IT" dirty="0"/>
              <a:t> pixels </a:t>
            </a:r>
            <a:r>
              <a:rPr lang="it-IT" dirty="0" err="1"/>
              <a:t>sit</a:t>
            </a:r>
            <a:r>
              <a:rPr lang="it-IT" dirty="0"/>
              <a:t> on </a:t>
            </a:r>
            <a:r>
              <a:rPr lang="it-IT" dirty="0" err="1"/>
              <a:t>steeper</a:t>
            </a:r>
            <a:r>
              <a:rPr lang="it-IT" dirty="0"/>
              <a:t> </a:t>
            </a:r>
            <a:r>
              <a:rPr lang="it-IT" dirty="0" err="1"/>
              <a:t>terrain</a:t>
            </a:r>
            <a:endParaRPr lang="it-IT" dirty="0"/>
          </a:p>
          <a:p>
            <a:r>
              <a:rPr lang="it-IT" dirty="0"/>
              <a:t>- **</a:t>
            </a:r>
            <a:r>
              <a:rPr lang="it-IT" dirty="0" err="1"/>
              <a:t>Aspect</a:t>
            </a:r>
            <a:r>
              <a:rPr lang="it-IT" dirty="0"/>
              <a:t> </a:t>
            </a:r>
            <a:r>
              <a:rPr lang="it-IT" dirty="0" err="1"/>
              <a:t>northness</a:t>
            </a:r>
            <a:r>
              <a:rPr lang="it-IT" dirty="0"/>
              <a:t>:** −0.56 vs 0.00 — </a:t>
            </a:r>
            <a:r>
              <a:rPr lang="it-IT" dirty="0" err="1"/>
              <a:t>burned</a:t>
            </a:r>
            <a:r>
              <a:rPr lang="it-IT" dirty="0"/>
              <a:t> pixels </a:t>
            </a:r>
            <a:r>
              <a:rPr lang="it-IT" dirty="0" err="1"/>
              <a:t>strongly</a:t>
            </a:r>
            <a:r>
              <a:rPr lang="it-IT" dirty="0"/>
              <a:t> south-</a:t>
            </a:r>
            <a:r>
              <a:rPr lang="it-IT" dirty="0" err="1"/>
              <a:t>facing</a:t>
            </a:r>
            <a:endParaRPr lang="it-IT" dirty="0"/>
          </a:p>
          <a:p>
            <a:r>
              <a:rPr lang="it-IT" dirty="0"/>
              <a:t>- **</a:t>
            </a:r>
            <a:r>
              <a:rPr lang="it-IT" dirty="0" err="1"/>
              <a:t>Aspect</a:t>
            </a:r>
            <a:r>
              <a:rPr lang="it-IT" dirty="0"/>
              <a:t> </a:t>
            </a:r>
            <a:r>
              <a:rPr lang="it-IT" dirty="0" err="1"/>
              <a:t>eastness</a:t>
            </a:r>
            <a:r>
              <a:rPr lang="it-IT" dirty="0"/>
              <a:t>:** 0.16 vs 0.00 — small </a:t>
            </a:r>
            <a:r>
              <a:rPr lang="it-IT" dirty="0" err="1"/>
              <a:t>eastward</a:t>
            </a:r>
            <a:r>
              <a:rPr lang="it-IT" dirty="0"/>
              <a:t> tilt</a:t>
            </a:r>
          </a:p>
          <a:p>
            <a:r>
              <a:rPr lang="it-IT" dirty="0"/>
              <a:t>- **</a:t>
            </a:r>
            <a:r>
              <a:rPr lang="it-IT" dirty="0" err="1"/>
              <a:t>Distance</a:t>
            </a:r>
            <a:r>
              <a:rPr lang="it-IT" dirty="0"/>
              <a:t> to urban/roads:** </a:t>
            </a:r>
            <a:r>
              <a:rPr lang="it-IT" dirty="0" err="1"/>
              <a:t>essentially</a:t>
            </a:r>
            <a:r>
              <a:rPr lang="it-IT" dirty="0"/>
              <a:t> </a:t>
            </a:r>
            <a:r>
              <a:rPr lang="it-IT" dirty="0" err="1"/>
              <a:t>identical</a:t>
            </a:r>
            <a:r>
              <a:rPr lang="it-IT" dirty="0"/>
              <a:t> — </a:t>
            </a:r>
            <a:r>
              <a:rPr lang="it-IT" dirty="0" err="1"/>
              <a:t>accessibility</a:t>
            </a:r>
            <a:r>
              <a:rPr lang="it-IT" dirty="0"/>
              <a:t> alone </a:t>
            </a:r>
            <a:r>
              <a:rPr lang="it-IT" dirty="0" err="1"/>
              <a:t>doesn't</a:t>
            </a:r>
            <a:r>
              <a:rPr lang="it-IT" dirty="0"/>
              <a:t> separate classes</a:t>
            </a:r>
          </a:p>
          <a:p>
            <a:endParaRPr lang="it-IT" dirty="0"/>
          </a:p>
          <a:p>
            <a:r>
              <a:rPr lang="it-IT" dirty="0"/>
              <a:t>**Takeaway:** </a:t>
            </a:r>
            <a:r>
              <a:rPr lang="it-IT" dirty="0" err="1"/>
              <a:t>Terrain</a:t>
            </a:r>
            <a:r>
              <a:rPr lang="it-IT" dirty="0"/>
              <a:t> (</a:t>
            </a:r>
            <a:r>
              <a:rPr lang="it-IT" dirty="0" err="1"/>
              <a:t>elevation</a:t>
            </a:r>
            <a:r>
              <a:rPr lang="it-IT" dirty="0"/>
              <a:t>, </a:t>
            </a:r>
            <a:r>
              <a:rPr lang="it-IT" dirty="0" err="1"/>
              <a:t>slope</a:t>
            </a:r>
            <a:r>
              <a:rPr lang="it-IT" dirty="0"/>
              <a:t>, </a:t>
            </a:r>
            <a:r>
              <a:rPr lang="it-IT" dirty="0" err="1"/>
              <a:t>aspect</a:t>
            </a:r>
            <a:r>
              <a:rPr lang="it-IT" dirty="0"/>
              <a:t>) </a:t>
            </a:r>
            <a:r>
              <a:rPr lang="it-IT" dirty="0" err="1"/>
              <a:t>carries</a:t>
            </a:r>
            <a:r>
              <a:rPr lang="it-IT" dirty="0"/>
              <a:t> clear discriminative </a:t>
            </a:r>
            <a:r>
              <a:rPr lang="it-IT" dirty="0" err="1"/>
              <a:t>signal</a:t>
            </a:r>
            <a:r>
              <a:rPr lang="it-IT" dirty="0"/>
              <a:t>; </a:t>
            </a:r>
            <a:r>
              <a:rPr lang="it-IT" dirty="0" err="1"/>
              <a:t>distance</a:t>
            </a:r>
            <a:r>
              <a:rPr lang="it-IT" dirty="0"/>
              <a:t> features </a:t>
            </a:r>
            <a:r>
              <a:rPr lang="it-IT" dirty="0" err="1"/>
              <a:t>carry</a:t>
            </a:r>
            <a:r>
              <a:rPr lang="it-IT" dirty="0"/>
              <a:t> </a:t>
            </a:r>
            <a:r>
              <a:rPr lang="it-IT" dirty="0" err="1"/>
              <a:t>almost</a:t>
            </a:r>
            <a:r>
              <a:rPr lang="it-IT" dirty="0"/>
              <a:t> none.</a:t>
            </a:r>
          </a:p>
          <a:p>
            <a:endParaRPr lang="it-IT" dirty="0"/>
          </a:p>
          <a:p>
            <a:r>
              <a:rPr lang="it-IT" dirty="0"/>
              <a:t>---</a:t>
            </a:r>
          </a:p>
        </p:txBody>
      </p:sp>
      <p:sp>
        <p:nvSpPr>
          <p:cNvPr id="4" name="Slide Number Placeholder 3"/>
          <p:cNvSpPr>
            <a:spLocks noGrp="1"/>
          </p:cNvSpPr>
          <p:nvPr>
            <p:ph type="sldNum" sz="quarter" idx="5"/>
          </p:nvPr>
        </p:nvSpPr>
        <p:spPr/>
        <p:txBody>
          <a:bodyPr/>
          <a:lstStyle/>
          <a:p>
            <a:fld id="{21AAABC4-A8CC-1D4E-A9C3-CD427222022D}" type="slidenum">
              <a:rPr lang="it-IT" smtClean="0"/>
              <a:t>29</a:t>
            </a:fld>
            <a:endParaRPr lang="it-IT"/>
          </a:p>
        </p:txBody>
      </p:sp>
    </p:spTree>
    <p:extLst>
      <p:ext uri="{BB962C8B-B14F-4D97-AF65-F5344CB8AC3E}">
        <p14:creationId xmlns:p14="http://schemas.microsoft.com/office/powerpoint/2010/main" val="12519874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a:t>
            </a:r>
            <a:r>
              <a:rPr lang="it-IT" dirty="0" err="1"/>
              <a:t>Strongly</a:t>
            </a:r>
            <a:r>
              <a:rPr lang="it-IT" dirty="0"/>
              <a:t> over-</a:t>
            </a:r>
            <a:r>
              <a:rPr lang="it-IT" dirty="0" err="1"/>
              <a:t>represented</a:t>
            </a:r>
            <a:r>
              <a:rPr lang="it-IT" dirty="0"/>
              <a:t> in </a:t>
            </a:r>
            <a:r>
              <a:rPr lang="it-IT" dirty="0" err="1"/>
              <a:t>burned</a:t>
            </a:r>
            <a:r>
              <a:rPr lang="it-IT" dirty="0"/>
              <a:t> pixels:**</a:t>
            </a:r>
          </a:p>
          <a:p>
            <a:r>
              <a:rPr lang="it-IT" dirty="0"/>
              <a:t>- </a:t>
            </a:r>
            <a:r>
              <a:rPr lang="it-IT" dirty="0" err="1"/>
              <a:t>Mediterranean</a:t>
            </a:r>
            <a:r>
              <a:rPr lang="it-IT" dirty="0"/>
              <a:t> evergreen scrub: 18.7% </a:t>
            </a:r>
            <a:r>
              <a:rPr lang="it-IT" dirty="0" err="1"/>
              <a:t>burned</a:t>
            </a:r>
            <a:r>
              <a:rPr lang="it-IT" dirty="0"/>
              <a:t> vs 1.7% </a:t>
            </a:r>
            <a:r>
              <a:rPr lang="it-IT" dirty="0" err="1"/>
              <a:t>unburned</a:t>
            </a:r>
            <a:r>
              <a:rPr lang="it-IT" dirty="0"/>
              <a:t> (~11× </a:t>
            </a:r>
            <a:r>
              <a:rPr lang="it-IT" dirty="0" err="1"/>
              <a:t>enrichment</a:t>
            </a:r>
            <a:r>
              <a:rPr lang="it-IT" dirty="0"/>
              <a:t>)</a:t>
            </a:r>
          </a:p>
          <a:p>
            <a:r>
              <a:rPr lang="it-IT" dirty="0"/>
              <a:t>- </a:t>
            </a:r>
            <a:r>
              <a:rPr lang="it-IT" dirty="0" err="1"/>
              <a:t>Shrubland</a:t>
            </a:r>
            <a:r>
              <a:rPr lang="it-IT" dirty="0"/>
              <a:t> and scrub: 13.3% vs 2.8% (~5×)</a:t>
            </a:r>
          </a:p>
          <a:p>
            <a:r>
              <a:rPr lang="it-IT" dirty="0"/>
              <a:t>- Warm-</a:t>
            </a:r>
            <a:r>
              <a:rPr lang="it-IT" dirty="0" err="1"/>
              <a:t>climate</a:t>
            </a:r>
            <a:r>
              <a:rPr lang="it-IT" dirty="0"/>
              <a:t> mixed </a:t>
            </a:r>
            <a:r>
              <a:rPr lang="it-IT" dirty="0" err="1"/>
              <a:t>forest</a:t>
            </a:r>
            <a:r>
              <a:rPr lang="it-IT" dirty="0"/>
              <a:t>: 21.0% vs 15.9% (moderate)</a:t>
            </a:r>
          </a:p>
          <a:p>
            <a:endParaRPr lang="it-IT" dirty="0"/>
          </a:p>
          <a:p>
            <a:r>
              <a:rPr lang="it-IT" dirty="0"/>
              <a:t>**Under-</a:t>
            </a:r>
            <a:r>
              <a:rPr lang="it-IT" dirty="0" err="1"/>
              <a:t>represented</a:t>
            </a:r>
            <a:r>
              <a:rPr lang="it-IT" dirty="0"/>
              <a:t> in </a:t>
            </a:r>
            <a:r>
              <a:rPr lang="it-IT" dirty="0" err="1"/>
              <a:t>burned</a:t>
            </a:r>
            <a:r>
              <a:rPr lang="it-IT" dirty="0"/>
              <a:t> pixels:**</a:t>
            </a:r>
          </a:p>
          <a:p>
            <a:r>
              <a:rPr lang="it-IT" dirty="0"/>
              <a:t>- </a:t>
            </a:r>
            <a:r>
              <a:rPr lang="it-IT" dirty="0" err="1"/>
              <a:t>Chestnut</a:t>
            </a:r>
            <a:r>
              <a:rPr lang="it-IT" dirty="0"/>
              <a:t> </a:t>
            </a:r>
            <a:r>
              <a:rPr lang="it-IT" dirty="0" err="1"/>
              <a:t>forest</a:t>
            </a:r>
            <a:r>
              <a:rPr lang="it-IT" dirty="0"/>
              <a:t>: 10.7% </a:t>
            </a:r>
            <a:r>
              <a:rPr lang="it-IT" dirty="0" err="1"/>
              <a:t>burned</a:t>
            </a:r>
            <a:r>
              <a:rPr lang="it-IT" dirty="0"/>
              <a:t> vs 26.7% </a:t>
            </a:r>
            <a:r>
              <a:rPr lang="it-IT" dirty="0" err="1"/>
              <a:t>unburned</a:t>
            </a:r>
            <a:endParaRPr lang="it-IT" dirty="0"/>
          </a:p>
          <a:p>
            <a:r>
              <a:rPr lang="it-IT" dirty="0"/>
              <a:t>- </a:t>
            </a:r>
            <a:r>
              <a:rPr lang="it-IT" dirty="0" err="1"/>
              <a:t>Moist-climate</a:t>
            </a:r>
            <a:r>
              <a:rPr lang="it-IT" dirty="0"/>
              <a:t> mixed </a:t>
            </a:r>
            <a:r>
              <a:rPr lang="it-IT" dirty="0" err="1"/>
              <a:t>forest</a:t>
            </a:r>
            <a:r>
              <a:rPr lang="it-IT" dirty="0"/>
              <a:t>: 4.5% vs 12.4%</a:t>
            </a:r>
          </a:p>
          <a:p>
            <a:endParaRPr lang="it-IT" dirty="0"/>
          </a:p>
          <a:p>
            <a:r>
              <a:rPr lang="it-IT" dirty="0"/>
              <a:t>One-hot </a:t>
            </a:r>
            <a:r>
              <a:rPr lang="it-IT" dirty="0" err="1"/>
              <a:t>encoding</a:t>
            </a:r>
            <a:r>
              <a:rPr lang="it-IT" dirty="0"/>
              <a:t> </a:t>
            </a:r>
            <a:r>
              <a:rPr lang="it-IT" dirty="0" err="1"/>
              <a:t>produces</a:t>
            </a:r>
            <a:r>
              <a:rPr lang="it-IT" dirty="0"/>
              <a:t> 12 </a:t>
            </a:r>
            <a:r>
              <a:rPr lang="it-IT" dirty="0" err="1"/>
              <a:t>vegetation</a:t>
            </a:r>
            <a:r>
              <a:rPr lang="it-IT" dirty="0"/>
              <a:t> </a:t>
            </a:r>
            <a:r>
              <a:rPr lang="it-IT" dirty="0" err="1"/>
              <a:t>columns</a:t>
            </a:r>
            <a:r>
              <a:rPr lang="it-IT" dirty="0"/>
              <a:t> → 18-column feature </a:t>
            </a:r>
            <a:r>
              <a:rPr lang="it-IT" dirty="0" err="1"/>
              <a:t>matrix</a:t>
            </a:r>
            <a:r>
              <a:rPr lang="it-IT" dirty="0"/>
              <a:t> </a:t>
            </a:r>
            <a:r>
              <a:rPr lang="it-IT" dirty="0" err="1"/>
              <a:t>total</a:t>
            </a:r>
            <a:r>
              <a:rPr lang="it-IT" dirty="0"/>
              <a:t>. The model </a:t>
            </a:r>
            <a:r>
              <a:rPr lang="it-IT" dirty="0" err="1"/>
              <a:t>learns</a:t>
            </a:r>
            <a:r>
              <a:rPr lang="it-IT" dirty="0"/>
              <a:t> class-</a:t>
            </a:r>
            <a:r>
              <a:rPr lang="it-IT" dirty="0" err="1"/>
              <a:t>specific</a:t>
            </a:r>
            <a:r>
              <a:rPr lang="it-IT" dirty="0"/>
              <a:t> </a:t>
            </a:r>
            <a:r>
              <a:rPr lang="it-IT" dirty="0" err="1"/>
              <a:t>fire</a:t>
            </a:r>
            <a:r>
              <a:rPr lang="it-IT" dirty="0"/>
              <a:t> </a:t>
            </a:r>
            <a:r>
              <a:rPr lang="it-IT" dirty="0" err="1"/>
              <a:t>propensity</a:t>
            </a:r>
            <a:r>
              <a:rPr lang="it-IT" dirty="0"/>
              <a:t> </a:t>
            </a:r>
            <a:r>
              <a:rPr lang="it-IT" dirty="0" err="1"/>
              <a:t>rather</a:t>
            </a:r>
            <a:r>
              <a:rPr lang="it-IT" dirty="0"/>
              <a:t> </a:t>
            </a:r>
            <a:r>
              <a:rPr lang="it-IT" dirty="0" err="1"/>
              <a:t>than</a:t>
            </a:r>
            <a:r>
              <a:rPr lang="it-IT" dirty="0"/>
              <a:t> a </a:t>
            </a:r>
            <a:r>
              <a:rPr lang="it-IT" dirty="0" err="1"/>
              <a:t>numeric</a:t>
            </a:r>
            <a:r>
              <a:rPr lang="it-IT" dirty="0"/>
              <a:t> </a:t>
            </a:r>
            <a:r>
              <a:rPr lang="it-IT" dirty="0" err="1"/>
              <a:t>ordering</a:t>
            </a:r>
            <a:r>
              <a:rPr lang="it-IT" dirty="0"/>
              <a:t>.</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30</a:t>
            </a:fld>
            <a:endParaRPr lang="it-IT"/>
          </a:p>
        </p:txBody>
      </p:sp>
    </p:spTree>
    <p:extLst>
      <p:ext uri="{BB962C8B-B14F-4D97-AF65-F5344CB8AC3E}">
        <p14:creationId xmlns:p14="http://schemas.microsoft.com/office/powerpoint/2010/main" val="40240806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**The features </a:t>
            </a:r>
            <a:r>
              <a:rPr lang="it-IT" dirty="0" err="1"/>
              <a:t>carry</a:t>
            </a:r>
            <a:r>
              <a:rPr lang="it-IT" dirty="0"/>
              <a:t> a </a:t>
            </a:r>
            <a:r>
              <a:rPr lang="it-IT" dirty="0" err="1"/>
              <a:t>real</a:t>
            </a:r>
            <a:r>
              <a:rPr lang="it-IT" dirty="0"/>
              <a:t> </a:t>
            </a:r>
            <a:r>
              <a:rPr lang="it-IT" dirty="0" err="1"/>
              <a:t>signal</a:t>
            </a:r>
            <a:r>
              <a:rPr lang="it-IT" dirty="0"/>
              <a:t>:**</a:t>
            </a:r>
          </a:p>
          <a:p>
            <a:r>
              <a:rPr lang="it-IT" dirty="0"/>
              <a:t>- </a:t>
            </a:r>
            <a:r>
              <a:rPr lang="it-IT" dirty="0" err="1"/>
              <a:t>Terrain</a:t>
            </a:r>
            <a:r>
              <a:rPr lang="it-IT" dirty="0"/>
              <a:t> </a:t>
            </a:r>
            <a:r>
              <a:rPr lang="it-IT" dirty="0" err="1"/>
              <a:t>separates</a:t>
            </a:r>
            <a:r>
              <a:rPr lang="it-IT" dirty="0"/>
              <a:t> classes: </a:t>
            </a:r>
            <a:r>
              <a:rPr lang="it-IT" dirty="0" err="1"/>
              <a:t>lower</a:t>
            </a:r>
            <a:r>
              <a:rPr lang="it-IT" dirty="0"/>
              <a:t>, </a:t>
            </a:r>
            <a:r>
              <a:rPr lang="it-IT" dirty="0" err="1"/>
              <a:t>steeper</a:t>
            </a:r>
            <a:r>
              <a:rPr lang="it-IT" dirty="0"/>
              <a:t>, south-</a:t>
            </a:r>
            <a:r>
              <a:rPr lang="it-IT" dirty="0" err="1"/>
              <a:t>facing</a:t>
            </a:r>
            <a:r>
              <a:rPr lang="it-IT" dirty="0"/>
              <a:t> pixels more </a:t>
            </a:r>
            <a:r>
              <a:rPr lang="it-IT" dirty="0" err="1"/>
              <a:t>likely</a:t>
            </a:r>
            <a:r>
              <a:rPr lang="it-IT" dirty="0"/>
              <a:t> to </a:t>
            </a:r>
            <a:r>
              <a:rPr lang="it-IT" dirty="0" err="1"/>
              <a:t>have</a:t>
            </a:r>
            <a:r>
              <a:rPr lang="it-IT" dirty="0"/>
              <a:t> </a:t>
            </a:r>
            <a:r>
              <a:rPr lang="it-IT" dirty="0" err="1"/>
              <a:t>burned</a:t>
            </a:r>
            <a:endParaRPr lang="it-IT" dirty="0"/>
          </a:p>
          <a:p>
            <a:r>
              <a:rPr lang="it-IT" dirty="0"/>
              <a:t>- </a:t>
            </a:r>
            <a:r>
              <a:rPr lang="it-IT" dirty="0" err="1"/>
              <a:t>Vegetation</a:t>
            </a:r>
            <a:r>
              <a:rPr lang="it-IT" dirty="0"/>
              <a:t> </a:t>
            </a:r>
            <a:r>
              <a:rPr lang="it-IT" dirty="0" err="1"/>
              <a:t>is</a:t>
            </a:r>
            <a:r>
              <a:rPr lang="it-IT" dirty="0"/>
              <a:t> the </a:t>
            </a:r>
            <a:r>
              <a:rPr lang="it-IT" dirty="0" err="1"/>
              <a:t>strongest</a:t>
            </a:r>
            <a:r>
              <a:rPr lang="it-IT" dirty="0"/>
              <a:t> single discriminator: scrub and </a:t>
            </a:r>
            <a:r>
              <a:rPr lang="it-IT" dirty="0" err="1"/>
              <a:t>Mediterranean</a:t>
            </a:r>
            <a:r>
              <a:rPr lang="it-IT" dirty="0"/>
              <a:t> classes burn far </a:t>
            </a:r>
            <a:r>
              <a:rPr lang="it-IT" dirty="0" err="1"/>
              <a:t>above</a:t>
            </a:r>
            <a:r>
              <a:rPr lang="it-IT" dirty="0"/>
              <a:t> base rate</a:t>
            </a:r>
          </a:p>
          <a:p>
            <a:endParaRPr lang="it-IT" dirty="0"/>
          </a:p>
          <a:p>
            <a:r>
              <a:rPr lang="it-IT" dirty="0"/>
              <a:t>**But no single feature </a:t>
            </a:r>
            <a:r>
              <a:rPr lang="it-IT" dirty="0" err="1"/>
              <a:t>is</a:t>
            </a:r>
            <a:r>
              <a:rPr lang="it-IT" dirty="0"/>
              <a:t> </a:t>
            </a:r>
            <a:r>
              <a:rPr lang="it-IT" dirty="0" err="1"/>
              <a:t>enough</a:t>
            </a:r>
            <a:r>
              <a:rPr lang="it-IT" dirty="0"/>
              <a:t>:**</a:t>
            </a:r>
          </a:p>
          <a:p>
            <a:r>
              <a:rPr lang="it-IT" dirty="0"/>
              <a:t>- </a:t>
            </a:r>
            <a:r>
              <a:rPr lang="it-IT" dirty="0" err="1"/>
              <a:t>Distributions</a:t>
            </a:r>
            <a:r>
              <a:rPr lang="it-IT" dirty="0"/>
              <a:t> </a:t>
            </a:r>
            <a:r>
              <a:rPr lang="it-IT" dirty="0" err="1"/>
              <a:t>overlap</a:t>
            </a:r>
            <a:r>
              <a:rPr lang="it-IT" dirty="0"/>
              <a:t> </a:t>
            </a:r>
            <a:r>
              <a:rPr lang="it-IT" dirty="0" err="1"/>
              <a:t>heavily</a:t>
            </a:r>
            <a:r>
              <a:rPr lang="it-IT" dirty="0"/>
              <a:t> for </a:t>
            </a:r>
            <a:r>
              <a:rPr lang="it-IT" dirty="0" err="1"/>
              <a:t>each</a:t>
            </a:r>
            <a:r>
              <a:rPr lang="it-IT" dirty="0"/>
              <a:t> </a:t>
            </a:r>
            <a:r>
              <a:rPr lang="it-IT" dirty="0" err="1"/>
              <a:t>individual</a:t>
            </a:r>
            <a:r>
              <a:rPr lang="it-IT" dirty="0"/>
              <a:t> </a:t>
            </a:r>
            <a:r>
              <a:rPr lang="it-IT" dirty="0" err="1"/>
              <a:t>predictor</a:t>
            </a:r>
            <a:endParaRPr lang="it-IT" dirty="0"/>
          </a:p>
          <a:p>
            <a:r>
              <a:rPr lang="it-IT" dirty="0"/>
              <a:t>- The model </a:t>
            </a:r>
            <a:r>
              <a:rPr lang="it-IT" dirty="0" err="1"/>
              <a:t>needs</a:t>
            </a:r>
            <a:r>
              <a:rPr lang="it-IT" dirty="0"/>
              <a:t> to combine </a:t>
            </a:r>
            <a:r>
              <a:rPr lang="it-IT" dirty="0" err="1"/>
              <a:t>terrain</a:t>
            </a:r>
            <a:r>
              <a:rPr lang="it-IT" dirty="0"/>
              <a:t> AND </a:t>
            </a:r>
            <a:r>
              <a:rPr lang="it-IT" dirty="0" err="1"/>
              <a:t>vegetation</a:t>
            </a:r>
            <a:endParaRPr lang="it-IT" dirty="0"/>
          </a:p>
          <a:p>
            <a:endParaRPr lang="it-IT" dirty="0"/>
          </a:p>
          <a:p>
            <a:r>
              <a:rPr lang="it-IT" dirty="0"/>
              <a:t>**</a:t>
            </a:r>
            <a:r>
              <a:rPr lang="it-IT" dirty="0" err="1"/>
              <a:t>Caveats</a:t>
            </a:r>
            <a:r>
              <a:rPr lang="it-IT" dirty="0"/>
              <a:t>:**</a:t>
            </a:r>
          </a:p>
          <a:p>
            <a:r>
              <a:rPr lang="it-IT" dirty="0"/>
              <a:t>- </a:t>
            </a:r>
            <a:r>
              <a:rPr lang="it-IT" dirty="0" err="1"/>
              <a:t>Contrasts</a:t>
            </a:r>
            <a:r>
              <a:rPr lang="it-IT" dirty="0"/>
              <a:t> are vs </a:t>
            </a:r>
            <a:r>
              <a:rPr lang="it-IT" dirty="0" err="1"/>
              <a:t>sampled</a:t>
            </a:r>
            <a:r>
              <a:rPr lang="it-IT" dirty="0"/>
              <a:t> pseudo-</a:t>
            </a:r>
            <a:r>
              <a:rPr lang="it-IT" dirty="0" err="1"/>
              <a:t>absences</a:t>
            </a:r>
            <a:r>
              <a:rPr lang="it-IT" dirty="0"/>
              <a:t>, </a:t>
            </a:r>
            <a:r>
              <a:rPr lang="it-IT" dirty="0" err="1"/>
              <a:t>not</a:t>
            </a:r>
            <a:r>
              <a:rPr lang="it-IT" dirty="0"/>
              <a:t> the </a:t>
            </a:r>
            <a:r>
              <a:rPr lang="it-IT" dirty="0" err="1"/>
              <a:t>true</a:t>
            </a:r>
            <a:r>
              <a:rPr lang="it-IT" dirty="0"/>
              <a:t> </a:t>
            </a:r>
            <a:r>
              <a:rPr lang="it-IT" dirty="0" err="1"/>
              <a:t>landscape</a:t>
            </a:r>
            <a:endParaRPr lang="it-IT" dirty="0"/>
          </a:p>
          <a:p>
            <a:r>
              <a:rPr lang="it-IT" dirty="0"/>
              <a:t>- </a:t>
            </a:r>
            <a:r>
              <a:rPr lang="it-IT" dirty="0" err="1"/>
              <a:t>Spatial</a:t>
            </a:r>
            <a:r>
              <a:rPr lang="it-IT" dirty="0"/>
              <a:t> </a:t>
            </a:r>
            <a:r>
              <a:rPr lang="it-IT" dirty="0" err="1"/>
              <a:t>autocorrelation</a:t>
            </a:r>
            <a:r>
              <a:rPr lang="it-IT" dirty="0"/>
              <a:t> </a:t>
            </a:r>
            <a:r>
              <a:rPr lang="it-IT" dirty="0" err="1"/>
              <a:t>means</a:t>
            </a:r>
            <a:r>
              <a:rPr lang="it-IT" dirty="0"/>
              <a:t> </a:t>
            </a:r>
            <a:r>
              <a:rPr lang="it-IT" dirty="0" err="1"/>
              <a:t>nearby</a:t>
            </a:r>
            <a:r>
              <a:rPr lang="it-IT" dirty="0"/>
              <a:t> pixels are </a:t>
            </a:r>
            <a:r>
              <a:rPr lang="it-IT" dirty="0" err="1"/>
              <a:t>not</a:t>
            </a:r>
            <a:r>
              <a:rPr lang="it-IT" dirty="0"/>
              <a:t> </a:t>
            </a:r>
            <a:r>
              <a:rPr lang="it-IT" dirty="0" err="1"/>
              <a:t>independent</a:t>
            </a:r>
            <a:r>
              <a:rPr lang="it-IT" dirty="0"/>
              <a:t> — random </a:t>
            </a:r>
            <a:r>
              <a:rPr lang="it-IT" dirty="0" err="1"/>
              <a:t>splits</a:t>
            </a:r>
            <a:r>
              <a:rPr lang="it-IT" dirty="0"/>
              <a:t> </a:t>
            </a:r>
            <a:r>
              <a:rPr lang="it-IT" dirty="0" err="1"/>
              <a:t>will</a:t>
            </a:r>
            <a:r>
              <a:rPr lang="it-IT" dirty="0"/>
              <a:t> look </a:t>
            </a:r>
            <a:r>
              <a:rPr lang="it-IT" dirty="0" err="1"/>
              <a:t>optimistic</a:t>
            </a:r>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31</a:t>
            </a:fld>
            <a:endParaRPr lang="it-IT"/>
          </a:p>
        </p:txBody>
      </p:sp>
    </p:spTree>
    <p:extLst>
      <p:ext uri="{BB962C8B-B14F-4D97-AF65-F5344CB8AC3E}">
        <p14:creationId xmlns:p14="http://schemas.microsoft.com/office/powerpoint/2010/main" val="23404171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*"Pseudo-</a:t>
            </a:r>
            <a:r>
              <a:rPr lang="it-IT" dirty="0" err="1"/>
              <a:t>absences</a:t>
            </a:r>
            <a:r>
              <a:rPr lang="it-IT" dirty="0"/>
              <a:t> are </a:t>
            </a:r>
            <a:r>
              <a:rPr lang="it-IT" dirty="0" err="1"/>
              <a:t>necessary</a:t>
            </a:r>
            <a:r>
              <a:rPr lang="it-IT" dirty="0"/>
              <a:t> </a:t>
            </a:r>
            <a:r>
              <a:rPr lang="it-IT" dirty="0" err="1"/>
              <a:t>when</a:t>
            </a:r>
            <a:r>
              <a:rPr lang="it-IT" dirty="0"/>
              <a:t> </a:t>
            </a:r>
            <a:r>
              <a:rPr lang="it-IT" dirty="0" err="1"/>
              <a:t>you</a:t>
            </a:r>
            <a:r>
              <a:rPr lang="it-IT" dirty="0"/>
              <a:t> </a:t>
            </a:r>
            <a:r>
              <a:rPr lang="it-IT" dirty="0" err="1"/>
              <a:t>have</a:t>
            </a:r>
            <a:r>
              <a:rPr lang="it-IT" dirty="0"/>
              <a:t> </a:t>
            </a:r>
            <a:r>
              <a:rPr lang="it-IT" dirty="0" err="1"/>
              <a:t>presence-only</a:t>
            </a:r>
            <a:r>
              <a:rPr lang="it-IT" dirty="0"/>
              <a:t> data."*</a:t>
            </a:r>
          </a:p>
          <a:p>
            <a:endParaRPr lang="it-IT" dirty="0"/>
          </a:p>
          <a:p>
            <a:r>
              <a:rPr lang="it-IT" dirty="0"/>
              <a:t>**The </a:t>
            </a:r>
            <a:r>
              <a:rPr lang="it-IT" dirty="0" err="1"/>
              <a:t>problem</a:t>
            </a:r>
            <a:r>
              <a:rPr lang="it-IT" dirty="0"/>
              <a:t>:**</a:t>
            </a:r>
          </a:p>
          <a:p>
            <a:r>
              <a:rPr lang="it-IT" dirty="0"/>
              <a:t>- </a:t>
            </a:r>
            <a:r>
              <a:rPr lang="it-IT" dirty="0" err="1"/>
              <a:t>We</a:t>
            </a:r>
            <a:r>
              <a:rPr lang="it-IT" dirty="0"/>
              <a:t> know </a:t>
            </a:r>
            <a:r>
              <a:rPr lang="it-IT" dirty="0" err="1"/>
              <a:t>where</a:t>
            </a:r>
            <a:r>
              <a:rPr lang="it-IT" dirty="0"/>
              <a:t> </a:t>
            </a:r>
            <a:r>
              <a:rPr lang="it-IT" dirty="0" err="1"/>
              <a:t>fires</a:t>
            </a:r>
            <a:r>
              <a:rPr lang="it-IT" dirty="0"/>
              <a:t> </a:t>
            </a:r>
            <a:r>
              <a:rPr lang="it-IT" dirty="0" err="1"/>
              <a:t>occurred</a:t>
            </a:r>
            <a:r>
              <a:rPr lang="it-IT" dirty="0"/>
              <a:t> (</a:t>
            </a:r>
            <a:r>
              <a:rPr lang="it-IT" dirty="0" err="1"/>
              <a:t>presence</a:t>
            </a:r>
            <a:r>
              <a:rPr lang="it-IT" dirty="0"/>
              <a:t>)</a:t>
            </a:r>
          </a:p>
          <a:p>
            <a:r>
              <a:rPr lang="it-IT" dirty="0"/>
              <a:t>- True </a:t>
            </a:r>
            <a:r>
              <a:rPr lang="it-IT" dirty="0" err="1"/>
              <a:t>absences</a:t>
            </a:r>
            <a:r>
              <a:rPr lang="it-IT" dirty="0"/>
              <a:t> are </a:t>
            </a:r>
            <a:r>
              <a:rPr lang="it-IT" dirty="0" err="1"/>
              <a:t>unknown</a:t>
            </a:r>
            <a:endParaRPr lang="it-IT" dirty="0"/>
          </a:p>
          <a:p>
            <a:endParaRPr lang="it-IT" dirty="0"/>
          </a:p>
          <a:p>
            <a:r>
              <a:rPr lang="it-IT" dirty="0"/>
              <a:t>**</a:t>
            </a:r>
            <a:r>
              <a:rPr lang="it-IT" dirty="0" err="1"/>
              <a:t>Why</a:t>
            </a:r>
            <a:r>
              <a:rPr lang="it-IT" dirty="0"/>
              <a:t> </a:t>
            </a:r>
            <a:r>
              <a:rPr lang="it-IT" dirty="0" err="1"/>
              <a:t>this</a:t>
            </a:r>
            <a:r>
              <a:rPr lang="it-IT" dirty="0"/>
              <a:t> </a:t>
            </a:r>
            <a:r>
              <a:rPr lang="it-IT" dirty="0" err="1"/>
              <a:t>matters</a:t>
            </a:r>
            <a:r>
              <a:rPr lang="it-IT" dirty="0"/>
              <a:t>:**</a:t>
            </a:r>
          </a:p>
          <a:p>
            <a:r>
              <a:rPr lang="it-IT" dirty="0"/>
              <a:t>- </a:t>
            </a:r>
            <a:r>
              <a:rPr lang="it-IT" dirty="0" err="1"/>
              <a:t>Treating</a:t>
            </a:r>
            <a:r>
              <a:rPr lang="it-IT" dirty="0"/>
              <a:t> </a:t>
            </a:r>
            <a:r>
              <a:rPr lang="it-IT" dirty="0" err="1"/>
              <a:t>all</a:t>
            </a:r>
            <a:r>
              <a:rPr lang="it-IT" dirty="0"/>
              <a:t> </a:t>
            </a:r>
            <a:r>
              <a:rPr lang="it-IT" dirty="0" err="1"/>
              <a:t>unknown</a:t>
            </a:r>
            <a:r>
              <a:rPr lang="it-IT" dirty="0"/>
              <a:t> </a:t>
            </a:r>
            <a:r>
              <a:rPr lang="it-IT" dirty="0" err="1"/>
              <a:t>areas</a:t>
            </a:r>
            <a:r>
              <a:rPr lang="it-IT" dirty="0"/>
              <a:t> </a:t>
            </a:r>
            <a:r>
              <a:rPr lang="it-IT" dirty="0" err="1"/>
              <a:t>as</a:t>
            </a:r>
            <a:r>
              <a:rPr lang="it-IT" dirty="0"/>
              <a:t> </a:t>
            </a:r>
            <a:r>
              <a:rPr lang="it-IT" dirty="0" err="1"/>
              <a:t>absences</a:t>
            </a:r>
            <a:r>
              <a:rPr lang="it-IT" dirty="0"/>
              <a:t> → severe class </a:t>
            </a:r>
            <a:r>
              <a:rPr lang="it-IT" dirty="0" err="1"/>
              <a:t>imbalance</a:t>
            </a:r>
            <a:endParaRPr lang="it-IT" dirty="0"/>
          </a:p>
          <a:p>
            <a:r>
              <a:rPr lang="it-IT" dirty="0"/>
              <a:t>- Model </a:t>
            </a:r>
            <a:r>
              <a:rPr lang="it-IT" dirty="0" err="1"/>
              <a:t>biased</a:t>
            </a:r>
            <a:r>
              <a:rPr lang="it-IT" dirty="0"/>
              <a:t> </a:t>
            </a:r>
            <a:r>
              <a:rPr lang="it-IT" dirty="0" err="1"/>
              <a:t>toward</a:t>
            </a:r>
            <a:r>
              <a:rPr lang="it-IT" dirty="0"/>
              <a:t> easy background </a:t>
            </a:r>
            <a:r>
              <a:rPr lang="it-IT" dirty="0" err="1"/>
              <a:t>areas</a:t>
            </a:r>
            <a:endParaRPr lang="it-IT" dirty="0"/>
          </a:p>
          <a:p>
            <a:r>
              <a:rPr lang="it-IT" dirty="0"/>
              <a:t>- </a:t>
            </a:r>
            <a:r>
              <a:rPr lang="it-IT" dirty="0" err="1"/>
              <a:t>Poor</a:t>
            </a:r>
            <a:r>
              <a:rPr lang="it-IT" dirty="0"/>
              <a:t> </a:t>
            </a:r>
            <a:r>
              <a:rPr lang="it-IT" dirty="0" err="1"/>
              <a:t>generalization</a:t>
            </a:r>
            <a:endParaRPr lang="it-IT" dirty="0"/>
          </a:p>
          <a:p>
            <a:endParaRPr lang="it-IT" dirty="0"/>
          </a:p>
          <a:p>
            <a:r>
              <a:rPr lang="it-IT" dirty="0"/>
              <a:t>**Solution:** Pseudo-</a:t>
            </a:r>
            <a:r>
              <a:rPr lang="it-IT" dirty="0" err="1"/>
              <a:t>absences</a:t>
            </a:r>
            <a:r>
              <a:rPr lang="it-IT" dirty="0"/>
              <a:t> are </a:t>
            </a:r>
            <a:r>
              <a:rPr lang="it-IT" dirty="0" err="1"/>
              <a:t>randomly</a:t>
            </a:r>
            <a:r>
              <a:rPr lang="it-IT" dirty="0"/>
              <a:t> </a:t>
            </a:r>
            <a:r>
              <a:rPr lang="it-IT" dirty="0" err="1"/>
              <a:t>sampled</a:t>
            </a:r>
            <a:r>
              <a:rPr lang="it-IT" dirty="0"/>
              <a:t> from locations </a:t>
            </a:r>
            <a:r>
              <a:rPr lang="it-IT" dirty="0" err="1"/>
              <a:t>where</a:t>
            </a:r>
            <a:r>
              <a:rPr lang="it-IT" dirty="0"/>
              <a:t> </a:t>
            </a:r>
            <a:r>
              <a:rPr lang="it-IT" dirty="0" err="1"/>
              <a:t>fire</a:t>
            </a:r>
            <a:r>
              <a:rPr lang="it-IT" dirty="0"/>
              <a:t> </a:t>
            </a:r>
            <a:r>
              <a:rPr lang="it-IT" dirty="0" err="1"/>
              <a:t>is</a:t>
            </a:r>
            <a:r>
              <a:rPr lang="it-IT" dirty="0"/>
              <a:t> </a:t>
            </a:r>
            <a:r>
              <a:rPr lang="it-IT" dirty="0" err="1"/>
              <a:t>assumed</a:t>
            </a:r>
            <a:r>
              <a:rPr lang="it-IT" dirty="0"/>
              <a:t> </a:t>
            </a:r>
            <a:r>
              <a:rPr lang="it-IT" dirty="0" err="1"/>
              <a:t>not</a:t>
            </a:r>
            <a:r>
              <a:rPr lang="it-IT" dirty="0"/>
              <a:t> to </a:t>
            </a:r>
            <a:r>
              <a:rPr lang="it-IT" dirty="0" err="1"/>
              <a:t>occur</a:t>
            </a:r>
            <a:r>
              <a:rPr lang="it-IT" dirty="0"/>
              <a:t>, </a:t>
            </a:r>
            <a:r>
              <a:rPr lang="it-IT" dirty="0" err="1"/>
              <a:t>typically</a:t>
            </a:r>
            <a:r>
              <a:rPr lang="it-IT" dirty="0"/>
              <a:t> in a 1:1 ratio with </a:t>
            </a:r>
            <a:r>
              <a:rPr lang="it-IT" dirty="0" err="1"/>
              <a:t>presences</a:t>
            </a:r>
            <a:r>
              <a:rPr lang="it-IT" dirty="0"/>
              <a:t>.</a:t>
            </a:r>
          </a:p>
          <a:p>
            <a:endParaRPr lang="it-IT" dirty="0"/>
          </a:p>
          <a:p>
            <a:r>
              <a:rPr lang="it-IT" dirty="0"/>
              <a:t>&gt; *"Pseudo-</a:t>
            </a:r>
            <a:r>
              <a:rPr lang="it-IT" dirty="0" err="1"/>
              <a:t>absences</a:t>
            </a:r>
            <a:r>
              <a:rPr lang="it-IT" dirty="0"/>
              <a:t> provide a </a:t>
            </a:r>
            <a:r>
              <a:rPr lang="it-IT" dirty="0" err="1"/>
              <a:t>practical</a:t>
            </a:r>
            <a:r>
              <a:rPr lang="it-IT" dirty="0"/>
              <a:t> way to </a:t>
            </a:r>
            <a:r>
              <a:rPr lang="it-IT" dirty="0" err="1"/>
              <a:t>represent</a:t>
            </a:r>
            <a:r>
              <a:rPr lang="it-IT" dirty="0"/>
              <a:t> the </a:t>
            </a:r>
            <a:r>
              <a:rPr lang="it-IT" dirty="0" err="1"/>
              <a:t>absence</a:t>
            </a:r>
            <a:r>
              <a:rPr lang="it-IT" dirty="0"/>
              <a:t> class </a:t>
            </a:r>
            <a:r>
              <a:rPr lang="it-IT" dirty="0" err="1"/>
              <a:t>when</a:t>
            </a:r>
            <a:r>
              <a:rPr lang="it-IT" dirty="0"/>
              <a:t> </a:t>
            </a:r>
            <a:r>
              <a:rPr lang="it-IT" dirty="0" err="1"/>
              <a:t>true</a:t>
            </a:r>
            <a:r>
              <a:rPr lang="it-IT" dirty="0"/>
              <a:t> </a:t>
            </a:r>
            <a:r>
              <a:rPr lang="it-IT" dirty="0" err="1"/>
              <a:t>absences</a:t>
            </a:r>
            <a:r>
              <a:rPr lang="it-IT" dirty="0"/>
              <a:t> are </a:t>
            </a:r>
            <a:r>
              <a:rPr lang="it-IT" dirty="0" err="1"/>
              <a:t>unknown</a:t>
            </a:r>
            <a:r>
              <a:rPr lang="it-IT" dirty="0"/>
              <a:t>."*</a:t>
            </a:r>
          </a:p>
        </p:txBody>
      </p:sp>
      <p:sp>
        <p:nvSpPr>
          <p:cNvPr id="4" name="Slide Number Placeholder 3"/>
          <p:cNvSpPr>
            <a:spLocks noGrp="1"/>
          </p:cNvSpPr>
          <p:nvPr>
            <p:ph type="sldNum" sz="quarter" idx="5"/>
          </p:nvPr>
        </p:nvSpPr>
        <p:spPr/>
        <p:txBody>
          <a:bodyPr/>
          <a:lstStyle/>
          <a:p>
            <a:fld id="{21AAABC4-A8CC-1D4E-A9C3-CD427222022D}" type="slidenum">
              <a:rPr lang="it-IT" smtClean="0"/>
              <a:t>32</a:t>
            </a:fld>
            <a:endParaRPr lang="it-IT"/>
          </a:p>
        </p:txBody>
      </p:sp>
    </p:spTree>
    <p:extLst>
      <p:ext uri="{BB962C8B-B14F-4D97-AF65-F5344CB8AC3E}">
        <p14:creationId xmlns:p14="http://schemas.microsoft.com/office/powerpoint/2010/main" val="35599176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**Key </a:t>
            </a:r>
            <a:r>
              <a:rPr lang="it-IT" dirty="0" err="1"/>
              <a:t>principle</a:t>
            </a:r>
            <a:r>
              <a:rPr lang="it-IT" dirty="0"/>
              <a:t>:** Balance for training, </a:t>
            </a:r>
            <a:r>
              <a:rPr lang="it-IT" dirty="0" err="1"/>
              <a:t>not</a:t>
            </a:r>
            <a:r>
              <a:rPr lang="it-IT" dirty="0"/>
              <a:t> for testing.</a:t>
            </a:r>
          </a:p>
          <a:p>
            <a:r>
              <a:rPr lang="it-IT" dirty="0"/>
              <a:t>- Training: 1:1 ratio </a:t>
            </a:r>
            <a:r>
              <a:rPr lang="it-IT" dirty="0" err="1"/>
              <a:t>forces</a:t>
            </a:r>
            <a:r>
              <a:rPr lang="it-IT" dirty="0"/>
              <a:t> the model to </a:t>
            </a:r>
            <a:r>
              <a:rPr lang="it-IT" dirty="0" err="1"/>
              <a:t>learn</a:t>
            </a:r>
            <a:r>
              <a:rPr lang="it-IT" dirty="0"/>
              <a:t> discriminative features</a:t>
            </a:r>
          </a:p>
          <a:p>
            <a:r>
              <a:rPr lang="it-IT" dirty="0"/>
              <a:t>- </a:t>
            </a:r>
            <a:r>
              <a:rPr lang="it-IT" dirty="0" err="1"/>
              <a:t>Hold</a:t>
            </a:r>
            <a:r>
              <a:rPr lang="it-IT" dirty="0"/>
              <a:t>-out stays </a:t>
            </a:r>
            <a:r>
              <a:rPr lang="it-IT" dirty="0" err="1"/>
              <a:t>imbalanced</a:t>
            </a:r>
            <a:r>
              <a:rPr lang="it-IT" dirty="0"/>
              <a:t> (1.5%) — </a:t>
            </a:r>
            <a:r>
              <a:rPr lang="it-IT" dirty="0" err="1"/>
              <a:t>mirrors</a:t>
            </a:r>
            <a:r>
              <a:rPr lang="it-IT" dirty="0"/>
              <a:t> </a:t>
            </a:r>
            <a:r>
              <a:rPr lang="it-IT" dirty="0" err="1"/>
              <a:t>operational</a:t>
            </a:r>
            <a:r>
              <a:rPr lang="it-IT" dirty="0"/>
              <a:t> reality</a:t>
            </a:r>
          </a:p>
          <a:p>
            <a:r>
              <a:rPr lang="it-IT" dirty="0"/>
              <a:t>- Scores are a relative ranking, </a:t>
            </a:r>
            <a:r>
              <a:rPr lang="it-IT" dirty="0" err="1"/>
              <a:t>not</a:t>
            </a:r>
            <a:r>
              <a:rPr lang="it-IT" dirty="0"/>
              <a:t> </a:t>
            </a:r>
            <a:r>
              <a:rPr lang="it-IT" dirty="0" err="1"/>
              <a:t>calibrated</a:t>
            </a:r>
            <a:r>
              <a:rPr lang="it-IT" dirty="0"/>
              <a:t> </a:t>
            </a:r>
            <a:r>
              <a:rPr lang="it-IT" dirty="0" err="1"/>
              <a:t>probabilities</a:t>
            </a:r>
            <a:endParaRPr lang="it-IT" dirty="0"/>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33</a:t>
            </a:fld>
            <a:endParaRPr lang="it-IT"/>
          </a:p>
        </p:txBody>
      </p:sp>
    </p:spTree>
    <p:extLst>
      <p:ext uri="{BB962C8B-B14F-4D97-AF65-F5344CB8AC3E}">
        <p14:creationId xmlns:p14="http://schemas.microsoft.com/office/powerpoint/2010/main" val="31873706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&gt; *"Random </a:t>
            </a:r>
            <a:r>
              <a:rPr lang="it-IT" dirty="0" err="1"/>
              <a:t>Forest</a:t>
            </a:r>
            <a:r>
              <a:rPr lang="it-IT" dirty="0"/>
              <a:t> performance </a:t>
            </a:r>
            <a:r>
              <a:rPr lang="it-IT" dirty="0" err="1"/>
              <a:t>strongly</a:t>
            </a:r>
            <a:r>
              <a:rPr lang="it-IT" dirty="0"/>
              <a:t> </a:t>
            </a:r>
            <a:r>
              <a:rPr lang="it-IT" dirty="0" err="1"/>
              <a:t>depends</a:t>
            </a:r>
            <a:r>
              <a:rPr lang="it-IT" dirty="0"/>
              <a:t> on the </a:t>
            </a:r>
            <a:r>
              <a:rPr lang="it-IT" dirty="0" err="1"/>
              <a:t>choice</a:t>
            </a:r>
            <a:r>
              <a:rPr lang="it-IT" dirty="0"/>
              <a:t> of </a:t>
            </a:r>
            <a:r>
              <a:rPr lang="it-IT" dirty="0" err="1"/>
              <a:t>hyperparameters</a:t>
            </a:r>
            <a:r>
              <a:rPr lang="it-IT" dirty="0"/>
              <a:t>."*</a:t>
            </a:r>
          </a:p>
          <a:p>
            <a:r>
              <a:rPr lang="it-IT" dirty="0"/>
              <a:t>&gt; *"</a:t>
            </a:r>
            <a:r>
              <a:rPr lang="it-IT" dirty="0" err="1"/>
              <a:t>Hyperparameter</a:t>
            </a:r>
            <a:r>
              <a:rPr lang="it-IT" dirty="0"/>
              <a:t> tuning </a:t>
            </a:r>
            <a:r>
              <a:rPr lang="it-IT" dirty="0" err="1"/>
              <a:t>aims</a:t>
            </a:r>
            <a:r>
              <a:rPr lang="it-IT" dirty="0"/>
              <a:t> to </a:t>
            </a:r>
            <a:r>
              <a:rPr lang="it-IT" dirty="0" err="1"/>
              <a:t>identify</a:t>
            </a:r>
            <a:r>
              <a:rPr lang="it-IT" dirty="0"/>
              <a:t> the model </a:t>
            </a:r>
            <a:r>
              <a:rPr lang="it-IT" dirty="0" err="1"/>
              <a:t>configuration</a:t>
            </a:r>
            <a:r>
              <a:rPr lang="it-IT" dirty="0"/>
              <a:t> </a:t>
            </a:r>
            <a:r>
              <a:rPr lang="it-IT" dirty="0" err="1"/>
              <a:t>that</a:t>
            </a:r>
            <a:r>
              <a:rPr lang="it-IT" dirty="0"/>
              <a:t> </a:t>
            </a:r>
            <a:r>
              <a:rPr lang="it-IT" dirty="0" err="1"/>
              <a:t>generalizes</a:t>
            </a:r>
            <a:r>
              <a:rPr lang="it-IT" dirty="0"/>
              <a:t> best to </a:t>
            </a:r>
            <a:r>
              <a:rPr lang="it-IT" dirty="0" err="1"/>
              <a:t>unseen</a:t>
            </a:r>
            <a:r>
              <a:rPr lang="it-IT" dirty="0"/>
              <a:t> data, </a:t>
            </a:r>
            <a:r>
              <a:rPr lang="it-IT" dirty="0" err="1"/>
              <a:t>avoiding</a:t>
            </a:r>
            <a:r>
              <a:rPr lang="it-IT" dirty="0"/>
              <a:t> </a:t>
            </a:r>
            <a:r>
              <a:rPr lang="it-IT" dirty="0" err="1"/>
              <a:t>both</a:t>
            </a:r>
            <a:r>
              <a:rPr lang="it-IT" dirty="0"/>
              <a:t> </a:t>
            </a:r>
            <a:r>
              <a:rPr lang="it-IT" dirty="0" err="1"/>
              <a:t>underfitting</a:t>
            </a:r>
            <a:r>
              <a:rPr lang="it-IT" dirty="0"/>
              <a:t> and </a:t>
            </a:r>
            <a:r>
              <a:rPr lang="it-IT" dirty="0" err="1"/>
              <a:t>overfitting</a:t>
            </a:r>
            <a:r>
              <a:rPr lang="it-IT" dirty="0"/>
              <a:t>."*</a:t>
            </a:r>
          </a:p>
          <a:p>
            <a:endParaRPr lang="it-IT" dirty="0"/>
          </a:p>
          <a:p>
            <a:r>
              <a:rPr lang="it-IT" dirty="0"/>
              <a:t>**</a:t>
            </a:r>
            <a:r>
              <a:rPr lang="it-IT" dirty="0" err="1"/>
              <a:t>Validation</a:t>
            </a:r>
            <a:r>
              <a:rPr lang="it-IT" dirty="0"/>
              <a:t> strategy:** </a:t>
            </a:r>
            <a:r>
              <a:rPr lang="it-IT" dirty="0" err="1"/>
              <a:t>temporal</a:t>
            </a:r>
            <a:r>
              <a:rPr lang="it-IT" dirty="0"/>
              <a:t> split — training on </a:t>
            </a:r>
            <a:r>
              <a:rPr lang="it-IT" dirty="0" err="1"/>
              <a:t>earlier</a:t>
            </a:r>
            <a:r>
              <a:rPr lang="it-IT" dirty="0"/>
              <a:t> </a:t>
            </a:r>
            <a:r>
              <a:rPr lang="it-IT" dirty="0" err="1"/>
              <a:t>years</a:t>
            </a:r>
            <a:r>
              <a:rPr lang="it-IT" dirty="0"/>
              <a:t>, </a:t>
            </a:r>
            <a:r>
              <a:rPr lang="it-IT" dirty="0" err="1"/>
              <a:t>validating</a:t>
            </a:r>
            <a:r>
              <a:rPr lang="it-IT" dirty="0"/>
              <a:t> on a </a:t>
            </a:r>
            <a:r>
              <a:rPr lang="it-IT" dirty="0" err="1"/>
              <a:t>later</a:t>
            </a:r>
            <a:r>
              <a:rPr lang="it-IT" dirty="0"/>
              <a:t> </a:t>
            </a:r>
            <a:r>
              <a:rPr lang="it-IT" dirty="0" err="1"/>
              <a:t>period</a:t>
            </a:r>
            <a:r>
              <a:rPr lang="it-IT" dirty="0"/>
              <a:t>. </a:t>
            </a:r>
            <a:r>
              <a:rPr lang="it-IT" dirty="0" err="1"/>
              <a:t>This</a:t>
            </a:r>
            <a:r>
              <a:rPr lang="it-IT" dirty="0"/>
              <a:t> </a:t>
            </a:r>
            <a:r>
              <a:rPr lang="it-IT" dirty="0" err="1"/>
              <a:t>avoids</a:t>
            </a:r>
            <a:r>
              <a:rPr lang="it-IT" dirty="0"/>
              <a:t> data leakage from </a:t>
            </a:r>
            <a:r>
              <a:rPr lang="it-IT" dirty="0" err="1"/>
              <a:t>spatial</a:t>
            </a:r>
            <a:r>
              <a:rPr lang="it-IT" dirty="0"/>
              <a:t> </a:t>
            </a:r>
            <a:r>
              <a:rPr lang="it-IT" dirty="0" err="1"/>
              <a:t>autocorrelation</a:t>
            </a:r>
            <a:r>
              <a:rPr lang="it-IT" dirty="0"/>
              <a:t>.</a:t>
            </a:r>
          </a:p>
          <a:p>
            <a:endParaRPr lang="it-IT" dirty="0"/>
          </a:p>
          <a:p>
            <a:r>
              <a:rPr lang="it-IT" dirty="0"/>
              <a:t>The tuning </a:t>
            </a:r>
            <a:r>
              <a:rPr lang="it-IT" dirty="0" err="1"/>
              <a:t>process</a:t>
            </a:r>
            <a:r>
              <a:rPr lang="it-IT" dirty="0"/>
              <a:t> </a:t>
            </a:r>
            <a:r>
              <a:rPr lang="it-IT" dirty="0" err="1"/>
              <a:t>uses</a:t>
            </a:r>
            <a:r>
              <a:rPr lang="it-IT" dirty="0"/>
              <a:t> a </a:t>
            </a:r>
            <a:r>
              <a:rPr lang="it-IT" dirty="0" err="1"/>
              <a:t>validation</a:t>
            </a:r>
            <a:r>
              <a:rPr lang="it-IT" dirty="0"/>
              <a:t> dataset **separate from the </a:t>
            </a:r>
            <a:r>
              <a:rPr lang="it-IT" dirty="0" err="1"/>
              <a:t>final</a:t>
            </a:r>
            <a:r>
              <a:rPr lang="it-IT" dirty="0"/>
              <a:t> </a:t>
            </a:r>
            <a:r>
              <a:rPr lang="it-IT" dirty="0" err="1"/>
              <a:t>hold</a:t>
            </a:r>
            <a:r>
              <a:rPr lang="it-IT" dirty="0"/>
              <a:t>-out test </a:t>
            </a:r>
            <a:r>
              <a:rPr lang="it-IT" dirty="0" err="1"/>
              <a:t>period</a:t>
            </a:r>
            <a:r>
              <a:rPr lang="it-IT" dirty="0"/>
              <a:t>**.</a:t>
            </a:r>
          </a:p>
          <a:p>
            <a:endParaRPr lang="it-IT" dirty="0"/>
          </a:p>
        </p:txBody>
      </p:sp>
      <p:sp>
        <p:nvSpPr>
          <p:cNvPr id="4" name="Slide Number Placeholder 3"/>
          <p:cNvSpPr>
            <a:spLocks noGrp="1"/>
          </p:cNvSpPr>
          <p:nvPr>
            <p:ph type="sldNum" sz="quarter" idx="5"/>
          </p:nvPr>
        </p:nvSpPr>
        <p:spPr/>
        <p:txBody>
          <a:bodyPr/>
          <a:lstStyle/>
          <a:p>
            <a:fld id="{21AAABC4-A8CC-1D4E-A9C3-CD427222022D}" type="slidenum">
              <a:rPr lang="it-IT" smtClean="0"/>
              <a:t>34</a:t>
            </a:fld>
            <a:endParaRPr lang="it-IT"/>
          </a:p>
        </p:txBody>
      </p:sp>
    </p:spTree>
    <p:extLst>
      <p:ext uri="{BB962C8B-B14F-4D97-AF65-F5344CB8AC3E}">
        <p14:creationId xmlns:p14="http://schemas.microsoft.com/office/powerpoint/2010/main" val="26869490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confusion matrix is the starting point for evaluating any classification model. Each row is the true class and each column is the predicted class, so the diagonal cells are correct predictions and the off-diagonal cells are mistakes.</a:t>
            </a:r>
          </a:p>
          <a:p>
            <a:r>
              <a:rPr lang="en-GB" dirty="0"/>
              <a:t>Four building blocks: TP (true positives — burned pixels we correctly flagged), TN (true negatives — unburned correctly left alone), FP (false positives — false alarms), and FN (false negatives — burned pixels we missed). Every other metric on this slide is just a ratio of these four counts.</a:t>
            </a:r>
          </a:p>
          <a:p>
            <a:r>
              <a:rPr lang="en-GB" dirty="0"/>
              <a:t>Sensitivity, also called Recall or True Positive Rate, is TP / (TP + FN) — out of all the pixels that actually burned, what fraction did we catch. This is what matters most when missing a fire is costly.</a:t>
            </a:r>
          </a:p>
          <a:p>
            <a:r>
              <a:rPr lang="en-GB" dirty="0"/>
              <a:t>Specificity, the True Negative Rate, is TN / (TN + FP) — out of all the unburned pixels, what fraction did we correctly leave alone. It tells us how well the model avoids over-flagging.</a:t>
            </a:r>
          </a:p>
          <a:p>
            <a:r>
              <a:rPr lang="en-GB" dirty="0"/>
              <a:t>False Positive Rate is FP / (TN + FP), i.e. 1 − Specificity. It is the false-alarm rate and is the x-axis of the ROC curve we will see in a couple of slides.</a:t>
            </a:r>
          </a:p>
          <a:p>
            <a:r>
              <a:rPr lang="en-GB" dirty="0"/>
              <a:t>Precision is TP / (TP + FP) — of all the pixels we flagged as burned, what fraction actually were. It answers the operational question: when the model raises an alarm, how often should we trust it.</a:t>
            </a:r>
          </a:p>
          <a:p>
            <a:r>
              <a:rPr lang="en-GB" dirty="0"/>
              <a:t>F1 is the harmonic mean of Precision and Recall — a single score that penalises a model heavily if either one is poor. It is more honest than accuracy when classes are imbalanced.</a:t>
            </a:r>
          </a:p>
          <a:p>
            <a:r>
              <a:rPr lang="en-GB" dirty="0"/>
              <a:t>The warning at the bottom is the key methodological point: in this study, fire occurs in roughly 1.5% of pixels. A trivial model that predicts unburned everywhere would score 98.5% accuracy and be completely useless. That is why we focus on recall, precision, F1, and ranking metrics — not accuracy — for rare-event problems.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This slide moves beyond the confusion-matrix metrics to two ranking-based scores that are better suited to a rare-event problem like fire susceptibility.</a:t>
            </a:r>
          </a:p>
          <a:p>
            <a:r>
              <a:rPr lang="en-GB" dirty="0"/>
              <a:t>ROC-AUC stands for the Area Under the Receiver Operating Characteristic curve. The ROC curve plots the True Positive Rate against the False Positive Rate as we sweep the classification threshold from 0 to 1. The area under that curve is a single number between 0 and 1.</a:t>
            </a:r>
          </a:p>
          <a:p>
            <a:r>
              <a:rPr lang="en-GB" dirty="0"/>
              <a:t>The intuitive interpretation: ROC-AUC is the probability that a randomly chosen burned pixel receives a higher score from the model than a randomly chosen unburned pixel. 1.0 means perfect ranking, 0.5 means the model is no better than flipping a coin, and below 0.5 means the model is systematically wrong.</a:t>
            </a:r>
          </a:p>
          <a:p>
            <a:r>
              <a:rPr lang="en-GB" dirty="0"/>
              <a:t>The key advantage of ROC-AUC is that it is threshold-free — we do not have to commit to a specific cutoff to evaluate the model. This is useful in early model selection, where we want to compare overall discriminative power before deciding on an operational threshold.</a:t>
            </a:r>
          </a:p>
          <a:p>
            <a:r>
              <a:rPr lang="en-GB" dirty="0"/>
              <a:t>Recall@TopK% is the operational metric. The idea: rank all pixels by their predicted score, take the top K% (say the top 10% or top 20% of the landscape), and ask what fraction of the actual future fires fall inside that zone.</a:t>
            </a:r>
          </a:p>
          <a:p>
            <a:r>
              <a:rPr lang="en-GB" dirty="0"/>
              <a:t>This metric speaks directly to budget-constrained decisions. Fire managers cannot monitor the entire territory — they have to prioritise. Recall@Top10% tells them: if I focus my prevention resources on the 10% of the landscape my model flags as highest risk, how many fires will I actually cover.</a:t>
            </a:r>
          </a:p>
          <a:p>
            <a:r>
              <a:rPr lang="en-GB" dirty="0"/>
              <a:t>The closing warning ties back to slide 38: accuracy is unsafe at 1.5% prevalence because a trivial 'predict unburned everywhere' model would score 98.5%. Ranking metrics like ROC-AUC and Recall@TopK% do not have this failure mode — they measure how well the model separates the rare positives from the common negatives, which is exactly what susceptibility mapping needs.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495F2-8E2E-6115-1ACC-1D32B05FD96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it-IT"/>
          </a:p>
        </p:txBody>
      </p:sp>
      <p:sp>
        <p:nvSpPr>
          <p:cNvPr id="3" name="Subtitle 2">
            <a:extLst>
              <a:ext uri="{FF2B5EF4-FFF2-40B4-BE49-F238E27FC236}">
                <a16:creationId xmlns:a16="http://schemas.microsoft.com/office/drawing/2014/main" id="{A5FBEF59-2FB2-3BFB-2763-C0944A7698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it-IT"/>
          </a:p>
        </p:txBody>
      </p:sp>
      <p:sp>
        <p:nvSpPr>
          <p:cNvPr id="4" name="Date Placeholder 3">
            <a:extLst>
              <a:ext uri="{FF2B5EF4-FFF2-40B4-BE49-F238E27FC236}">
                <a16:creationId xmlns:a16="http://schemas.microsoft.com/office/drawing/2014/main" id="{3627EA6E-46E4-AF1C-CCF2-2978A36E23FF}"/>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5" name="Footer Placeholder 4">
            <a:extLst>
              <a:ext uri="{FF2B5EF4-FFF2-40B4-BE49-F238E27FC236}">
                <a16:creationId xmlns:a16="http://schemas.microsoft.com/office/drawing/2014/main" id="{98932E22-508F-E7EA-6748-41722CF344BA}"/>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A8867161-E629-01BA-94FC-86EDE46FB608}"/>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1591678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AFB81-2210-0C9B-0908-942AA8BC6A46}"/>
              </a:ext>
            </a:extLst>
          </p:cNvPr>
          <p:cNvSpPr>
            <a:spLocks noGrp="1"/>
          </p:cNvSpPr>
          <p:nvPr>
            <p:ph type="title"/>
          </p:nvPr>
        </p:nvSpPr>
        <p:spPr/>
        <p:txBody>
          <a:bodyPr/>
          <a:lstStyle/>
          <a:p>
            <a:r>
              <a:rPr lang="en-GB"/>
              <a:t>Click to edit Master title style</a:t>
            </a:r>
            <a:endParaRPr lang="it-IT"/>
          </a:p>
        </p:txBody>
      </p:sp>
      <p:sp>
        <p:nvSpPr>
          <p:cNvPr id="3" name="Content Placeholder 2">
            <a:extLst>
              <a:ext uri="{FF2B5EF4-FFF2-40B4-BE49-F238E27FC236}">
                <a16:creationId xmlns:a16="http://schemas.microsoft.com/office/drawing/2014/main" id="{16566D59-72CF-80C8-11D1-99D279C64F4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AD315CEC-964A-FF47-EEC8-7ACEBEDF3878}"/>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5" name="Footer Placeholder 4">
            <a:extLst>
              <a:ext uri="{FF2B5EF4-FFF2-40B4-BE49-F238E27FC236}">
                <a16:creationId xmlns:a16="http://schemas.microsoft.com/office/drawing/2014/main" id="{A15C768E-ECF6-E840-A445-84953B8CAF9F}"/>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B787A75F-98B5-85FA-56C8-96319BB7939F}"/>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202142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F1C2-3F6D-9E69-9C86-5C48EF92C73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it-IT"/>
          </a:p>
        </p:txBody>
      </p:sp>
      <p:sp>
        <p:nvSpPr>
          <p:cNvPr id="3" name="Text Placeholder 2">
            <a:extLst>
              <a:ext uri="{FF2B5EF4-FFF2-40B4-BE49-F238E27FC236}">
                <a16:creationId xmlns:a16="http://schemas.microsoft.com/office/drawing/2014/main" id="{A5F6CB39-40F0-022F-E23F-8DEFFAAB62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62A7D0B-50A2-C1B0-B7ED-79E1D3C4274A}"/>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5" name="Footer Placeholder 4">
            <a:extLst>
              <a:ext uri="{FF2B5EF4-FFF2-40B4-BE49-F238E27FC236}">
                <a16:creationId xmlns:a16="http://schemas.microsoft.com/office/drawing/2014/main" id="{C24E5A6C-59CC-69D7-0C38-D07AA0C3A52E}"/>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2B48F137-A469-8354-F9E7-83B92B4DE66C}"/>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3723968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67DB7-A9DA-239E-B29D-EB1DCD514F37}"/>
              </a:ext>
            </a:extLst>
          </p:cNvPr>
          <p:cNvSpPr>
            <a:spLocks noGrp="1"/>
          </p:cNvSpPr>
          <p:nvPr>
            <p:ph type="title"/>
          </p:nvPr>
        </p:nvSpPr>
        <p:spPr/>
        <p:txBody>
          <a:bodyPr/>
          <a:lstStyle/>
          <a:p>
            <a:r>
              <a:rPr lang="en-GB"/>
              <a:t>Click to edit Master title style</a:t>
            </a:r>
            <a:endParaRPr lang="it-IT"/>
          </a:p>
        </p:txBody>
      </p:sp>
      <p:sp>
        <p:nvSpPr>
          <p:cNvPr id="3" name="Content Placeholder 2">
            <a:extLst>
              <a:ext uri="{FF2B5EF4-FFF2-40B4-BE49-F238E27FC236}">
                <a16:creationId xmlns:a16="http://schemas.microsoft.com/office/drawing/2014/main" id="{E56AE854-9C80-63CF-14E6-03B59B76E8F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Content Placeholder 3">
            <a:extLst>
              <a:ext uri="{FF2B5EF4-FFF2-40B4-BE49-F238E27FC236}">
                <a16:creationId xmlns:a16="http://schemas.microsoft.com/office/drawing/2014/main" id="{73E4AA83-F301-104E-6D4D-35E23EEF54B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5" name="Date Placeholder 4">
            <a:extLst>
              <a:ext uri="{FF2B5EF4-FFF2-40B4-BE49-F238E27FC236}">
                <a16:creationId xmlns:a16="http://schemas.microsoft.com/office/drawing/2014/main" id="{82E7E227-8844-E823-96FC-C17578C12EA0}"/>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6" name="Footer Placeholder 5">
            <a:extLst>
              <a:ext uri="{FF2B5EF4-FFF2-40B4-BE49-F238E27FC236}">
                <a16:creationId xmlns:a16="http://schemas.microsoft.com/office/drawing/2014/main" id="{30E86925-89ED-A1A7-5681-38D31C80E47A}"/>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F1045D8C-F0C6-E802-417E-85E104724B84}"/>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1479736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F5CE4-5141-2A00-5916-D2FB63957C88}"/>
              </a:ext>
            </a:extLst>
          </p:cNvPr>
          <p:cNvSpPr>
            <a:spLocks noGrp="1"/>
          </p:cNvSpPr>
          <p:nvPr>
            <p:ph type="title"/>
          </p:nvPr>
        </p:nvSpPr>
        <p:spPr>
          <a:xfrm>
            <a:off x="839788" y="365125"/>
            <a:ext cx="10515600" cy="1325563"/>
          </a:xfrm>
        </p:spPr>
        <p:txBody>
          <a:bodyPr/>
          <a:lstStyle/>
          <a:p>
            <a:r>
              <a:rPr lang="en-GB"/>
              <a:t>Click to edit Master title style</a:t>
            </a:r>
            <a:endParaRPr lang="it-IT"/>
          </a:p>
        </p:txBody>
      </p:sp>
      <p:sp>
        <p:nvSpPr>
          <p:cNvPr id="3" name="Text Placeholder 2">
            <a:extLst>
              <a:ext uri="{FF2B5EF4-FFF2-40B4-BE49-F238E27FC236}">
                <a16:creationId xmlns:a16="http://schemas.microsoft.com/office/drawing/2014/main" id="{140695F4-BDA7-37D2-0D58-6C1820DCB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6BA52F-3B7C-6CB7-F50A-989771A415B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5" name="Text Placeholder 4">
            <a:extLst>
              <a:ext uri="{FF2B5EF4-FFF2-40B4-BE49-F238E27FC236}">
                <a16:creationId xmlns:a16="http://schemas.microsoft.com/office/drawing/2014/main" id="{6211624C-F0AA-6550-D3A5-F6DE214E1A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43197C4-0A9D-B688-9832-50CE07110B4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7" name="Date Placeholder 6">
            <a:extLst>
              <a:ext uri="{FF2B5EF4-FFF2-40B4-BE49-F238E27FC236}">
                <a16:creationId xmlns:a16="http://schemas.microsoft.com/office/drawing/2014/main" id="{A7AFEBE3-D3EC-E701-3210-393F7387C7F3}"/>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8" name="Footer Placeholder 7">
            <a:extLst>
              <a:ext uri="{FF2B5EF4-FFF2-40B4-BE49-F238E27FC236}">
                <a16:creationId xmlns:a16="http://schemas.microsoft.com/office/drawing/2014/main" id="{91011763-D36A-BFCF-F3E3-13AFC1545ADC}"/>
              </a:ext>
            </a:extLst>
          </p:cNvPr>
          <p:cNvSpPr>
            <a:spLocks noGrp="1"/>
          </p:cNvSpPr>
          <p:nvPr>
            <p:ph type="ftr" sz="quarter" idx="11"/>
          </p:nvPr>
        </p:nvSpPr>
        <p:spPr/>
        <p:txBody>
          <a:bodyPr/>
          <a:lstStyle/>
          <a:p>
            <a:endParaRPr lang="it-IT"/>
          </a:p>
        </p:txBody>
      </p:sp>
      <p:sp>
        <p:nvSpPr>
          <p:cNvPr id="9" name="Slide Number Placeholder 8">
            <a:extLst>
              <a:ext uri="{FF2B5EF4-FFF2-40B4-BE49-F238E27FC236}">
                <a16:creationId xmlns:a16="http://schemas.microsoft.com/office/drawing/2014/main" id="{539DD85D-7B3E-53C7-BF95-0BD4F61F0C51}"/>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3780777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7CCF5-C913-7A55-0748-653D1CD8F093}"/>
              </a:ext>
            </a:extLst>
          </p:cNvPr>
          <p:cNvSpPr>
            <a:spLocks noGrp="1"/>
          </p:cNvSpPr>
          <p:nvPr>
            <p:ph type="title"/>
          </p:nvPr>
        </p:nvSpPr>
        <p:spPr/>
        <p:txBody>
          <a:bodyPr/>
          <a:lstStyle/>
          <a:p>
            <a:r>
              <a:rPr lang="en-GB"/>
              <a:t>Click to edit Master title style</a:t>
            </a:r>
            <a:endParaRPr lang="it-IT"/>
          </a:p>
        </p:txBody>
      </p:sp>
      <p:sp>
        <p:nvSpPr>
          <p:cNvPr id="3" name="Date Placeholder 2">
            <a:extLst>
              <a:ext uri="{FF2B5EF4-FFF2-40B4-BE49-F238E27FC236}">
                <a16:creationId xmlns:a16="http://schemas.microsoft.com/office/drawing/2014/main" id="{C059F992-9F6B-0B5A-2376-D9E51D9A4878}"/>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4" name="Footer Placeholder 3">
            <a:extLst>
              <a:ext uri="{FF2B5EF4-FFF2-40B4-BE49-F238E27FC236}">
                <a16:creationId xmlns:a16="http://schemas.microsoft.com/office/drawing/2014/main" id="{A9A4FA0E-6994-3C8C-FA83-33FFCAD65842}"/>
              </a:ext>
            </a:extLst>
          </p:cNvPr>
          <p:cNvSpPr>
            <a:spLocks noGrp="1"/>
          </p:cNvSpPr>
          <p:nvPr>
            <p:ph type="ftr" sz="quarter" idx="11"/>
          </p:nvPr>
        </p:nvSpPr>
        <p:spPr/>
        <p:txBody>
          <a:bodyPr/>
          <a:lstStyle/>
          <a:p>
            <a:endParaRPr lang="it-IT"/>
          </a:p>
        </p:txBody>
      </p:sp>
      <p:sp>
        <p:nvSpPr>
          <p:cNvPr id="5" name="Slide Number Placeholder 4">
            <a:extLst>
              <a:ext uri="{FF2B5EF4-FFF2-40B4-BE49-F238E27FC236}">
                <a16:creationId xmlns:a16="http://schemas.microsoft.com/office/drawing/2014/main" id="{B72D654D-5393-BDA3-A5E6-AD4F3E9131AD}"/>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3957815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1F842-6EAF-C9FF-E381-0A6A673F96BC}"/>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3" name="Footer Placeholder 2">
            <a:extLst>
              <a:ext uri="{FF2B5EF4-FFF2-40B4-BE49-F238E27FC236}">
                <a16:creationId xmlns:a16="http://schemas.microsoft.com/office/drawing/2014/main" id="{144ABCB9-9490-41DC-3ADB-B494327A827C}"/>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77654818-883E-2838-5623-9B0776E56530}"/>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1653710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A54EF-52CA-4DC1-714B-90FDB11BA76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it-IT"/>
          </a:p>
        </p:txBody>
      </p:sp>
      <p:sp>
        <p:nvSpPr>
          <p:cNvPr id="3" name="Content Placeholder 2">
            <a:extLst>
              <a:ext uri="{FF2B5EF4-FFF2-40B4-BE49-F238E27FC236}">
                <a16:creationId xmlns:a16="http://schemas.microsoft.com/office/drawing/2014/main" id="{E4D6B842-1D44-7FAB-A3CA-96A6A820FF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
            <a:extLst>
              <a:ext uri="{FF2B5EF4-FFF2-40B4-BE49-F238E27FC236}">
                <a16:creationId xmlns:a16="http://schemas.microsoft.com/office/drawing/2014/main" id="{C10E6DAF-87F0-0747-69F0-A3CFC9D875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5929A21-CCA1-525A-6A94-541B1462BAAE}"/>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6" name="Footer Placeholder 5">
            <a:extLst>
              <a:ext uri="{FF2B5EF4-FFF2-40B4-BE49-F238E27FC236}">
                <a16:creationId xmlns:a16="http://schemas.microsoft.com/office/drawing/2014/main" id="{62E10DC0-B098-10E2-0126-1EA6C905790E}"/>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E997E1DC-FB11-26BA-B39D-40F43BBB4583}"/>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2395801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A7110-A438-57D0-6AAF-E8508A8A3A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it-IT"/>
          </a:p>
        </p:txBody>
      </p:sp>
      <p:sp>
        <p:nvSpPr>
          <p:cNvPr id="3" name="Picture Placeholder 2">
            <a:extLst>
              <a:ext uri="{FF2B5EF4-FFF2-40B4-BE49-F238E27FC236}">
                <a16:creationId xmlns:a16="http://schemas.microsoft.com/office/drawing/2014/main" id="{D1EEBB41-BADA-7F1C-A040-0431D57954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Text Placeholder 3">
            <a:extLst>
              <a:ext uri="{FF2B5EF4-FFF2-40B4-BE49-F238E27FC236}">
                <a16:creationId xmlns:a16="http://schemas.microsoft.com/office/drawing/2014/main" id="{233A5901-3D34-1A1D-88C0-E70DAF5073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A1FF29-1E54-5BB9-9B9E-AE2281F552AE}"/>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6" name="Footer Placeholder 5">
            <a:extLst>
              <a:ext uri="{FF2B5EF4-FFF2-40B4-BE49-F238E27FC236}">
                <a16:creationId xmlns:a16="http://schemas.microsoft.com/office/drawing/2014/main" id="{2CC1F958-A00E-F12B-375A-44C357BEE47D}"/>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7EDF2C99-D1BC-FCE9-9F70-501E5D34A027}"/>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2360768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85FAB-47A7-3648-4CBD-352D8F177462}"/>
              </a:ext>
            </a:extLst>
          </p:cNvPr>
          <p:cNvSpPr>
            <a:spLocks noGrp="1"/>
          </p:cNvSpPr>
          <p:nvPr>
            <p:ph type="title"/>
          </p:nvPr>
        </p:nvSpPr>
        <p:spPr/>
        <p:txBody>
          <a:bodyPr/>
          <a:lstStyle/>
          <a:p>
            <a:r>
              <a:rPr lang="en-GB"/>
              <a:t>Click to edit Master title style</a:t>
            </a:r>
            <a:endParaRPr lang="it-IT"/>
          </a:p>
        </p:txBody>
      </p:sp>
      <p:sp>
        <p:nvSpPr>
          <p:cNvPr id="3" name="Vertical Text Placeholder 2">
            <a:extLst>
              <a:ext uri="{FF2B5EF4-FFF2-40B4-BE49-F238E27FC236}">
                <a16:creationId xmlns:a16="http://schemas.microsoft.com/office/drawing/2014/main" id="{2E6AD5DC-FAA5-6DF1-D991-48638D2C3C5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380AAC2A-3638-82AF-8E4A-6B578AF25339}"/>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5" name="Footer Placeholder 4">
            <a:extLst>
              <a:ext uri="{FF2B5EF4-FFF2-40B4-BE49-F238E27FC236}">
                <a16:creationId xmlns:a16="http://schemas.microsoft.com/office/drawing/2014/main" id="{E921B0D1-A43D-09C5-458D-64DB3EF2C5CD}"/>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CD5F80DE-0C76-B7A2-BAEE-5117DAA25218}"/>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2357661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61E40F-99C3-E4E5-6FC7-C6B64037B91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it-IT"/>
          </a:p>
        </p:txBody>
      </p:sp>
      <p:sp>
        <p:nvSpPr>
          <p:cNvPr id="3" name="Vertical Text Placeholder 2">
            <a:extLst>
              <a:ext uri="{FF2B5EF4-FFF2-40B4-BE49-F238E27FC236}">
                <a16:creationId xmlns:a16="http://schemas.microsoft.com/office/drawing/2014/main" id="{CAB4AC2F-5743-F218-B5A2-80817D9F57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B5AF8008-E68E-B5A7-441C-A58B4E166403}"/>
              </a:ext>
            </a:extLst>
          </p:cNvPr>
          <p:cNvSpPr>
            <a:spLocks noGrp="1"/>
          </p:cNvSpPr>
          <p:nvPr>
            <p:ph type="dt" sz="half" idx="10"/>
          </p:nvPr>
        </p:nvSpPr>
        <p:spPr/>
        <p:txBody>
          <a:bodyPr/>
          <a:lstStyle/>
          <a:p>
            <a:fld id="{59FC66B8-3773-CE4D-B19B-BB13C61A8165}" type="datetimeFigureOut">
              <a:rPr lang="it-IT" smtClean="0"/>
              <a:t>19/05/26</a:t>
            </a:fld>
            <a:endParaRPr lang="it-IT"/>
          </a:p>
        </p:txBody>
      </p:sp>
      <p:sp>
        <p:nvSpPr>
          <p:cNvPr id="5" name="Footer Placeholder 4">
            <a:extLst>
              <a:ext uri="{FF2B5EF4-FFF2-40B4-BE49-F238E27FC236}">
                <a16:creationId xmlns:a16="http://schemas.microsoft.com/office/drawing/2014/main" id="{F90A1751-490E-463B-33BF-56507B73E441}"/>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50A4782D-99F2-4406-211C-620A273C6219}"/>
              </a:ext>
            </a:extLst>
          </p:cNvPr>
          <p:cNvSpPr>
            <a:spLocks noGrp="1"/>
          </p:cNvSpPr>
          <p:nvPr>
            <p:ph type="sldNum" sz="quarter" idx="12"/>
          </p:nvPr>
        </p:nvSpPr>
        <p:spPr/>
        <p:txBody>
          <a:bodyPr/>
          <a:lstStyle/>
          <a:p>
            <a:fld id="{D23BBD23-34E4-9E4E-B6F2-D8D66F8F175E}" type="slidenum">
              <a:rPr lang="it-IT" smtClean="0"/>
              <a:t>‹#›</a:t>
            </a:fld>
            <a:endParaRPr lang="it-IT"/>
          </a:p>
        </p:txBody>
      </p:sp>
    </p:spTree>
    <p:extLst>
      <p:ext uri="{BB962C8B-B14F-4D97-AF65-F5344CB8AC3E}">
        <p14:creationId xmlns:p14="http://schemas.microsoft.com/office/powerpoint/2010/main" val="3232221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APOSITIVA VUOT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7825A8AC-97A3-2D9F-4B78-6D92A313F2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75619" y="155289"/>
            <a:ext cx="453300" cy="563513"/>
          </a:xfrm>
          <a:prstGeom prst="rect">
            <a:avLst/>
          </a:prstGeom>
        </p:spPr>
      </p:pic>
    </p:spTree>
    <p:extLst>
      <p:ext uri="{BB962C8B-B14F-4D97-AF65-F5344CB8AC3E}">
        <p14:creationId xmlns:p14="http://schemas.microsoft.com/office/powerpoint/2010/main" val="318500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FF8E3-0756-F27F-DDD8-9632395949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it-IT"/>
          </a:p>
        </p:txBody>
      </p:sp>
      <p:sp>
        <p:nvSpPr>
          <p:cNvPr id="3" name="Text Placeholder 2">
            <a:extLst>
              <a:ext uri="{FF2B5EF4-FFF2-40B4-BE49-F238E27FC236}">
                <a16:creationId xmlns:a16="http://schemas.microsoft.com/office/drawing/2014/main" id="{D81FE68A-0BF3-6B4D-C332-A05C3D3937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BC9E14EE-ED00-9CCB-6341-F1618C2E36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FC66B8-3773-CE4D-B19B-BB13C61A8165}" type="datetimeFigureOut">
              <a:rPr lang="it-IT" smtClean="0"/>
              <a:t>19/05/26</a:t>
            </a:fld>
            <a:endParaRPr lang="it-IT"/>
          </a:p>
        </p:txBody>
      </p:sp>
      <p:sp>
        <p:nvSpPr>
          <p:cNvPr id="5" name="Footer Placeholder 4">
            <a:extLst>
              <a:ext uri="{FF2B5EF4-FFF2-40B4-BE49-F238E27FC236}">
                <a16:creationId xmlns:a16="http://schemas.microsoft.com/office/drawing/2014/main" id="{8D55513A-A3CE-0CE9-49BF-477CA14750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lide Number Placeholder 5">
            <a:extLst>
              <a:ext uri="{FF2B5EF4-FFF2-40B4-BE49-F238E27FC236}">
                <a16:creationId xmlns:a16="http://schemas.microsoft.com/office/drawing/2014/main" id="{17BAB44F-8AC8-76C6-7EEC-03A694CBD6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3BBD23-34E4-9E4E-B6F2-D8D66F8F175E}" type="slidenum">
              <a:rPr lang="it-IT" smtClean="0"/>
              <a:t>‹#›</a:t>
            </a:fld>
            <a:endParaRPr lang="it-IT"/>
          </a:p>
        </p:txBody>
      </p:sp>
    </p:spTree>
    <p:extLst>
      <p:ext uri="{BB962C8B-B14F-4D97-AF65-F5344CB8AC3E}">
        <p14:creationId xmlns:p14="http://schemas.microsoft.com/office/powerpoint/2010/main" val="766265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rko.dandrea@cimafoundation.org"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mailto:mirko.dandrea@cima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mailto:luca.monaco@cimafoundation.or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hyperlink" Target="https://miro.medium.com/v2/resize:fit:1400/format:webp/1*6-QWLr9obdDlUmVLtDXPrQ.p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2.wdp"/><Relationship Id="rId7" Type="http://schemas.openxmlformats.org/officeDocument/2006/relationships/image" Target="../media/image48.png"/><Relationship Id="rId2" Type="http://schemas.openxmlformats.org/officeDocument/2006/relationships/image" Target="../media/image44.png"/><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0CBD2-87E5-5723-CA91-F71DFA884DB2}"/>
              </a:ext>
            </a:extLst>
          </p:cNvPr>
          <p:cNvSpPr>
            <a:spLocks noGrp="1"/>
          </p:cNvSpPr>
          <p:nvPr>
            <p:ph type="ctrTitle" idx="4294967295"/>
          </p:nvPr>
        </p:nvSpPr>
        <p:spPr>
          <a:xfrm>
            <a:off x="1658533" y="1110769"/>
            <a:ext cx="9144000" cy="2387600"/>
          </a:xfrm>
        </p:spPr>
        <p:txBody>
          <a:bodyPr>
            <a:normAutofit/>
          </a:bodyPr>
          <a:lstStyle/>
          <a:p>
            <a:pPr algn="ctr"/>
            <a:r>
              <a:rPr lang="en-US" sz="4400" dirty="0">
                <a:solidFill>
                  <a:schemeClr val="bg2">
                    <a:lumMod val="25000"/>
                  </a:schemeClr>
                </a:solidFill>
              </a:rPr>
              <a:t>Machine Learning &amp; Deep Learning applications for environmental analysis and modeling </a:t>
            </a:r>
            <a:endParaRPr lang="it-IT" sz="4400" dirty="0">
              <a:solidFill>
                <a:schemeClr val="bg2">
                  <a:lumMod val="25000"/>
                </a:schemeClr>
              </a:solidFill>
            </a:endParaRPr>
          </a:p>
        </p:txBody>
      </p:sp>
      <p:sp>
        <p:nvSpPr>
          <p:cNvPr id="4" name="TextBox 3">
            <a:extLst>
              <a:ext uri="{FF2B5EF4-FFF2-40B4-BE49-F238E27FC236}">
                <a16:creationId xmlns:a16="http://schemas.microsoft.com/office/drawing/2014/main" id="{BFAB4FB6-7EFE-4C05-B8BB-E1B56E36B10A}"/>
              </a:ext>
            </a:extLst>
          </p:cNvPr>
          <p:cNvSpPr txBox="1"/>
          <p:nvPr/>
        </p:nvSpPr>
        <p:spPr>
          <a:xfrm>
            <a:off x="3049044" y="4687245"/>
            <a:ext cx="6093912" cy="646331"/>
          </a:xfrm>
          <a:prstGeom prst="rect">
            <a:avLst/>
          </a:prstGeom>
          <a:noFill/>
        </p:spPr>
        <p:txBody>
          <a:bodyPr wrap="square">
            <a:spAutoFit/>
          </a:bodyPr>
          <a:lstStyle/>
          <a:p>
            <a:pPr algn="ctr"/>
            <a:r>
              <a:rPr lang="en-US" sz="1800" dirty="0"/>
              <a:t>20 May 2026  Mirko D’Andrea </a:t>
            </a:r>
            <a:r>
              <a:rPr lang="en-US" sz="1800" u="sng" dirty="0">
                <a:hlinkClick r:id="rId2"/>
              </a:rPr>
              <a:t>mirko.dandrea@cimafoundation.org</a:t>
            </a:r>
            <a:endParaRPr lang="it-IT" dirty="0"/>
          </a:p>
        </p:txBody>
      </p:sp>
      <p:sp>
        <p:nvSpPr>
          <p:cNvPr id="6" name="TextBox 5">
            <a:extLst>
              <a:ext uri="{FF2B5EF4-FFF2-40B4-BE49-F238E27FC236}">
                <a16:creationId xmlns:a16="http://schemas.microsoft.com/office/drawing/2014/main" id="{0B42AD8C-DE5B-44E6-6EA5-9D0960E60DB9}"/>
              </a:ext>
            </a:extLst>
          </p:cNvPr>
          <p:cNvSpPr txBox="1"/>
          <p:nvPr/>
        </p:nvSpPr>
        <p:spPr>
          <a:xfrm>
            <a:off x="3183577" y="3723475"/>
            <a:ext cx="6093912" cy="369332"/>
          </a:xfrm>
          <a:prstGeom prst="rect">
            <a:avLst/>
          </a:prstGeom>
          <a:noFill/>
        </p:spPr>
        <p:txBody>
          <a:bodyPr wrap="square">
            <a:spAutoFit/>
          </a:bodyPr>
          <a:lstStyle/>
          <a:p>
            <a:pPr marL="0" indent="0" algn="ctr">
              <a:buFont typeface="Arial" panose="020B0604020202020204" pitchFamily="34" charset="0"/>
              <a:buNone/>
            </a:pPr>
            <a:r>
              <a:rPr lang="it-IT" sz="1800" b="1" dirty="0"/>
              <a:t>Module 1: </a:t>
            </a:r>
            <a:r>
              <a:rPr lang="en-US" sz="1800" b="1" dirty="0"/>
              <a:t>Classical Machine Learning </a:t>
            </a:r>
          </a:p>
        </p:txBody>
      </p:sp>
    </p:spTree>
    <p:extLst>
      <p:ext uri="{BB962C8B-B14F-4D97-AF65-F5344CB8AC3E}">
        <p14:creationId xmlns:p14="http://schemas.microsoft.com/office/powerpoint/2010/main" val="3261482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2D773F12-383C-8CAC-60AD-67CE950638CC}"/>
              </a:ext>
            </a:extLst>
          </p:cNvPr>
          <p:cNvSpPr txBox="1">
            <a:spLocks/>
          </p:cNvSpPr>
          <p:nvPr/>
        </p:nvSpPr>
        <p:spPr>
          <a:xfrm>
            <a:off x="315310" y="1195289"/>
            <a:ext cx="10220007" cy="2246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2400" b="1" dirty="0"/>
              <a:t>Module 1: </a:t>
            </a:r>
            <a:r>
              <a:rPr lang="en-US" sz="2400" b="1" dirty="0"/>
              <a:t>Classical Machine Learning </a:t>
            </a:r>
          </a:p>
          <a:p>
            <a:pPr marL="0" indent="0" fontAlgn="base">
              <a:buNone/>
            </a:pPr>
            <a:r>
              <a:rPr lang="en-US" sz="1200" b="1" dirty="0"/>
              <a:t>Date:</a:t>
            </a:r>
            <a:r>
              <a:rPr lang="en-US" sz="1200" dirty="0"/>
              <a:t> 20 May 2026  </a:t>
            </a:r>
            <a:r>
              <a:rPr lang="en-US" sz="1200" b="1" dirty="0"/>
              <a:t>Instructor:</a:t>
            </a:r>
            <a:r>
              <a:rPr lang="en-US" sz="1200" dirty="0"/>
              <a:t> Mirko D’Andrea (</a:t>
            </a:r>
            <a:r>
              <a:rPr lang="en-US" sz="1200" u="sng" dirty="0">
                <a:hlinkClick r:id="rId3"/>
              </a:rPr>
              <a:t>mirko.dandrea@cimafoundation.org</a:t>
            </a:r>
            <a:r>
              <a:rPr lang="en-US" sz="1200" dirty="0"/>
              <a:t>) </a:t>
            </a:r>
          </a:p>
          <a:p>
            <a:pPr marL="0" indent="0" fontAlgn="base">
              <a:buNone/>
            </a:pPr>
            <a:r>
              <a:rPr lang="en-US" sz="1200" dirty="0"/>
              <a:t>Implementation of classical ML algorithms with a focus on </a:t>
            </a:r>
            <a:r>
              <a:rPr lang="en-US" sz="1200" b="1" dirty="0"/>
              <a:t>fire risk assessment</a:t>
            </a:r>
            <a:r>
              <a:rPr lang="en-US" sz="1200" dirty="0"/>
              <a:t>. </a:t>
            </a:r>
          </a:p>
          <a:p>
            <a:pPr lvl="1" fontAlgn="base"/>
            <a:r>
              <a:rPr lang="en-US" sz="1200" b="1" dirty="0"/>
              <a:t>Introduction to ML: fundamental concepts</a:t>
            </a:r>
            <a:r>
              <a:rPr lang="en-US" sz="1200" dirty="0"/>
              <a:t> </a:t>
            </a:r>
          </a:p>
          <a:p>
            <a:pPr lvl="1" fontAlgn="base"/>
            <a:r>
              <a:rPr lang="en-US" sz="1200" b="1" dirty="0"/>
              <a:t>Classical ML algorithms</a:t>
            </a:r>
            <a:r>
              <a:rPr lang="en-US" sz="1200" dirty="0"/>
              <a:t> </a:t>
            </a:r>
          </a:p>
          <a:p>
            <a:pPr lvl="1" fontAlgn="base"/>
            <a:r>
              <a:rPr lang="en-US" sz="1200" b="1" dirty="0"/>
              <a:t>Hands-on session:</a:t>
            </a:r>
            <a:r>
              <a:rPr lang="en-US" sz="1200" dirty="0"/>
              <a:t>  </a:t>
            </a:r>
          </a:p>
          <a:p>
            <a:pPr lvl="1" fontAlgn="base"/>
            <a:r>
              <a:rPr lang="en-US" sz="1200" dirty="0"/>
              <a:t>Wildfire susceptibility using Random Forest </a:t>
            </a:r>
          </a:p>
          <a:p>
            <a:pPr marL="0" indent="0">
              <a:buNone/>
            </a:pPr>
            <a:endParaRPr lang="it-IT" sz="2400" dirty="0"/>
          </a:p>
        </p:txBody>
      </p:sp>
      <p:sp>
        <p:nvSpPr>
          <p:cNvPr id="5" name="TextBox 4">
            <a:extLst>
              <a:ext uri="{FF2B5EF4-FFF2-40B4-BE49-F238E27FC236}">
                <a16:creationId xmlns:a16="http://schemas.microsoft.com/office/drawing/2014/main" id="{89FB6BBB-DF56-9340-170D-4379F554ECD7}"/>
              </a:ext>
            </a:extLst>
          </p:cNvPr>
          <p:cNvSpPr txBox="1"/>
          <p:nvPr/>
        </p:nvSpPr>
        <p:spPr>
          <a:xfrm>
            <a:off x="315310" y="3312285"/>
            <a:ext cx="10144838" cy="461665"/>
          </a:xfrm>
          <a:prstGeom prst="rect">
            <a:avLst/>
          </a:prstGeom>
          <a:noFill/>
        </p:spPr>
        <p:txBody>
          <a:bodyPr wrap="square">
            <a:spAutoFit/>
          </a:bodyPr>
          <a:lstStyle/>
          <a:p>
            <a:pPr marL="0" indent="0">
              <a:buFont typeface="Arial" panose="020B0604020202020204" pitchFamily="34" charset="0"/>
              <a:buNone/>
            </a:pPr>
            <a:r>
              <a:rPr lang="it-IT" sz="2400" b="1" dirty="0"/>
              <a:t>Module 2: </a:t>
            </a:r>
            <a:r>
              <a:rPr lang="en-US" sz="2400" b="1" dirty="0"/>
              <a:t>Deep Learning</a:t>
            </a:r>
          </a:p>
        </p:txBody>
      </p:sp>
      <p:sp>
        <p:nvSpPr>
          <p:cNvPr id="4" name="TextBox 3">
            <a:extLst>
              <a:ext uri="{FF2B5EF4-FFF2-40B4-BE49-F238E27FC236}">
                <a16:creationId xmlns:a16="http://schemas.microsoft.com/office/drawing/2014/main" id="{476765F0-389B-8003-E4C6-B4F129970282}"/>
              </a:ext>
            </a:extLst>
          </p:cNvPr>
          <p:cNvSpPr txBox="1"/>
          <p:nvPr/>
        </p:nvSpPr>
        <p:spPr>
          <a:xfrm>
            <a:off x="315310" y="494065"/>
            <a:ext cx="9013493" cy="369332"/>
          </a:xfrm>
          <a:prstGeom prst="rect">
            <a:avLst/>
          </a:prstGeom>
          <a:noFill/>
        </p:spPr>
        <p:txBody>
          <a:bodyPr wrap="none" rtlCol="0">
            <a:spAutoFit/>
          </a:bodyPr>
          <a:lstStyle/>
          <a:p>
            <a:r>
              <a:rPr lang="en-US" dirty="0"/>
              <a:t>Machine Learning &amp; Deep Learning applications for environmental analysis and modeling </a:t>
            </a:r>
            <a:endParaRPr lang="it-IT" dirty="0"/>
          </a:p>
        </p:txBody>
      </p:sp>
      <p:sp>
        <p:nvSpPr>
          <p:cNvPr id="7" name="TextBox 6">
            <a:extLst>
              <a:ext uri="{FF2B5EF4-FFF2-40B4-BE49-F238E27FC236}">
                <a16:creationId xmlns:a16="http://schemas.microsoft.com/office/drawing/2014/main" id="{F29D73A7-84E1-6782-98F0-10DC93ABF7D2}"/>
              </a:ext>
            </a:extLst>
          </p:cNvPr>
          <p:cNvSpPr txBox="1"/>
          <p:nvPr/>
        </p:nvSpPr>
        <p:spPr>
          <a:xfrm>
            <a:off x="359454" y="3773950"/>
            <a:ext cx="10175863" cy="1938992"/>
          </a:xfrm>
          <a:prstGeom prst="rect">
            <a:avLst/>
          </a:prstGeom>
          <a:noFill/>
        </p:spPr>
        <p:txBody>
          <a:bodyPr wrap="square" rtlCol="0">
            <a:spAutoFit/>
          </a:bodyPr>
          <a:lstStyle/>
          <a:p>
            <a:pPr fontAlgn="base"/>
            <a:r>
              <a:rPr lang="en-US" sz="1200" b="1" dirty="0"/>
              <a:t>Date:</a:t>
            </a:r>
            <a:r>
              <a:rPr lang="en-US" sz="1200" dirty="0"/>
              <a:t> 27 May 2026 </a:t>
            </a:r>
            <a:r>
              <a:rPr lang="en-US" sz="1200" b="1" dirty="0"/>
              <a:t>Instructor:</a:t>
            </a:r>
            <a:r>
              <a:rPr lang="en-US" sz="1200" dirty="0"/>
              <a:t> Luca Monaco (</a:t>
            </a:r>
            <a:r>
              <a:rPr lang="en-US" sz="1200" u="sng" dirty="0">
                <a:hlinkClick r:id="rId4"/>
              </a:rPr>
              <a:t>luca.monaco@cimafoundation.org</a:t>
            </a:r>
            <a:r>
              <a:rPr lang="en-US" sz="1200" dirty="0"/>
              <a:t>) </a:t>
            </a:r>
          </a:p>
          <a:p>
            <a:pPr fontAlgn="base"/>
            <a:r>
              <a:rPr lang="en-US" sz="1200" b="1" dirty="0"/>
              <a:t>Introduction to Deep Learning:</a:t>
            </a:r>
            <a:r>
              <a:rPr lang="en-US" sz="1200" dirty="0"/>
              <a:t> Fundamental concepts. </a:t>
            </a:r>
          </a:p>
          <a:p>
            <a:pPr fontAlgn="base"/>
            <a:r>
              <a:rPr lang="en-US" sz="1200" b="1" dirty="0"/>
              <a:t>The Modern ML Stack:</a:t>
            </a:r>
            <a:r>
              <a:rPr lang="en-US" sz="1200" dirty="0"/>
              <a:t> </a:t>
            </a:r>
          </a:p>
          <a:p>
            <a:pPr marL="742950" lvl="1" indent="-285750" fontAlgn="base">
              <a:buFont typeface="Arial" panose="020B0604020202020204" pitchFamily="34" charset="0"/>
              <a:buChar char="•"/>
            </a:pPr>
            <a:r>
              <a:rPr lang="en-US" sz="1200" b="1" dirty="0"/>
              <a:t>Data management:</a:t>
            </a:r>
            <a:r>
              <a:rPr lang="en-US" sz="1200" dirty="0"/>
              <a:t> Handling large-scale data with </a:t>
            </a:r>
            <a:r>
              <a:rPr lang="en-US" sz="1200" b="1" dirty="0"/>
              <a:t>Zarr</a:t>
            </a:r>
            <a:r>
              <a:rPr lang="en-US" sz="1200" dirty="0"/>
              <a:t>. </a:t>
            </a:r>
          </a:p>
          <a:p>
            <a:pPr marL="742950" lvl="1" indent="-285750" fontAlgn="base">
              <a:buFont typeface="Arial" panose="020B0604020202020204" pitchFamily="34" charset="0"/>
              <a:buChar char="•"/>
            </a:pPr>
            <a:r>
              <a:rPr lang="en-US" sz="1200" b="1" dirty="0"/>
              <a:t>Model frameworks:</a:t>
            </a:r>
            <a:r>
              <a:rPr lang="en-US" sz="1200" dirty="0"/>
              <a:t> Simplifying workflows via </a:t>
            </a:r>
            <a:r>
              <a:rPr lang="en-US" sz="1200" b="1" dirty="0" err="1"/>
              <a:t>PyTorch</a:t>
            </a:r>
            <a:r>
              <a:rPr lang="en-US" sz="1200" b="1" dirty="0"/>
              <a:t> Lightning</a:t>
            </a:r>
            <a:r>
              <a:rPr lang="en-US" sz="1200" dirty="0"/>
              <a:t>. </a:t>
            </a:r>
          </a:p>
          <a:p>
            <a:pPr marL="742950" lvl="1" indent="-285750" fontAlgn="base">
              <a:buFont typeface="Arial" panose="020B0604020202020204" pitchFamily="34" charset="0"/>
              <a:buChar char="•"/>
            </a:pPr>
            <a:r>
              <a:rPr lang="en-US" sz="1200" b="1" dirty="0"/>
              <a:t>Configuration management:</a:t>
            </a:r>
            <a:r>
              <a:rPr lang="en-US" sz="1200" dirty="0"/>
              <a:t> Using </a:t>
            </a:r>
            <a:r>
              <a:rPr lang="en-US" sz="1200" b="1" dirty="0"/>
              <a:t>Hydra</a:t>
            </a:r>
            <a:r>
              <a:rPr lang="en-US" sz="1200" dirty="0"/>
              <a:t> for flexible experiment setups. </a:t>
            </a:r>
          </a:p>
          <a:p>
            <a:pPr marL="742950" lvl="1" indent="-285750" fontAlgn="base">
              <a:buFont typeface="Arial" panose="020B0604020202020204" pitchFamily="34" charset="0"/>
              <a:buChar char="•"/>
            </a:pPr>
            <a:r>
              <a:rPr lang="en-US" sz="1200" b="1" dirty="0"/>
              <a:t>Experiment tracking:</a:t>
            </a:r>
            <a:r>
              <a:rPr lang="en-US" sz="1200" dirty="0"/>
              <a:t> Logging and versioning with </a:t>
            </a:r>
            <a:r>
              <a:rPr lang="en-US" sz="1200" b="1" dirty="0" err="1"/>
              <a:t>MLFlow</a:t>
            </a:r>
            <a:r>
              <a:rPr lang="en-US" sz="1200" dirty="0"/>
              <a:t>. </a:t>
            </a:r>
          </a:p>
          <a:p>
            <a:pPr fontAlgn="base"/>
            <a:r>
              <a:rPr lang="en-US" sz="1200" b="1" dirty="0"/>
              <a:t>Hands-on applications:</a:t>
            </a:r>
            <a:r>
              <a:rPr lang="en-US" sz="1200" dirty="0"/>
              <a:t> </a:t>
            </a:r>
          </a:p>
          <a:p>
            <a:pPr marL="742950" lvl="1" indent="-285750" fontAlgn="base">
              <a:buFont typeface="Arial" panose="020B0604020202020204" pitchFamily="34" charset="0"/>
              <a:buChar char="•"/>
            </a:pPr>
            <a:r>
              <a:rPr lang="en-US" sz="1200" dirty="0"/>
              <a:t>Precipitation forecast post-processing. </a:t>
            </a:r>
          </a:p>
          <a:p>
            <a:pPr marL="742950" lvl="1" indent="-285750" fontAlgn="base">
              <a:buFont typeface="Arial" panose="020B0604020202020204" pitchFamily="34" charset="0"/>
              <a:buChar char="•"/>
            </a:pPr>
            <a:r>
              <a:rPr lang="en-US" sz="1200" dirty="0"/>
              <a:t>Urban thermal comfort modeling. </a:t>
            </a:r>
            <a:endParaRPr lang="it-IT" sz="1200" dirty="0"/>
          </a:p>
        </p:txBody>
      </p:sp>
      <p:sp>
        <p:nvSpPr>
          <p:cNvPr id="9" name="TextBox 8">
            <a:extLst>
              <a:ext uri="{FF2B5EF4-FFF2-40B4-BE49-F238E27FC236}">
                <a16:creationId xmlns:a16="http://schemas.microsoft.com/office/drawing/2014/main" id="{1FEC2321-46E4-1FF0-5943-6F13223723C4}"/>
              </a:ext>
            </a:extLst>
          </p:cNvPr>
          <p:cNvSpPr txBox="1"/>
          <p:nvPr/>
        </p:nvSpPr>
        <p:spPr>
          <a:xfrm>
            <a:off x="8107155" y="3362409"/>
            <a:ext cx="3725391" cy="258532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1800" b="1" i="0" dirty="0">
                <a:solidFill>
                  <a:srgbClr val="000000"/>
                </a:solidFill>
                <a:effectLst/>
                <a:latin typeface="Century Gothic" panose="020B0502020202020204" pitchFamily="34" charset="0"/>
              </a:rPr>
              <a:t>Final Assessment:</a:t>
            </a:r>
            <a:r>
              <a:rPr lang="en-US" sz="1800" b="0" i="0" dirty="0">
                <a:solidFill>
                  <a:srgbClr val="000000"/>
                </a:solidFill>
                <a:effectLst/>
                <a:latin typeface="Century Gothic" panose="020B0502020202020204" pitchFamily="34" charset="0"/>
              </a:rPr>
              <a:t> </a:t>
            </a:r>
          </a:p>
          <a:p>
            <a:endParaRPr lang="en-US" dirty="0">
              <a:solidFill>
                <a:srgbClr val="000000"/>
              </a:solidFill>
              <a:latin typeface="Century Gothic" panose="020B0502020202020204" pitchFamily="34" charset="0"/>
            </a:endParaRPr>
          </a:p>
          <a:p>
            <a:r>
              <a:rPr lang="en-US" sz="1800" b="0" i="0" dirty="0">
                <a:solidFill>
                  <a:srgbClr val="000000"/>
                </a:solidFill>
                <a:effectLst/>
                <a:latin typeface="Century Gothic" panose="020B0502020202020204" pitchFamily="34" charset="0"/>
              </a:rPr>
              <a:t>Evaluation for this course will be based on a </a:t>
            </a:r>
            <a:r>
              <a:rPr lang="en-US" sz="1800" b="1" i="0" dirty="0">
                <a:solidFill>
                  <a:srgbClr val="000000"/>
                </a:solidFill>
                <a:effectLst/>
                <a:latin typeface="Century Gothic" panose="020B0502020202020204" pitchFamily="34" charset="0"/>
              </a:rPr>
              <a:t>written report</a:t>
            </a:r>
            <a:r>
              <a:rPr lang="en-US" sz="1800" b="0" i="0" dirty="0">
                <a:solidFill>
                  <a:srgbClr val="000000"/>
                </a:solidFill>
                <a:effectLst/>
                <a:latin typeface="Century Gothic" panose="020B0502020202020204" pitchFamily="34" charset="0"/>
              </a:rPr>
              <a:t> detailing the application of the methods discussed. You must follow the entire course to be eligible for the final assessment.  </a:t>
            </a:r>
            <a:endParaRPr lang="it-IT" dirty="0"/>
          </a:p>
        </p:txBody>
      </p:sp>
    </p:spTree>
    <p:extLst>
      <p:ext uri="{BB962C8B-B14F-4D97-AF65-F5344CB8AC3E}">
        <p14:creationId xmlns:p14="http://schemas.microsoft.com/office/powerpoint/2010/main" val="3080180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17B15-117E-61F3-E34B-C9799AD62C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1D985-A144-E593-D01F-2C8B2B7D67F0}"/>
              </a:ext>
            </a:extLst>
          </p:cNvPr>
          <p:cNvSpPr>
            <a:spLocks noGrp="1"/>
          </p:cNvSpPr>
          <p:nvPr>
            <p:ph type="title" idx="4294967295"/>
          </p:nvPr>
        </p:nvSpPr>
        <p:spPr>
          <a:xfrm>
            <a:off x="0" y="365125"/>
            <a:ext cx="10515600" cy="1325563"/>
          </a:xfrm>
        </p:spPr>
        <p:txBody>
          <a:bodyPr/>
          <a:lstStyle/>
          <a:p>
            <a:r>
              <a:rPr lang="it-IT" dirty="0"/>
              <a:t>Module 1 - </a:t>
            </a:r>
            <a:r>
              <a:rPr lang="it-IT" dirty="0" err="1"/>
              <a:t>Outline</a:t>
            </a:r>
            <a:endParaRPr lang="it-IT" dirty="0"/>
          </a:p>
        </p:txBody>
      </p:sp>
      <p:sp>
        <p:nvSpPr>
          <p:cNvPr id="3" name="Content Placeholder 2">
            <a:extLst>
              <a:ext uri="{FF2B5EF4-FFF2-40B4-BE49-F238E27FC236}">
                <a16:creationId xmlns:a16="http://schemas.microsoft.com/office/drawing/2014/main" id="{6EE3CF57-052A-8940-6F04-BA77839EF495}"/>
              </a:ext>
            </a:extLst>
          </p:cNvPr>
          <p:cNvSpPr>
            <a:spLocks noGrp="1"/>
          </p:cNvSpPr>
          <p:nvPr>
            <p:ph idx="4294967295"/>
          </p:nvPr>
        </p:nvSpPr>
        <p:spPr>
          <a:xfrm>
            <a:off x="201798" y="1772044"/>
            <a:ext cx="10313801" cy="4404919"/>
          </a:xfrm>
        </p:spPr>
        <p:txBody>
          <a:bodyPr/>
          <a:lstStyle/>
          <a:p>
            <a:r>
              <a:rPr lang="it-IT" b="1" dirty="0"/>
              <a:t>Intro</a:t>
            </a:r>
          </a:p>
          <a:p>
            <a:r>
              <a:rPr lang="it-IT" dirty="0"/>
              <a:t>Basic ML Concepts</a:t>
            </a:r>
          </a:p>
          <a:p>
            <a:r>
              <a:rPr lang="it-IT" dirty="0"/>
              <a:t>Models </a:t>
            </a:r>
            <a:r>
              <a:rPr lang="it-IT" dirty="0" err="1"/>
              <a:t>overview</a:t>
            </a:r>
            <a:endParaRPr lang="it-IT" dirty="0"/>
          </a:p>
          <a:p>
            <a:r>
              <a:rPr lang="en-US" dirty="0"/>
              <a:t>Wildfire susceptibility using Random Forest </a:t>
            </a:r>
            <a:endParaRPr lang="it-IT" dirty="0"/>
          </a:p>
        </p:txBody>
      </p:sp>
    </p:spTree>
    <p:extLst>
      <p:ext uri="{BB962C8B-B14F-4D97-AF65-F5344CB8AC3E}">
        <p14:creationId xmlns:p14="http://schemas.microsoft.com/office/powerpoint/2010/main" val="656081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3FDBB-D0A2-4478-C1B3-9A68DF83C072}"/>
              </a:ext>
            </a:extLst>
          </p:cNvPr>
          <p:cNvSpPr>
            <a:spLocks noGrp="1"/>
          </p:cNvSpPr>
          <p:nvPr>
            <p:ph type="title" idx="4294967295"/>
          </p:nvPr>
        </p:nvSpPr>
        <p:spPr>
          <a:xfrm>
            <a:off x="0" y="42863"/>
            <a:ext cx="9510713" cy="854075"/>
          </a:xfrm>
        </p:spPr>
        <p:txBody>
          <a:bodyPr>
            <a:normAutofit/>
          </a:bodyPr>
          <a:lstStyle/>
          <a:p>
            <a:r>
              <a:rPr lang="en-GB" dirty="0"/>
              <a:t>What is Machine Learning?</a:t>
            </a:r>
          </a:p>
        </p:txBody>
      </p:sp>
      <p:sp>
        <p:nvSpPr>
          <p:cNvPr id="3" name="Content Placeholder 2">
            <a:extLst>
              <a:ext uri="{FF2B5EF4-FFF2-40B4-BE49-F238E27FC236}">
                <a16:creationId xmlns:a16="http://schemas.microsoft.com/office/drawing/2014/main" id="{33106E78-4285-F108-37FD-1B43143ADF9E}"/>
              </a:ext>
            </a:extLst>
          </p:cNvPr>
          <p:cNvSpPr>
            <a:spLocks noGrp="1"/>
          </p:cNvSpPr>
          <p:nvPr>
            <p:ph idx="4294967295"/>
          </p:nvPr>
        </p:nvSpPr>
        <p:spPr>
          <a:xfrm>
            <a:off x="7624763" y="1743075"/>
            <a:ext cx="4567237" cy="4217988"/>
          </a:xfrm>
        </p:spPr>
        <p:txBody>
          <a:bodyPr>
            <a:normAutofit fontScale="92500" lnSpcReduction="20000"/>
          </a:bodyPr>
          <a:lstStyle/>
          <a:p>
            <a:pPr marL="269875" indent="-269875">
              <a:buFont typeface="Arial" panose="020B0604020202020204" pitchFamily="34" charset="0"/>
              <a:buChar char="•"/>
            </a:pPr>
            <a:r>
              <a:rPr lang="en-US" dirty="0"/>
              <a:t>Machine learning (ML) is a type of </a:t>
            </a:r>
            <a:r>
              <a:rPr lang="en-US" dirty="0">
                <a:effectLst>
                  <a:outerShdw blurRad="38100" dist="38100" dir="2700000" algn="tl">
                    <a:srgbClr val="000000">
                      <a:alpha val="43137"/>
                    </a:srgbClr>
                  </a:outerShdw>
                </a:effectLst>
              </a:rPr>
              <a:t>computational technology </a:t>
            </a:r>
            <a:r>
              <a:rPr lang="en-US" dirty="0"/>
              <a:t>that enables machines (i.e., computers) to learn and make predictions without being explicitly programmed. </a:t>
            </a:r>
          </a:p>
          <a:p>
            <a:pPr marL="269875" indent="-269875">
              <a:buFont typeface="Arial" panose="020B0604020202020204" pitchFamily="34" charset="0"/>
              <a:buChar char="•"/>
            </a:pPr>
            <a:r>
              <a:rPr lang="en-US" dirty="0"/>
              <a:t>ML includes </a:t>
            </a:r>
            <a:r>
              <a:rPr lang="en-US" dirty="0">
                <a:effectLst>
                  <a:outerShdw blurRad="38100" dist="38100" dir="2700000" algn="tl">
                    <a:srgbClr val="000000">
                      <a:alpha val="43137"/>
                    </a:srgbClr>
                  </a:outerShdw>
                </a:effectLst>
              </a:rPr>
              <a:t>algorithms</a:t>
            </a:r>
            <a:r>
              <a:rPr lang="en-US" dirty="0"/>
              <a:t> capable of learning from data, through the modeling of the hidden relationships between a set of input and output variables.</a:t>
            </a:r>
          </a:p>
        </p:txBody>
      </p:sp>
      <p:sp>
        <p:nvSpPr>
          <p:cNvPr id="4" name="Date Placeholder 3">
            <a:extLst>
              <a:ext uri="{FF2B5EF4-FFF2-40B4-BE49-F238E27FC236}">
                <a16:creationId xmlns:a16="http://schemas.microsoft.com/office/drawing/2014/main" id="{DEE9CD2B-A382-236B-F557-606A15AECD94}"/>
              </a:ext>
            </a:extLst>
          </p:cNvPr>
          <p:cNvSpPr>
            <a:spLocks noGrp="1"/>
          </p:cNvSpPr>
          <p:nvPr>
            <p:ph type="dt" sz="half" idx="4294967295"/>
          </p:nvPr>
        </p:nvSpPr>
        <p:spPr>
          <a:xfrm>
            <a:off x="0" y="6459538"/>
            <a:ext cx="2473325"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F3FA897C-9699-4853-A74E-9F2B17044C06}" type="datetime1">
              <a:rPr kumimoji="0" lang="en-GB" sz="900" b="0" i="0" u="none" strike="noStrike" kern="1200" cap="none" spc="0" normalizeH="0" baseline="0" noProof="0" smtClean="0">
                <a:ln>
                  <a:noFill/>
                </a:ln>
                <a:solidFill>
                  <a:srgbClr val="FFFFFF"/>
                </a:solidFill>
                <a:effectLst/>
                <a:uLnTx/>
                <a:uFillTx/>
                <a:latin typeface="Calibri" panose="020F0502020204030204"/>
                <a:ea typeface="+mn-ea"/>
                <a:cs typeface="+mn-cs"/>
              </a:rPr>
              <a:t>20/05/2026</a:t>
            </a:fld>
            <a:endParaRPr kumimoji="0" lang="en-GB"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DF5F4C1-1816-D1A9-2A5B-D712E51F4514}"/>
              </a:ext>
            </a:extLst>
          </p:cNvPr>
          <p:cNvSpPr>
            <a:spLocks noGrp="1"/>
          </p:cNvSpPr>
          <p:nvPr>
            <p:ph type="ftr" sz="quarter" idx="4294967295"/>
          </p:nvPr>
        </p:nvSpPr>
        <p:spPr>
          <a:xfrm>
            <a:off x="7369175" y="6459538"/>
            <a:ext cx="4822825"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900" b="0" i="0" u="none" strike="noStrike" kern="1200" cap="all" spc="0" normalizeH="0" baseline="0" noProof="0">
                <a:ln>
                  <a:noFill/>
                </a:ln>
                <a:solidFill>
                  <a:srgbClr val="FFFFFF"/>
                </a:solidFill>
                <a:effectLst/>
                <a:uLnTx/>
                <a:uFillTx/>
                <a:latin typeface="Calibri" panose="020F0502020204030204"/>
                <a:ea typeface="+mn-ea"/>
                <a:cs typeface="+mn-cs"/>
              </a:rPr>
              <a:t>spatial data science</a:t>
            </a:r>
          </a:p>
        </p:txBody>
      </p:sp>
      <p:sp>
        <p:nvSpPr>
          <p:cNvPr id="6" name="Slide Number Placeholder 5">
            <a:extLst>
              <a:ext uri="{FF2B5EF4-FFF2-40B4-BE49-F238E27FC236}">
                <a16:creationId xmlns:a16="http://schemas.microsoft.com/office/drawing/2014/main" id="{DDFF84E9-739C-3172-1EBC-FED6C6ED40A3}"/>
              </a:ext>
            </a:extLst>
          </p:cNvPr>
          <p:cNvSpPr>
            <a:spLocks noGrp="1"/>
          </p:cNvSpPr>
          <p:nvPr>
            <p:ph type="sldNum" sz="quarter" idx="4294967295"/>
          </p:nvPr>
        </p:nvSpPr>
        <p:spPr>
          <a:xfrm>
            <a:off x="10880725" y="6459538"/>
            <a:ext cx="1311275"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739E23D-4390-4CDB-B93D-C3F52820B20A}" type="slidenum">
              <a:rPr kumimoji="0" lang="en-GB"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GB"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2" descr="The difference between Classical Programming and Machine Learning. The... |  Download Scientific Diagram">
            <a:extLst>
              <a:ext uri="{FF2B5EF4-FFF2-40B4-BE49-F238E27FC236}">
                <a16:creationId xmlns:a16="http://schemas.microsoft.com/office/drawing/2014/main" id="{E154AE05-A2FB-45C7-C8D3-1FD4944B4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923" y="1701284"/>
            <a:ext cx="6590523" cy="4117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165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DAF9-BADF-8C83-37C5-94FE394EC57A}"/>
            </a:ext>
          </a:extLst>
        </p:cNvPr>
        <p:cNvGrpSpPr/>
        <p:nvPr/>
      </p:nvGrpSpPr>
      <p:grpSpPr>
        <a:xfrm>
          <a:off x="0" y="0"/>
          <a:ext cx="0" cy="0"/>
          <a:chOff x="0" y="0"/>
          <a:chExt cx="0" cy="0"/>
        </a:xfrm>
      </p:grpSpPr>
      <p:pic>
        <p:nvPicPr>
          <p:cNvPr id="2" name="Picture 2" descr="Machine Learning">
            <a:extLst>
              <a:ext uri="{FF2B5EF4-FFF2-40B4-BE49-F238E27FC236}">
                <a16:creationId xmlns:a16="http://schemas.microsoft.com/office/drawing/2014/main" id="{48EB98F4-9A97-BC49-FB29-B3E513E5DD4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3065" y="916800"/>
            <a:ext cx="4001315" cy="47352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27AE8C7-5976-5756-E7E6-B77B107E8922}"/>
              </a:ext>
            </a:extLst>
          </p:cNvPr>
          <p:cNvSpPr txBox="1"/>
          <p:nvPr/>
        </p:nvSpPr>
        <p:spPr>
          <a:xfrm>
            <a:off x="583065" y="5652084"/>
            <a:ext cx="4001315" cy="369332"/>
          </a:xfrm>
          <a:prstGeom prst="rect">
            <a:avLst/>
          </a:prstGeom>
          <a:noFill/>
        </p:spPr>
        <p:txBody>
          <a:bodyPr wrap="square">
            <a:spAutoFit/>
          </a:bodyPr>
          <a:lstStyle/>
          <a:p>
            <a:pPr algn="ctr"/>
            <a:r>
              <a:rPr lang="it-IT" dirty="0"/>
              <a:t>https://</a:t>
            </a:r>
            <a:r>
              <a:rPr lang="it-IT" dirty="0" err="1"/>
              <a:t>xkcd.com</a:t>
            </a:r>
            <a:r>
              <a:rPr lang="it-IT" dirty="0"/>
              <a:t>/1838/</a:t>
            </a:r>
          </a:p>
        </p:txBody>
      </p:sp>
      <p:sp>
        <p:nvSpPr>
          <p:cNvPr id="5" name="TextBox 4">
            <a:extLst>
              <a:ext uri="{FF2B5EF4-FFF2-40B4-BE49-F238E27FC236}">
                <a16:creationId xmlns:a16="http://schemas.microsoft.com/office/drawing/2014/main" id="{1BB99B2D-46D1-310C-ACC6-B2ED1E0FA193}"/>
              </a:ext>
            </a:extLst>
          </p:cNvPr>
          <p:cNvSpPr txBox="1"/>
          <p:nvPr/>
        </p:nvSpPr>
        <p:spPr>
          <a:xfrm>
            <a:off x="5000823" y="916801"/>
            <a:ext cx="6533229" cy="5078313"/>
          </a:xfrm>
          <a:prstGeom prst="rect">
            <a:avLst/>
          </a:prstGeom>
          <a:noFill/>
        </p:spPr>
        <p:txBody>
          <a:bodyPr wrap="square">
            <a:spAutoFit/>
          </a:bodyPr>
          <a:lstStyle/>
          <a:p>
            <a:r>
              <a:rPr lang="en-US" dirty="0"/>
              <a:t>ML performs particularly well to model environmental hazards, which naturally present </a:t>
            </a:r>
            <a:r>
              <a:rPr lang="en-US" b="1" dirty="0"/>
              <a:t>complex interactions</a:t>
            </a:r>
            <a:r>
              <a:rPr lang="en-US" dirty="0"/>
              <a:t> and </a:t>
            </a:r>
            <a:r>
              <a:rPr lang="en-US" b="1" dirty="0"/>
              <a:t>non-linear</a:t>
            </a:r>
            <a:r>
              <a:rPr lang="en-US" dirty="0"/>
              <a:t> behaviors. </a:t>
            </a:r>
          </a:p>
          <a:p>
            <a:endParaRPr lang="en-US" dirty="0"/>
          </a:p>
          <a:p>
            <a:r>
              <a:rPr lang="en-US" dirty="0"/>
              <a:t>For example: wildfire occurrence can depend simultaneously on vegetation, topography, climate, human accessibility, etc.</a:t>
            </a:r>
          </a:p>
          <a:p>
            <a:endParaRPr lang="en-US" dirty="0"/>
          </a:p>
          <a:p>
            <a:endParaRPr lang="en-US" dirty="0"/>
          </a:p>
          <a:p>
            <a:endParaRPr lang="en-US" dirty="0"/>
          </a:p>
          <a:p>
            <a:r>
              <a:rPr lang="en-US" dirty="0"/>
              <a:t>Traditional rule-based models struggle to represent these interactions. Machine Learning can leverage this environmental data abundance and learn patterns and relations from historical data.</a:t>
            </a:r>
          </a:p>
          <a:p>
            <a:endParaRPr lang="en-US" dirty="0"/>
          </a:p>
          <a:p>
            <a:endParaRPr lang="en-US" dirty="0"/>
          </a:p>
          <a:p>
            <a:endParaRPr lang="en-US" dirty="0"/>
          </a:p>
          <a:p>
            <a:endParaRPr lang="en-US" dirty="0"/>
          </a:p>
          <a:p>
            <a:endParaRPr lang="en-US" dirty="0"/>
          </a:p>
        </p:txBody>
      </p:sp>
      <p:sp>
        <p:nvSpPr>
          <p:cNvPr id="6" name="Title 1">
            <a:extLst>
              <a:ext uri="{FF2B5EF4-FFF2-40B4-BE49-F238E27FC236}">
                <a16:creationId xmlns:a16="http://schemas.microsoft.com/office/drawing/2014/main" id="{6787F17F-7763-56E3-FED8-9A42A956EE69}"/>
              </a:ext>
            </a:extLst>
          </p:cNvPr>
          <p:cNvSpPr txBox="1">
            <a:spLocks/>
          </p:cNvSpPr>
          <p:nvPr/>
        </p:nvSpPr>
        <p:spPr>
          <a:xfrm>
            <a:off x="390923" y="42460"/>
            <a:ext cx="9509535" cy="854481"/>
          </a:xfrm>
          <a:prstGeom prst="rect">
            <a:avLst/>
          </a:prstGeom>
        </p:spPr>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Machine Learning in environmental </a:t>
            </a:r>
            <a:r>
              <a:rPr lang="en-GB" dirty="0" err="1"/>
              <a:t>modeling</a:t>
            </a:r>
            <a:endParaRPr lang="en-GB" dirty="0"/>
          </a:p>
        </p:txBody>
      </p:sp>
    </p:spTree>
    <p:extLst>
      <p:ext uri="{BB962C8B-B14F-4D97-AF65-F5344CB8AC3E}">
        <p14:creationId xmlns:p14="http://schemas.microsoft.com/office/powerpoint/2010/main" val="662426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59A5B-136F-8065-56CB-3A8524E5A349}"/>
              </a:ext>
            </a:extLst>
          </p:cNvPr>
          <p:cNvSpPr>
            <a:spLocks noGrp="1"/>
          </p:cNvSpPr>
          <p:nvPr>
            <p:ph type="title" idx="4294967295"/>
          </p:nvPr>
        </p:nvSpPr>
        <p:spPr>
          <a:xfrm>
            <a:off x="0" y="0"/>
            <a:ext cx="8229600" cy="1382713"/>
          </a:xfrm>
        </p:spPr>
        <p:txBody>
          <a:bodyPr/>
          <a:lstStyle/>
          <a:p>
            <a:pPr algn="ctr"/>
            <a:r>
              <a:rPr lang="en-GB" dirty="0"/>
              <a:t>The first rule of Machine Learning: </a:t>
            </a:r>
            <a:br>
              <a:rPr lang="en-GB" dirty="0"/>
            </a:br>
            <a:r>
              <a:rPr lang="en-GB" dirty="0"/>
              <a:t>Garbage In -&gt; Garbage Out !</a:t>
            </a:r>
          </a:p>
        </p:txBody>
      </p:sp>
      <p:sp>
        <p:nvSpPr>
          <p:cNvPr id="16" name="Content Placeholder 10">
            <a:extLst>
              <a:ext uri="{FF2B5EF4-FFF2-40B4-BE49-F238E27FC236}">
                <a16:creationId xmlns:a16="http://schemas.microsoft.com/office/drawing/2014/main" id="{9DE71CE0-E2E7-C456-68B5-87CAB5F95B01}"/>
              </a:ext>
            </a:extLst>
          </p:cNvPr>
          <p:cNvSpPr txBox="1">
            <a:spLocks/>
          </p:cNvSpPr>
          <p:nvPr/>
        </p:nvSpPr>
        <p:spPr>
          <a:xfrm>
            <a:off x="3892691" y="2272370"/>
            <a:ext cx="4728264" cy="3356637"/>
          </a:xfrm>
          <a:prstGeom prst="rect">
            <a:avLst/>
          </a:prstGeom>
          <a:solidFill>
            <a:schemeClr val="bg1"/>
          </a:solidFill>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Calibri Light (Headings)"/>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Calibri Light (Headings)"/>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Calibri Light (Headings)"/>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Calibri Light (Headings)"/>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Calibri Light (Headings)"/>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31460" indent="-342900" defTabSz="720000">
              <a:lnSpc>
                <a:spcPct val="100000"/>
              </a:lnSpc>
              <a:spcBef>
                <a:spcPts val="0"/>
              </a:spcBef>
              <a:spcAft>
                <a:spcPts val="600"/>
              </a:spcAft>
              <a:buFont typeface="Arial" panose="020B0604020202020204" pitchFamily="34" charset="0"/>
              <a:buChar char="•"/>
            </a:pPr>
            <a:r>
              <a:rPr lang="en-US" sz="2200" dirty="0">
                <a:solidFill>
                  <a:srgbClr val="374151"/>
                </a:solidFill>
                <a:latin typeface="+mj-lt"/>
              </a:rPr>
              <a:t>No matter how sophisticated or advanced the algorithms or models used in data analysis, if the underlying data is flawed or inaccurate, the output will be equally flawed. </a:t>
            </a:r>
          </a:p>
          <a:p>
            <a:pPr marL="431460" indent="-342900" defTabSz="720000">
              <a:lnSpc>
                <a:spcPct val="100000"/>
              </a:lnSpc>
              <a:spcBef>
                <a:spcPts val="0"/>
              </a:spcBef>
              <a:spcAft>
                <a:spcPts val="600"/>
              </a:spcAft>
              <a:buFont typeface="Arial" panose="020B0604020202020204" pitchFamily="34" charset="0"/>
              <a:buChar char="•"/>
            </a:pPr>
            <a:r>
              <a:rPr lang="en-US" sz="2200" dirty="0">
                <a:solidFill>
                  <a:srgbClr val="374151"/>
                </a:solidFill>
                <a:latin typeface="+mj-lt"/>
              </a:rPr>
              <a:t>Any analysis or processing performed on </a:t>
            </a:r>
            <a:r>
              <a:rPr lang="en-US" sz="2200" dirty="0">
                <a:solidFill>
                  <a:srgbClr val="374151"/>
                </a:solidFill>
                <a:effectLst>
                  <a:outerShdw blurRad="38100" dist="38100" dir="2700000" algn="tl">
                    <a:srgbClr val="000000">
                      <a:alpha val="43137"/>
                    </a:srgbClr>
                  </a:outerShdw>
                </a:effectLst>
                <a:latin typeface="+mj-lt"/>
              </a:rPr>
              <a:t>flawed data </a:t>
            </a:r>
            <a:r>
              <a:rPr lang="en-US" sz="2200" dirty="0">
                <a:solidFill>
                  <a:srgbClr val="374151"/>
                </a:solidFill>
                <a:latin typeface="+mj-lt"/>
              </a:rPr>
              <a:t>will likely yield </a:t>
            </a:r>
            <a:r>
              <a:rPr lang="en-US" sz="2200" dirty="0">
                <a:solidFill>
                  <a:srgbClr val="374151"/>
                </a:solidFill>
                <a:effectLst>
                  <a:outerShdw blurRad="38100" dist="38100" dir="2700000" algn="tl">
                    <a:srgbClr val="000000">
                      <a:alpha val="43137"/>
                    </a:srgbClr>
                  </a:outerShdw>
                </a:effectLst>
                <a:latin typeface="+mj-lt"/>
              </a:rPr>
              <a:t>unreliable or inaccurate results.</a:t>
            </a:r>
          </a:p>
          <a:p>
            <a:pPr marL="431460" indent="-342900" defTabSz="720000">
              <a:lnSpc>
                <a:spcPct val="100000"/>
              </a:lnSpc>
              <a:spcBef>
                <a:spcPts val="0"/>
              </a:spcBef>
              <a:spcAft>
                <a:spcPts val="600"/>
              </a:spcAft>
              <a:buFont typeface="Arial" panose="020B0604020202020204" pitchFamily="34" charset="0"/>
              <a:buChar char="•"/>
            </a:pPr>
            <a:endParaRPr lang="en-GB" sz="2400" dirty="0"/>
          </a:p>
        </p:txBody>
      </p:sp>
    </p:spTree>
    <p:extLst>
      <p:ext uri="{BB962C8B-B14F-4D97-AF65-F5344CB8AC3E}">
        <p14:creationId xmlns:p14="http://schemas.microsoft.com/office/powerpoint/2010/main" val="3971855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C6DFC-C3B7-6F0B-336F-E17EFB4CA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10EAD-593E-C4DB-4FB4-6E789E8A30E2}"/>
              </a:ext>
            </a:extLst>
          </p:cNvPr>
          <p:cNvSpPr>
            <a:spLocks noGrp="1"/>
          </p:cNvSpPr>
          <p:nvPr>
            <p:ph type="title" idx="4294967295"/>
          </p:nvPr>
        </p:nvSpPr>
        <p:spPr>
          <a:xfrm>
            <a:off x="0" y="365125"/>
            <a:ext cx="10515600" cy="1325563"/>
          </a:xfrm>
        </p:spPr>
        <p:txBody>
          <a:bodyPr/>
          <a:lstStyle/>
          <a:p>
            <a:r>
              <a:rPr lang="it-IT" dirty="0" err="1"/>
              <a:t>Outline</a:t>
            </a:r>
            <a:endParaRPr lang="it-IT" dirty="0"/>
          </a:p>
        </p:txBody>
      </p:sp>
      <p:sp>
        <p:nvSpPr>
          <p:cNvPr id="3" name="Content Placeholder 2">
            <a:extLst>
              <a:ext uri="{FF2B5EF4-FFF2-40B4-BE49-F238E27FC236}">
                <a16:creationId xmlns:a16="http://schemas.microsoft.com/office/drawing/2014/main" id="{61D7527A-1921-E89F-94A5-744ED05D0F30}"/>
              </a:ext>
            </a:extLst>
          </p:cNvPr>
          <p:cNvSpPr>
            <a:spLocks noGrp="1"/>
          </p:cNvSpPr>
          <p:nvPr>
            <p:ph idx="4294967295"/>
          </p:nvPr>
        </p:nvSpPr>
        <p:spPr>
          <a:xfrm>
            <a:off x="163960" y="1825625"/>
            <a:ext cx="10351639" cy="4351338"/>
          </a:xfrm>
        </p:spPr>
        <p:txBody>
          <a:bodyPr/>
          <a:lstStyle/>
          <a:p>
            <a:r>
              <a:rPr lang="it-IT" dirty="0"/>
              <a:t>Intro</a:t>
            </a:r>
          </a:p>
          <a:p>
            <a:r>
              <a:rPr lang="it-IT" b="1" dirty="0"/>
              <a:t>Basic ML Concepts</a:t>
            </a:r>
          </a:p>
          <a:p>
            <a:r>
              <a:rPr lang="it-IT" dirty="0"/>
              <a:t>Models </a:t>
            </a:r>
            <a:r>
              <a:rPr lang="it-IT" dirty="0" err="1"/>
              <a:t>overview</a:t>
            </a:r>
            <a:endParaRPr lang="it-IT" dirty="0"/>
          </a:p>
          <a:p>
            <a:r>
              <a:rPr lang="en-US" dirty="0"/>
              <a:t>Wildfire susceptibility using Random Forest </a:t>
            </a:r>
            <a:endParaRPr lang="it-IT" dirty="0"/>
          </a:p>
        </p:txBody>
      </p:sp>
    </p:spTree>
    <p:extLst>
      <p:ext uri="{BB962C8B-B14F-4D97-AF65-F5344CB8AC3E}">
        <p14:creationId xmlns:p14="http://schemas.microsoft.com/office/powerpoint/2010/main" val="2580856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6B3494-F130-A657-C2B5-840DA3DF9E36}"/>
              </a:ext>
            </a:extLst>
          </p:cNvPr>
          <p:cNvPicPr>
            <a:picLocks noChangeAspect="1"/>
          </p:cNvPicPr>
          <p:nvPr/>
        </p:nvPicPr>
        <p:blipFill>
          <a:blip r:embed="rId3"/>
          <a:stretch>
            <a:fillRect/>
          </a:stretch>
        </p:blipFill>
        <p:spPr>
          <a:xfrm>
            <a:off x="1263606" y="1012803"/>
            <a:ext cx="9664787" cy="4832394"/>
          </a:xfrm>
          <a:prstGeom prst="rect">
            <a:avLst/>
          </a:prstGeom>
        </p:spPr>
      </p:pic>
    </p:spTree>
    <p:extLst>
      <p:ext uri="{BB962C8B-B14F-4D97-AF65-F5344CB8AC3E}">
        <p14:creationId xmlns:p14="http://schemas.microsoft.com/office/powerpoint/2010/main" val="4067047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4CC0D9-68A1-5051-564C-04326B7686AC}"/>
              </a:ext>
            </a:extLst>
          </p:cNvPr>
          <p:cNvPicPr>
            <a:picLocks noChangeAspect="1"/>
          </p:cNvPicPr>
          <p:nvPr/>
        </p:nvPicPr>
        <p:blipFill>
          <a:blip r:embed="rId3"/>
          <a:stretch>
            <a:fillRect/>
          </a:stretch>
        </p:blipFill>
        <p:spPr>
          <a:xfrm>
            <a:off x="2020614" y="661679"/>
            <a:ext cx="7772400" cy="4374299"/>
          </a:xfrm>
          <a:prstGeom prst="rect">
            <a:avLst/>
          </a:prstGeom>
        </p:spPr>
      </p:pic>
      <p:sp>
        <p:nvSpPr>
          <p:cNvPr id="2" name="Title 1"/>
          <p:cNvSpPr>
            <a:spLocks noGrp="1"/>
          </p:cNvSpPr>
          <p:nvPr>
            <p:ph type="title" idx="4294967295"/>
          </p:nvPr>
        </p:nvSpPr>
        <p:spPr>
          <a:xfrm>
            <a:off x="0" y="-34478"/>
            <a:ext cx="6142246" cy="1392314"/>
          </a:xfrm>
        </p:spPr>
        <p:txBody>
          <a:bodyPr>
            <a:normAutofit/>
          </a:bodyPr>
          <a:lstStyle/>
          <a:p>
            <a:r>
              <a:rPr lang="en-US" dirty="0"/>
              <a:t>Machine Learning Tasks</a:t>
            </a:r>
          </a:p>
        </p:txBody>
      </p:sp>
      <p:sp>
        <p:nvSpPr>
          <p:cNvPr id="13" name="TextBox 12">
            <a:extLst>
              <a:ext uri="{FF2B5EF4-FFF2-40B4-BE49-F238E27FC236}">
                <a16:creationId xmlns:a16="http://schemas.microsoft.com/office/drawing/2014/main" id="{1091914C-EE1E-C01F-912C-B6275635BA96}"/>
              </a:ext>
            </a:extLst>
          </p:cNvPr>
          <p:cNvSpPr txBox="1"/>
          <p:nvPr/>
        </p:nvSpPr>
        <p:spPr>
          <a:xfrm>
            <a:off x="490538" y="4839593"/>
            <a:ext cx="11430000" cy="1277273"/>
          </a:xfrm>
          <a:prstGeom prst="rect">
            <a:avLst/>
          </a:prstGeom>
          <a:ln>
            <a:noFill/>
          </a:ln>
        </p:spPr>
        <p:style>
          <a:lnRef idx="2">
            <a:schemeClr val="accent3"/>
          </a:lnRef>
          <a:fillRef idx="1">
            <a:schemeClr val="lt1"/>
          </a:fillRef>
          <a:effectRef idx="0">
            <a:schemeClr val="accent3"/>
          </a:effectRef>
          <a:fontRef idx="minor">
            <a:schemeClr val="dk1"/>
          </a:fontRef>
        </p:style>
        <p:txBody>
          <a:bodyPr wrap="square">
            <a:spAutoFit/>
          </a:bodyPr>
          <a:lstStyle/>
          <a:p>
            <a:pPr marL="93662">
              <a:spcAft>
                <a:spcPts val="600"/>
              </a:spcAft>
            </a:pPr>
            <a:r>
              <a:rPr lang="en-GB" sz="2400" dirty="0"/>
              <a:t>Supervised and unsupervised learning are the two main machine learning categories.</a:t>
            </a:r>
            <a:endParaRPr lang="en-US" sz="2400" dirty="0"/>
          </a:p>
          <a:p>
            <a:pPr marL="93662">
              <a:lnSpc>
                <a:spcPct val="100000"/>
              </a:lnSpc>
              <a:spcBef>
                <a:spcPts val="0"/>
              </a:spcBef>
              <a:spcAft>
                <a:spcPts val="600"/>
              </a:spcAft>
            </a:pPr>
            <a:r>
              <a:rPr lang="en-US" sz="2400" dirty="0"/>
              <a:t>T</a:t>
            </a:r>
            <a:r>
              <a:rPr lang="en-US" sz="2400" b="0" i="0" dirty="0">
                <a:effectLst/>
              </a:rPr>
              <a:t>he key difference between supervised and unsupervised learning is the </a:t>
            </a:r>
            <a:r>
              <a:rPr lang="en-US" sz="2400" b="0" i="0" dirty="0">
                <a:effectLst>
                  <a:outerShdw blurRad="38100" dist="38100" dir="2700000" algn="tl">
                    <a:srgbClr val="000000">
                      <a:alpha val="43137"/>
                    </a:srgbClr>
                  </a:outerShdw>
                </a:effectLst>
              </a:rPr>
              <a:t>use of labels</a:t>
            </a:r>
            <a:r>
              <a:rPr lang="en-US" sz="2400" b="0" i="0" dirty="0">
                <a:effectLst/>
              </a:rPr>
              <a:t>. </a:t>
            </a:r>
          </a:p>
        </p:txBody>
      </p:sp>
    </p:spTree>
    <p:extLst>
      <p:ext uri="{BB962C8B-B14F-4D97-AF65-F5344CB8AC3E}">
        <p14:creationId xmlns:p14="http://schemas.microsoft.com/office/powerpoint/2010/main" val="3982320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261A3-2947-3E42-2701-86E756A19B6A}"/>
              </a:ext>
            </a:extLst>
          </p:cNvPr>
          <p:cNvSpPr>
            <a:spLocks noGrp="1"/>
          </p:cNvSpPr>
          <p:nvPr>
            <p:ph type="title" idx="4294967295"/>
          </p:nvPr>
        </p:nvSpPr>
        <p:spPr>
          <a:xfrm>
            <a:off x="353148" y="167589"/>
            <a:ext cx="9021763" cy="901700"/>
          </a:xfrm>
        </p:spPr>
        <p:txBody>
          <a:bodyPr>
            <a:normAutofit fontScale="90000"/>
          </a:bodyPr>
          <a:lstStyle/>
          <a:p>
            <a:r>
              <a:rPr lang="en-GB" sz="4000" dirty="0"/>
              <a:t>Features</a:t>
            </a:r>
            <a:r>
              <a:rPr lang="en-GB" dirty="0"/>
              <a:t> </a:t>
            </a:r>
            <a:br>
              <a:rPr lang="en-GB" dirty="0"/>
            </a:br>
            <a:r>
              <a:rPr lang="en-GB" sz="2700" i="1" dirty="0"/>
              <a:t>input variables</a:t>
            </a:r>
          </a:p>
        </p:txBody>
      </p:sp>
      <p:sp>
        <p:nvSpPr>
          <p:cNvPr id="3" name="Content Placeholder 2">
            <a:extLst>
              <a:ext uri="{FF2B5EF4-FFF2-40B4-BE49-F238E27FC236}">
                <a16:creationId xmlns:a16="http://schemas.microsoft.com/office/drawing/2014/main" id="{F1E54E4A-DA7A-6864-C3CB-5FB7012903F5}"/>
              </a:ext>
            </a:extLst>
          </p:cNvPr>
          <p:cNvSpPr>
            <a:spLocks noGrp="1"/>
          </p:cNvSpPr>
          <p:nvPr>
            <p:ph idx="4294967295"/>
          </p:nvPr>
        </p:nvSpPr>
        <p:spPr>
          <a:xfrm>
            <a:off x="353148" y="1295848"/>
            <a:ext cx="4551363" cy="701675"/>
          </a:xfrm>
        </p:spPr>
        <p:txBody>
          <a:bodyPr>
            <a:noAutofit/>
          </a:bodyPr>
          <a:lstStyle/>
          <a:p>
            <a:pPr marL="0" indent="0">
              <a:spcAft>
                <a:spcPts val="600"/>
              </a:spcAft>
              <a:buNone/>
            </a:pPr>
            <a:r>
              <a:rPr lang="en-US" sz="2000" dirty="0"/>
              <a:t>A feature is an individual measurable property or characteristic of a phenomenon.</a:t>
            </a:r>
          </a:p>
        </p:txBody>
      </p:sp>
      <p:sp>
        <p:nvSpPr>
          <p:cNvPr id="4" name="Date Placeholder 3"/>
          <p:cNvSpPr>
            <a:spLocks noGrp="1"/>
          </p:cNvSpPr>
          <p:nvPr>
            <p:ph type="dt" sz="half" idx="4294967295"/>
          </p:nvPr>
        </p:nvSpPr>
        <p:spPr>
          <a:xfrm>
            <a:off x="9720263" y="6188075"/>
            <a:ext cx="2471737" cy="365125"/>
          </a:xfrm>
        </p:spPr>
        <p:txBody>
          <a:bodyP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fld id="{54FCFBE4-918A-498A-A37F-D93FDB2B9E70}" type="datetime1">
              <a:rPr kumimoji="0" lang="en-GB" sz="900" b="0" i="0" u="none" strike="noStrike" kern="1200" cap="none" spc="0" normalizeH="0" baseline="0" noProof="0" smtClean="0">
                <a:ln>
                  <a:noFill/>
                </a:ln>
                <a:solidFill>
                  <a:srgbClr val="FFFFFF"/>
                </a:solidFill>
                <a:effectLst/>
                <a:uLnTx/>
                <a:uFillTx/>
                <a:latin typeface="Calibri" panose="020F0502020204030204"/>
                <a:ea typeface="+mn-ea"/>
                <a:cs typeface="+mn-cs"/>
              </a:rPr>
              <a:t>20/05/2026</a:t>
            </a:fld>
            <a:endParaRPr kumimoji="0" lang="en-GB"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AutoShape 2" descr="A simplified image of a table showing key attributes related to wildfires. The table includes basic columns for fire intensity, spread rate, affected area, and weather conditions. The design is clean and minimalistic, with clear headers and no icons, focusing on readability with a straightforward color scheme.">
            <a:extLst>
              <a:ext uri="{FF2B5EF4-FFF2-40B4-BE49-F238E27FC236}">
                <a16:creationId xmlns:a16="http://schemas.microsoft.com/office/drawing/2014/main" id="{25345590-6854-52A9-4C6E-8FA46F4CF9AE}"/>
              </a:ext>
            </a:extLst>
          </p:cNvPr>
          <p:cNvSpPr>
            <a:spLocks noChangeAspect="1" noChangeArrowheads="1"/>
          </p:cNvSpPr>
          <p:nvPr/>
        </p:nvSpPr>
        <p:spPr bwMode="auto">
          <a:xfrm>
            <a:off x="5930988" y="34934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8" name="Picture 2">
            <a:extLst>
              <a:ext uri="{FF2B5EF4-FFF2-40B4-BE49-F238E27FC236}">
                <a16:creationId xmlns:a16="http://schemas.microsoft.com/office/drawing/2014/main" id="{782374A6-4F7E-A94D-5275-6B2FB61EA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561" y="2451653"/>
            <a:ext cx="3799113" cy="2388472"/>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FD70593B-1BFC-9002-8602-9F460C606182}"/>
              </a:ext>
            </a:extLst>
          </p:cNvPr>
          <p:cNvSpPr txBox="1">
            <a:spLocks/>
          </p:cNvSpPr>
          <p:nvPr/>
        </p:nvSpPr>
        <p:spPr>
          <a:xfrm>
            <a:off x="6235787" y="168116"/>
            <a:ext cx="3901158" cy="901173"/>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900" dirty="0"/>
              <a:t>Labels</a:t>
            </a:r>
          </a:p>
          <a:p>
            <a:r>
              <a:rPr lang="en-GB" sz="2400" i="1" dirty="0"/>
              <a:t>target variable</a:t>
            </a:r>
          </a:p>
        </p:txBody>
      </p:sp>
      <p:sp>
        <p:nvSpPr>
          <p:cNvPr id="17" name="TextBox 16">
            <a:extLst>
              <a:ext uri="{FF2B5EF4-FFF2-40B4-BE49-F238E27FC236}">
                <a16:creationId xmlns:a16="http://schemas.microsoft.com/office/drawing/2014/main" id="{92E2CDE1-04C0-A2F3-29DE-BB5102ED6292}"/>
              </a:ext>
            </a:extLst>
          </p:cNvPr>
          <p:cNvSpPr txBox="1"/>
          <p:nvPr/>
        </p:nvSpPr>
        <p:spPr>
          <a:xfrm>
            <a:off x="6235787" y="1195132"/>
            <a:ext cx="4844143" cy="707886"/>
          </a:xfrm>
          <a:prstGeom prst="rect">
            <a:avLst/>
          </a:prstGeom>
          <a:noFill/>
        </p:spPr>
        <p:txBody>
          <a:bodyPr wrap="square">
            <a:spAutoFit/>
          </a:bodyPr>
          <a:lstStyle/>
          <a:p>
            <a:r>
              <a:rPr lang="it-IT" sz="2000" dirty="0" err="1"/>
              <a:t>Our</a:t>
            </a:r>
            <a:r>
              <a:rPr lang="it-IT" sz="2000" dirty="0"/>
              <a:t> target </a:t>
            </a:r>
            <a:r>
              <a:rPr lang="it-IT" sz="2000" dirty="0" err="1"/>
              <a:t>variable</a:t>
            </a:r>
            <a:r>
              <a:rPr lang="it-IT" sz="2000" dirty="0"/>
              <a:t>, </a:t>
            </a:r>
            <a:r>
              <a:rPr lang="it-IT" sz="2000" dirty="0" err="1"/>
              <a:t>what</a:t>
            </a:r>
            <a:r>
              <a:rPr lang="it-IT" sz="2000" dirty="0"/>
              <a:t> </a:t>
            </a:r>
            <a:r>
              <a:rPr lang="it-IT" sz="2000" dirty="0" err="1"/>
              <a:t>we</a:t>
            </a:r>
            <a:r>
              <a:rPr lang="it-IT" sz="2000" dirty="0"/>
              <a:t> </a:t>
            </a:r>
            <a:r>
              <a:rPr lang="it-IT" sz="2000" dirty="0" err="1"/>
              <a:t>would</a:t>
            </a:r>
            <a:r>
              <a:rPr lang="it-IT" sz="2000" dirty="0"/>
              <a:t> like to </a:t>
            </a:r>
            <a:r>
              <a:rPr lang="it-IT" sz="2000" dirty="0" err="1"/>
              <a:t>predict</a:t>
            </a:r>
            <a:r>
              <a:rPr lang="it-IT" sz="2000" dirty="0"/>
              <a:t> </a:t>
            </a:r>
            <a:r>
              <a:rPr lang="it-IT" sz="2000" dirty="0" err="1"/>
              <a:t>using</a:t>
            </a:r>
            <a:r>
              <a:rPr lang="it-IT" sz="2000" dirty="0"/>
              <a:t> </a:t>
            </a:r>
            <a:r>
              <a:rPr lang="it-IT" sz="2000" dirty="0" err="1"/>
              <a:t>our</a:t>
            </a:r>
            <a:r>
              <a:rPr lang="it-IT" sz="2000" dirty="0"/>
              <a:t> ML </a:t>
            </a:r>
            <a:r>
              <a:rPr lang="it-IT" sz="2000" dirty="0" err="1"/>
              <a:t>algorithm</a:t>
            </a:r>
            <a:r>
              <a:rPr lang="it-IT" sz="2000" dirty="0"/>
              <a:t>.</a:t>
            </a:r>
          </a:p>
        </p:txBody>
      </p:sp>
      <p:graphicFrame>
        <p:nvGraphicFramePr>
          <p:cNvPr id="20" name="Table 19">
            <a:extLst>
              <a:ext uri="{FF2B5EF4-FFF2-40B4-BE49-F238E27FC236}">
                <a16:creationId xmlns:a16="http://schemas.microsoft.com/office/drawing/2014/main" id="{12F6F0D9-00B9-836B-B4D9-F3A714F47FE3}"/>
              </a:ext>
            </a:extLst>
          </p:cNvPr>
          <p:cNvGraphicFramePr>
            <a:graphicFrameLocks noGrp="1"/>
          </p:cNvGraphicFramePr>
          <p:nvPr/>
        </p:nvGraphicFramePr>
        <p:xfrm>
          <a:off x="6083388" y="2650752"/>
          <a:ext cx="5410200" cy="1543522"/>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1759823528"/>
                    </a:ext>
                  </a:extLst>
                </a:gridCol>
                <a:gridCol w="2193471">
                  <a:extLst>
                    <a:ext uri="{9D8B030D-6E8A-4147-A177-3AD203B41FA5}">
                      <a16:colId xmlns:a16="http://schemas.microsoft.com/office/drawing/2014/main" val="1676296954"/>
                    </a:ext>
                  </a:extLst>
                </a:gridCol>
                <a:gridCol w="1352550">
                  <a:extLst>
                    <a:ext uri="{9D8B030D-6E8A-4147-A177-3AD203B41FA5}">
                      <a16:colId xmlns:a16="http://schemas.microsoft.com/office/drawing/2014/main" val="1071461052"/>
                    </a:ext>
                  </a:extLst>
                </a:gridCol>
                <a:gridCol w="1352550">
                  <a:extLst>
                    <a:ext uri="{9D8B030D-6E8A-4147-A177-3AD203B41FA5}">
                      <a16:colId xmlns:a16="http://schemas.microsoft.com/office/drawing/2014/main" val="2134037579"/>
                    </a:ext>
                  </a:extLst>
                </a:gridCol>
              </a:tblGrid>
              <a:tr h="715014">
                <a:tc>
                  <a:txBody>
                    <a:bodyPr/>
                    <a:lstStyle/>
                    <a:p>
                      <a:endParaRPr lang="it-IT" dirty="0"/>
                    </a:p>
                  </a:txBody>
                  <a:tcPr/>
                </a:tc>
                <a:tc>
                  <a:txBody>
                    <a:bodyPr/>
                    <a:lstStyle/>
                    <a:p>
                      <a:r>
                        <a:rPr lang="it-IT" dirty="0"/>
                        <a:t>EAR SHAPE</a:t>
                      </a:r>
                    </a:p>
                    <a:p>
                      <a:r>
                        <a:rPr lang="it-IT" dirty="0"/>
                        <a:t>(FEATURE)</a:t>
                      </a:r>
                    </a:p>
                  </a:txBody>
                  <a:tcPr/>
                </a:tc>
                <a:tc>
                  <a:txBody>
                    <a:bodyPr/>
                    <a:lstStyle/>
                    <a:p>
                      <a:r>
                        <a:rPr lang="it-IT" dirty="0"/>
                        <a:t>NOSE SIZE</a:t>
                      </a:r>
                    </a:p>
                    <a:p>
                      <a:r>
                        <a:rPr lang="it-IT" dirty="0"/>
                        <a:t>(FEATURE)</a:t>
                      </a:r>
                    </a:p>
                  </a:txBody>
                  <a:tcPr/>
                </a:tc>
                <a:tc>
                  <a:txBody>
                    <a:bodyPr/>
                    <a:lstStyle/>
                    <a:p>
                      <a:r>
                        <a:rPr lang="it-IT" dirty="0"/>
                        <a:t>SPECIE</a:t>
                      </a:r>
                    </a:p>
                    <a:p>
                      <a:r>
                        <a:rPr lang="it-IT" dirty="0"/>
                        <a:t>(LABEL)</a:t>
                      </a:r>
                    </a:p>
                  </a:txBody>
                  <a:tcPr>
                    <a:solidFill>
                      <a:schemeClr val="accent6">
                        <a:lumMod val="50000"/>
                      </a:schemeClr>
                    </a:solidFill>
                  </a:tcPr>
                </a:tc>
                <a:extLst>
                  <a:ext uri="{0D108BD9-81ED-4DB2-BD59-A6C34878D82A}">
                    <a16:rowId xmlns:a16="http://schemas.microsoft.com/office/drawing/2014/main" val="3627375248"/>
                  </a:ext>
                </a:extLst>
              </a:tr>
              <a:tr h="414254">
                <a:tc>
                  <a:txBody>
                    <a:bodyPr/>
                    <a:lstStyle/>
                    <a:p>
                      <a:r>
                        <a:rPr lang="it-IT" dirty="0"/>
                        <a:t>1</a:t>
                      </a:r>
                    </a:p>
                  </a:txBody>
                  <a:tcPr/>
                </a:tc>
                <a:tc>
                  <a:txBody>
                    <a:bodyPr/>
                    <a:lstStyle/>
                    <a:p>
                      <a:r>
                        <a:rPr lang="it-IT" dirty="0"/>
                        <a:t>POINTY</a:t>
                      </a:r>
                    </a:p>
                  </a:txBody>
                  <a:tcPr/>
                </a:tc>
                <a:tc>
                  <a:txBody>
                    <a:bodyPr/>
                    <a:lstStyle/>
                    <a:p>
                      <a:r>
                        <a:rPr lang="it-IT" dirty="0"/>
                        <a:t>SMALL</a:t>
                      </a:r>
                    </a:p>
                  </a:txBody>
                  <a:tcPr/>
                </a:tc>
                <a:tc>
                  <a:txBody>
                    <a:bodyPr/>
                    <a:lstStyle/>
                    <a:p>
                      <a:r>
                        <a:rPr lang="it-IT" dirty="0"/>
                        <a:t>CAT</a:t>
                      </a:r>
                    </a:p>
                  </a:txBody>
                  <a:tcPr>
                    <a:solidFill>
                      <a:schemeClr val="accent6">
                        <a:lumMod val="75000"/>
                      </a:schemeClr>
                    </a:solidFill>
                  </a:tcPr>
                </a:tc>
                <a:extLst>
                  <a:ext uri="{0D108BD9-81ED-4DB2-BD59-A6C34878D82A}">
                    <a16:rowId xmlns:a16="http://schemas.microsoft.com/office/drawing/2014/main" val="330867295"/>
                  </a:ext>
                </a:extLst>
              </a:tr>
              <a:tr h="414254">
                <a:tc>
                  <a:txBody>
                    <a:bodyPr/>
                    <a:lstStyle/>
                    <a:p>
                      <a:r>
                        <a:rPr lang="it-IT" dirty="0"/>
                        <a:t>2</a:t>
                      </a:r>
                    </a:p>
                  </a:txBody>
                  <a:tcPr/>
                </a:tc>
                <a:tc>
                  <a:txBody>
                    <a:bodyPr/>
                    <a:lstStyle/>
                    <a:p>
                      <a:r>
                        <a:rPr lang="it-IT" dirty="0"/>
                        <a:t>ROUND</a:t>
                      </a:r>
                    </a:p>
                  </a:txBody>
                  <a:tcPr/>
                </a:tc>
                <a:tc>
                  <a:txBody>
                    <a:bodyPr/>
                    <a:lstStyle/>
                    <a:p>
                      <a:r>
                        <a:rPr lang="it-IT" dirty="0"/>
                        <a:t>MEDIUM</a:t>
                      </a:r>
                    </a:p>
                  </a:txBody>
                  <a:tcPr/>
                </a:tc>
                <a:tc>
                  <a:txBody>
                    <a:bodyPr/>
                    <a:lstStyle/>
                    <a:p>
                      <a:r>
                        <a:rPr lang="it-IT" dirty="0"/>
                        <a:t>DOG</a:t>
                      </a:r>
                    </a:p>
                  </a:txBody>
                  <a:tcPr>
                    <a:solidFill>
                      <a:schemeClr val="accent6">
                        <a:lumMod val="40000"/>
                        <a:lumOff val="60000"/>
                      </a:schemeClr>
                    </a:solidFill>
                  </a:tcPr>
                </a:tc>
                <a:extLst>
                  <a:ext uri="{0D108BD9-81ED-4DB2-BD59-A6C34878D82A}">
                    <a16:rowId xmlns:a16="http://schemas.microsoft.com/office/drawing/2014/main" val="4218546265"/>
                  </a:ext>
                </a:extLst>
              </a:tr>
            </a:tbl>
          </a:graphicData>
        </a:graphic>
      </p:graphicFrame>
      <p:sp>
        <p:nvSpPr>
          <p:cNvPr id="22" name="TextBox 21">
            <a:extLst>
              <a:ext uri="{FF2B5EF4-FFF2-40B4-BE49-F238E27FC236}">
                <a16:creationId xmlns:a16="http://schemas.microsoft.com/office/drawing/2014/main" id="{25120CAE-7BBD-DDFF-F52D-0B0FE9CA3B3A}"/>
              </a:ext>
            </a:extLst>
          </p:cNvPr>
          <p:cNvSpPr txBox="1"/>
          <p:nvPr/>
        </p:nvSpPr>
        <p:spPr>
          <a:xfrm>
            <a:off x="475597" y="5098086"/>
            <a:ext cx="11017991" cy="1169551"/>
          </a:xfrm>
          <a:prstGeom prst="rect">
            <a:avLst/>
          </a:prstGeom>
          <a:noFill/>
        </p:spPr>
        <p:txBody>
          <a:bodyPr wrap="square">
            <a:spAutoFit/>
          </a:bodyPr>
          <a:lstStyle/>
          <a:p>
            <a:pPr marL="0" indent="0">
              <a:spcAft>
                <a:spcPts val="600"/>
              </a:spcAft>
              <a:buNone/>
            </a:pPr>
            <a:r>
              <a:rPr lang="en-US" sz="2000" dirty="0"/>
              <a:t>Both </a:t>
            </a:r>
            <a:r>
              <a:rPr lang="en-US" sz="2000" b="1" dirty="0"/>
              <a:t>features</a:t>
            </a:r>
            <a:r>
              <a:rPr lang="en-US" sz="2000" dirty="0"/>
              <a:t> and </a:t>
            </a:r>
            <a:r>
              <a:rPr lang="en-US" sz="2000" b="1" dirty="0"/>
              <a:t>labels</a:t>
            </a:r>
            <a:r>
              <a:rPr lang="en-US" sz="2000" dirty="0"/>
              <a:t> can be:</a:t>
            </a:r>
          </a:p>
          <a:p>
            <a:pPr marL="342900" indent="-342900">
              <a:spcAft>
                <a:spcPts val="600"/>
              </a:spcAft>
              <a:buFont typeface="Arial" panose="020B0604020202020204" pitchFamily="34" charset="0"/>
              <a:buChar char="•"/>
            </a:pPr>
            <a:r>
              <a:rPr lang="en-US" sz="2000" b="1" dirty="0"/>
              <a:t>Numerical</a:t>
            </a:r>
            <a:r>
              <a:rPr lang="en-US" sz="2000" dirty="0"/>
              <a:t>: continuous values that can be measured on a scale (e.g. temperature)</a:t>
            </a:r>
          </a:p>
          <a:p>
            <a:pPr marL="342900" indent="-342900">
              <a:spcAft>
                <a:spcPts val="600"/>
              </a:spcAft>
              <a:buFont typeface="Arial" panose="020B0604020202020204" pitchFamily="34" charset="0"/>
              <a:buChar char="•"/>
            </a:pPr>
            <a:r>
              <a:rPr lang="en-US" sz="2000" b="1" dirty="0"/>
              <a:t>Categorical</a:t>
            </a:r>
            <a:r>
              <a:rPr lang="en-US" sz="2000" dirty="0"/>
              <a:t>: discrete values that can be grouped into categories (e.g. vegetation type)</a:t>
            </a:r>
            <a:endParaRPr lang="it-IT" sz="2000" dirty="0"/>
          </a:p>
        </p:txBody>
      </p:sp>
    </p:spTree>
    <p:extLst>
      <p:ext uri="{BB962C8B-B14F-4D97-AF65-F5344CB8AC3E}">
        <p14:creationId xmlns:p14="http://schemas.microsoft.com/office/powerpoint/2010/main" val="414037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D41274-1278-E056-CBDF-D3A5853F74B0}"/>
              </a:ext>
            </a:extLst>
          </p:cNvPr>
          <p:cNvSpPr>
            <a:spLocks noGrp="1"/>
          </p:cNvSpPr>
          <p:nvPr>
            <p:ph idx="4294967295"/>
          </p:nvPr>
        </p:nvSpPr>
        <p:spPr>
          <a:xfrm>
            <a:off x="619919" y="4615487"/>
            <a:ext cx="10952162" cy="1233488"/>
          </a:xfrm>
        </p:spPr>
        <p:txBody>
          <a:bodyPr>
            <a:normAutofit lnSpcReduction="10000"/>
          </a:bodyPr>
          <a:lstStyle/>
          <a:p>
            <a:pPr marL="0" indent="0">
              <a:buNone/>
            </a:pPr>
            <a:r>
              <a:rPr lang="en-GB" dirty="0"/>
              <a:t>The model learns the relationship between </a:t>
            </a:r>
            <a:r>
              <a:rPr lang="en-GB" b="1" dirty="0"/>
              <a:t>features (X)</a:t>
            </a:r>
            <a:r>
              <a:rPr lang="en-GB" dirty="0"/>
              <a:t> and the </a:t>
            </a:r>
            <a:r>
              <a:rPr lang="en-GB" b="1" dirty="0"/>
              <a:t>label (y)</a:t>
            </a:r>
            <a:r>
              <a:rPr lang="en-GB" dirty="0"/>
              <a:t> by minimizing an </a:t>
            </a:r>
            <a:r>
              <a:rPr lang="en-GB" b="1" dirty="0"/>
              <a:t>objective (loss) function</a:t>
            </a:r>
            <a:r>
              <a:rPr lang="en-GB" dirty="0"/>
              <a:t> on the training data, then its performance is evaluated on unseen test data.</a:t>
            </a:r>
          </a:p>
          <a:p>
            <a:endParaRPr lang="it-IT" i="1" dirty="0"/>
          </a:p>
        </p:txBody>
      </p:sp>
      <p:pic>
        <p:nvPicPr>
          <p:cNvPr id="4" name="Picture 3">
            <a:extLst>
              <a:ext uri="{FF2B5EF4-FFF2-40B4-BE49-F238E27FC236}">
                <a16:creationId xmlns:a16="http://schemas.microsoft.com/office/drawing/2014/main" id="{A8D0F07C-21DB-1E7F-A5C5-415D87300B69}"/>
              </a:ext>
            </a:extLst>
          </p:cNvPr>
          <p:cNvPicPr>
            <a:picLocks noChangeAspect="1"/>
          </p:cNvPicPr>
          <p:nvPr/>
        </p:nvPicPr>
        <p:blipFill>
          <a:blip r:embed="rId3"/>
          <a:stretch>
            <a:fillRect/>
          </a:stretch>
        </p:blipFill>
        <p:spPr>
          <a:xfrm>
            <a:off x="2011681" y="1671904"/>
            <a:ext cx="8490032" cy="2587290"/>
          </a:xfrm>
          <a:prstGeom prst="rect">
            <a:avLst/>
          </a:prstGeom>
        </p:spPr>
      </p:pic>
      <p:sp>
        <p:nvSpPr>
          <p:cNvPr id="6" name="Title 1">
            <a:extLst>
              <a:ext uri="{FF2B5EF4-FFF2-40B4-BE49-F238E27FC236}">
                <a16:creationId xmlns:a16="http://schemas.microsoft.com/office/drawing/2014/main" id="{9BAC5383-3B26-AD84-2249-88D62BF52143}"/>
              </a:ext>
            </a:extLst>
          </p:cNvPr>
          <p:cNvSpPr txBox="1">
            <a:spLocks/>
          </p:cNvSpPr>
          <p:nvPr/>
        </p:nvSpPr>
        <p:spPr>
          <a:xfrm>
            <a:off x="283780" y="47342"/>
            <a:ext cx="9022071" cy="90117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dirty="0"/>
              <a:t>Training</a:t>
            </a:r>
            <a:endParaRPr lang="en-GB" sz="2700" i="1" dirty="0"/>
          </a:p>
        </p:txBody>
      </p:sp>
    </p:spTree>
    <p:extLst>
      <p:ext uri="{BB962C8B-B14F-4D97-AF65-F5344CB8AC3E}">
        <p14:creationId xmlns:p14="http://schemas.microsoft.com/office/powerpoint/2010/main" val="473253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66ECEF0-9B5A-14F1-4876-056E58FA5D9C}"/>
              </a:ext>
            </a:extLst>
          </p:cNvPr>
          <p:cNvPicPr>
            <a:picLocks noChangeAspect="1"/>
          </p:cNvPicPr>
          <p:nvPr/>
        </p:nvPicPr>
        <p:blipFill>
          <a:blip r:embed="rId3"/>
          <a:stretch>
            <a:fillRect/>
          </a:stretch>
        </p:blipFill>
        <p:spPr>
          <a:xfrm>
            <a:off x="1623813" y="276919"/>
            <a:ext cx="8944374" cy="4472187"/>
          </a:xfrm>
          <a:prstGeom prst="rect">
            <a:avLst/>
          </a:prstGeom>
        </p:spPr>
      </p:pic>
      <p:sp>
        <p:nvSpPr>
          <p:cNvPr id="3" name="Title 1">
            <a:extLst>
              <a:ext uri="{FF2B5EF4-FFF2-40B4-BE49-F238E27FC236}">
                <a16:creationId xmlns:a16="http://schemas.microsoft.com/office/drawing/2014/main" id="{66B4E774-A0EE-A14B-0589-65C51DF8C23C}"/>
              </a:ext>
            </a:extLst>
          </p:cNvPr>
          <p:cNvSpPr txBox="1">
            <a:spLocks/>
          </p:cNvSpPr>
          <p:nvPr/>
        </p:nvSpPr>
        <p:spPr>
          <a:xfrm>
            <a:off x="283780" y="47342"/>
            <a:ext cx="9022071" cy="90117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dirty="0"/>
              <a:t>Testing</a:t>
            </a:r>
            <a:endParaRPr lang="en-GB" sz="2700" i="1" dirty="0"/>
          </a:p>
        </p:txBody>
      </p:sp>
      <p:sp>
        <p:nvSpPr>
          <p:cNvPr id="4" name="TextBox 3">
            <a:extLst>
              <a:ext uri="{FF2B5EF4-FFF2-40B4-BE49-F238E27FC236}">
                <a16:creationId xmlns:a16="http://schemas.microsoft.com/office/drawing/2014/main" id="{D88B97AD-49E8-C7B6-6B8B-B2C0073082E1}"/>
              </a:ext>
            </a:extLst>
          </p:cNvPr>
          <p:cNvSpPr txBox="1"/>
          <p:nvPr/>
        </p:nvSpPr>
        <p:spPr>
          <a:xfrm>
            <a:off x="403595" y="4449575"/>
            <a:ext cx="9969589" cy="1754326"/>
          </a:xfrm>
          <a:prstGeom prst="rect">
            <a:avLst/>
          </a:prstGeom>
          <a:noFill/>
        </p:spPr>
        <p:txBody>
          <a:bodyPr wrap="square" rtlCol="0">
            <a:spAutoFit/>
          </a:bodyPr>
          <a:lstStyle/>
          <a:p>
            <a:r>
              <a:rPr lang="it-IT" dirty="0"/>
              <a:t>Performance of the </a:t>
            </a:r>
            <a:r>
              <a:rPr lang="it-IT" dirty="0" err="1"/>
              <a:t>trained</a:t>
            </a:r>
            <a:r>
              <a:rPr lang="it-IT" dirty="0"/>
              <a:t> model </a:t>
            </a:r>
            <a:r>
              <a:rPr lang="it-IT" dirty="0" err="1"/>
              <a:t>should</a:t>
            </a:r>
            <a:r>
              <a:rPr lang="it-IT" dirty="0"/>
              <a:t> be </a:t>
            </a:r>
            <a:r>
              <a:rPr lang="it-IT" dirty="0" err="1"/>
              <a:t>tested</a:t>
            </a:r>
            <a:r>
              <a:rPr lang="it-IT" dirty="0"/>
              <a:t> </a:t>
            </a:r>
            <a:r>
              <a:rPr lang="it-IT" dirty="0" err="1"/>
              <a:t>against</a:t>
            </a:r>
            <a:r>
              <a:rPr lang="it-IT" dirty="0"/>
              <a:t> </a:t>
            </a:r>
            <a:r>
              <a:rPr lang="it-IT" i="1" dirty="0" err="1"/>
              <a:t>unseen</a:t>
            </a:r>
            <a:r>
              <a:rPr lang="it-IT" i="1" dirty="0"/>
              <a:t> data.</a:t>
            </a:r>
          </a:p>
          <a:p>
            <a:endParaRPr lang="it-IT" i="1" dirty="0"/>
          </a:p>
          <a:p>
            <a:r>
              <a:rPr lang="it-IT" dirty="0" err="1"/>
              <a:t>Examples</a:t>
            </a:r>
            <a:r>
              <a:rPr lang="it-IT" dirty="0"/>
              <a:t> for </a:t>
            </a:r>
            <a:r>
              <a:rPr lang="it-IT" dirty="0" err="1"/>
              <a:t>Environmental</a:t>
            </a:r>
            <a:r>
              <a:rPr lang="it-IT" dirty="0"/>
              <a:t> </a:t>
            </a:r>
            <a:r>
              <a:rPr lang="it-IT" dirty="0" err="1"/>
              <a:t>Modelling</a:t>
            </a:r>
            <a:r>
              <a:rPr lang="it-IT" i="1" dirty="0"/>
              <a:t>:</a:t>
            </a:r>
          </a:p>
          <a:p>
            <a:pPr marL="285750" indent="-285750">
              <a:buFont typeface="Arial" panose="020B0604020202020204" pitchFamily="34" charset="0"/>
              <a:buChar char="•"/>
            </a:pPr>
            <a:r>
              <a:rPr lang="it-IT" dirty="0" err="1"/>
              <a:t>Held</a:t>
            </a:r>
            <a:r>
              <a:rPr lang="it-IT" dirty="0"/>
              <a:t>-out </a:t>
            </a:r>
            <a:r>
              <a:rPr lang="it-IT" dirty="0" err="1"/>
              <a:t>environmental</a:t>
            </a:r>
            <a:r>
              <a:rPr lang="it-IT" dirty="0"/>
              <a:t> </a:t>
            </a:r>
            <a:r>
              <a:rPr lang="it-IT" dirty="0" err="1"/>
              <a:t>observations</a:t>
            </a:r>
            <a:r>
              <a:rPr lang="it-IT" dirty="0"/>
              <a:t> </a:t>
            </a:r>
            <a:r>
              <a:rPr lang="it-IT" dirty="0" err="1"/>
              <a:t>not</a:t>
            </a:r>
            <a:r>
              <a:rPr lang="it-IT" dirty="0"/>
              <a:t> </a:t>
            </a:r>
            <a:r>
              <a:rPr lang="it-IT" dirty="0" err="1"/>
              <a:t>used</a:t>
            </a:r>
            <a:r>
              <a:rPr lang="it-IT" dirty="0"/>
              <a:t> </a:t>
            </a:r>
            <a:r>
              <a:rPr lang="it-IT" dirty="0" err="1"/>
              <a:t>during</a:t>
            </a:r>
            <a:r>
              <a:rPr lang="it-IT" dirty="0"/>
              <a:t> training</a:t>
            </a:r>
          </a:p>
          <a:p>
            <a:pPr marL="285750" indent="-285750">
              <a:buFont typeface="Arial" panose="020B0604020202020204" pitchFamily="34" charset="0"/>
              <a:buChar char="•"/>
            </a:pPr>
            <a:r>
              <a:rPr lang="it-IT" dirty="0" err="1"/>
              <a:t>Tests</a:t>
            </a:r>
            <a:r>
              <a:rPr lang="it-IT" dirty="0"/>
              <a:t> </a:t>
            </a:r>
            <a:r>
              <a:rPr lang="it-IT" dirty="0" err="1"/>
              <a:t>generalization</a:t>
            </a:r>
            <a:r>
              <a:rPr lang="it-IT" dirty="0"/>
              <a:t> </a:t>
            </a:r>
            <a:r>
              <a:rPr lang="it-IT" dirty="0" err="1"/>
              <a:t>across</a:t>
            </a:r>
            <a:r>
              <a:rPr lang="it-IT" dirty="0"/>
              <a:t> new locations, seasons, or events</a:t>
            </a:r>
          </a:p>
          <a:p>
            <a:pPr marL="285750" indent="-285750">
              <a:buFont typeface="Arial" panose="020B0604020202020204" pitchFamily="34" charset="0"/>
              <a:buChar char="•"/>
            </a:pPr>
            <a:r>
              <a:rPr lang="it-IT" dirty="0" err="1"/>
              <a:t>Captures</a:t>
            </a:r>
            <a:r>
              <a:rPr lang="it-IT" dirty="0"/>
              <a:t> </a:t>
            </a:r>
            <a:r>
              <a:rPr lang="it-IT" dirty="0" err="1"/>
              <a:t>real</a:t>
            </a:r>
            <a:r>
              <a:rPr lang="it-IT" dirty="0"/>
              <a:t>-world </a:t>
            </a:r>
            <a:r>
              <a:rPr lang="it-IT" dirty="0" err="1"/>
              <a:t>variability</a:t>
            </a:r>
            <a:r>
              <a:rPr lang="it-IT" dirty="0"/>
              <a:t> and </a:t>
            </a:r>
            <a:r>
              <a:rPr lang="it-IT" dirty="0" err="1"/>
              <a:t>unseen</a:t>
            </a:r>
            <a:r>
              <a:rPr lang="it-IT" dirty="0"/>
              <a:t> </a:t>
            </a:r>
            <a:r>
              <a:rPr lang="it-IT" dirty="0" err="1"/>
              <a:t>environmental</a:t>
            </a:r>
            <a:r>
              <a:rPr lang="it-IT" dirty="0"/>
              <a:t> </a:t>
            </a:r>
            <a:r>
              <a:rPr lang="it-IT" dirty="0" err="1"/>
              <a:t>conditions</a:t>
            </a:r>
            <a:endParaRPr lang="it-IT" dirty="0"/>
          </a:p>
        </p:txBody>
      </p:sp>
    </p:spTree>
    <p:extLst>
      <p:ext uri="{BB962C8B-B14F-4D97-AF65-F5344CB8AC3E}">
        <p14:creationId xmlns:p14="http://schemas.microsoft.com/office/powerpoint/2010/main" val="3912853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78797E2-CE00-3C3C-CF57-AE3886594AF6}"/>
              </a:ext>
            </a:extLst>
          </p:cNvPr>
          <p:cNvSpPr txBox="1">
            <a:spLocks/>
          </p:cNvSpPr>
          <p:nvPr/>
        </p:nvSpPr>
        <p:spPr>
          <a:xfrm>
            <a:off x="10885" y="0"/>
            <a:ext cx="13139056" cy="1059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dirty="0"/>
              <a:t>Model tuning</a:t>
            </a:r>
          </a:p>
        </p:txBody>
      </p:sp>
      <p:sp>
        <p:nvSpPr>
          <p:cNvPr id="6" name="TextBox 5">
            <a:extLst>
              <a:ext uri="{FF2B5EF4-FFF2-40B4-BE49-F238E27FC236}">
                <a16:creationId xmlns:a16="http://schemas.microsoft.com/office/drawing/2014/main" id="{278D1F64-DE2E-20F7-467E-0059B31990C8}"/>
              </a:ext>
            </a:extLst>
          </p:cNvPr>
          <p:cNvSpPr txBox="1"/>
          <p:nvPr/>
        </p:nvSpPr>
        <p:spPr>
          <a:xfrm>
            <a:off x="147145" y="1265289"/>
            <a:ext cx="2911365" cy="3693319"/>
          </a:xfrm>
          <a:prstGeom prst="rect">
            <a:avLst/>
          </a:prstGeom>
          <a:noFill/>
        </p:spPr>
        <p:txBody>
          <a:bodyPr wrap="square">
            <a:spAutoFit/>
          </a:bodyPr>
          <a:lstStyle/>
          <a:p>
            <a:pPr>
              <a:buNone/>
            </a:pPr>
            <a:r>
              <a:rPr lang="en-GB" dirty="0">
                <a:effectLst/>
                <a:latin typeface="Helvetica" pitchFamily="2" charset="0"/>
              </a:rPr>
              <a:t>Models have some </a:t>
            </a:r>
            <a:r>
              <a:rPr lang="en-GB" dirty="0" err="1">
                <a:effectLst/>
                <a:latin typeface="Helvetica" pitchFamily="2" charset="0"/>
              </a:rPr>
              <a:t>tunable</a:t>
            </a:r>
            <a:r>
              <a:rPr lang="en-GB" dirty="0">
                <a:effectLst/>
                <a:latin typeface="Helvetica" pitchFamily="2" charset="0"/>
              </a:rPr>
              <a:t> </a:t>
            </a:r>
            <a:r>
              <a:rPr lang="en-GB" b="1" dirty="0">
                <a:effectLst/>
                <a:latin typeface="Helvetica" pitchFamily="2" charset="0"/>
              </a:rPr>
              <a:t>hyperparameters</a:t>
            </a:r>
            <a:r>
              <a:rPr lang="en-GB" dirty="0">
                <a:effectLst/>
                <a:latin typeface="Helvetica" pitchFamily="2" charset="0"/>
              </a:rPr>
              <a:t> that can influence the outcome of the training process</a:t>
            </a:r>
          </a:p>
          <a:p>
            <a:pPr>
              <a:buNone/>
            </a:pPr>
            <a:endParaRPr lang="en-GB" dirty="0">
              <a:latin typeface="Helvetica" pitchFamily="2" charset="0"/>
            </a:endParaRPr>
          </a:p>
          <a:p>
            <a:pPr>
              <a:buNone/>
            </a:pPr>
            <a:r>
              <a:rPr lang="en-GB" dirty="0">
                <a:effectLst/>
                <a:latin typeface="Helvetica" pitchFamily="2" charset="0"/>
              </a:rPr>
              <a:t>A subset of the training set called validation set is used to evaluate different hyperparameter values and select the model that generalizes best to unseen data.</a:t>
            </a:r>
          </a:p>
        </p:txBody>
      </p:sp>
      <p:pic>
        <p:nvPicPr>
          <p:cNvPr id="7" name="Picture 6">
            <a:extLst>
              <a:ext uri="{FF2B5EF4-FFF2-40B4-BE49-F238E27FC236}">
                <a16:creationId xmlns:a16="http://schemas.microsoft.com/office/drawing/2014/main" id="{F46893D2-29EB-4A0C-6AA8-75BC5FB62E45}"/>
              </a:ext>
            </a:extLst>
          </p:cNvPr>
          <p:cNvPicPr>
            <a:picLocks noChangeAspect="1"/>
          </p:cNvPicPr>
          <p:nvPr/>
        </p:nvPicPr>
        <p:blipFill>
          <a:blip r:embed="rId3"/>
          <a:stretch>
            <a:fillRect/>
          </a:stretch>
        </p:blipFill>
        <p:spPr>
          <a:xfrm>
            <a:off x="3060048" y="1206887"/>
            <a:ext cx="8984807" cy="2222113"/>
          </a:xfrm>
          <a:prstGeom prst="rect">
            <a:avLst/>
          </a:prstGeom>
        </p:spPr>
      </p:pic>
      <p:pic>
        <p:nvPicPr>
          <p:cNvPr id="8" name="Picture 7">
            <a:extLst>
              <a:ext uri="{FF2B5EF4-FFF2-40B4-BE49-F238E27FC236}">
                <a16:creationId xmlns:a16="http://schemas.microsoft.com/office/drawing/2014/main" id="{6264CA12-0E5B-A1B3-066E-A119F8168045}"/>
              </a:ext>
            </a:extLst>
          </p:cNvPr>
          <p:cNvPicPr>
            <a:picLocks noChangeAspect="1"/>
          </p:cNvPicPr>
          <p:nvPr/>
        </p:nvPicPr>
        <p:blipFill>
          <a:blip r:embed="rId4"/>
          <a:stretch>
            <a:fillRect/>
          </a:stretch>
        </p:blipFill>
        <p:spPr>
          <a:xfrm>
            <a:off x="3420025" y="3782785"/>
            <a:ext cx="8180932" cy="2299551"/>
          </a:xfrm>
          <a:prstGeom prst="rect">
            <a:avLst/>
          </a:prstGeom>
        </p:spPr>
      </p:pic>
    </p:spTree>
    <p:extLst>
      <p:ext uri="{BB962C8B-B14F-4D97-AF65-F5344CB8AC3E}">
        <p14:creationId xmlns:p14="http://schemas.microsoft.com/office/powerpoint/2010/main" val="971596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6;p21">
            <a:extLst>
              <a:ext uri="{FF2B5EF4-FFF2-40B4-BE49-F238E27FC236}">
                <a16:creationId xmlns:a16="http://schemas.microsoft.com/office/drawing/2014/main" id="{1F8FC3FE-E292-5E17-2A04-B9DA2D830C5E}"/>
              </a:ext>
            </a:extLst>
          </p:cNvPr>
          <p:cNvSpPr txBox="1">
            <a:spLocks/>
          </p:cNvSpPr>
          <p:nvPr/>
        </p:nvSpPr>
        <p:spPr>
          <a:xfrm>
            <a:off x="457266" y="317550"/>
            <a:ext cx="7038900" cy="914100"/>
          </a:xfrm>
          <a:prstGeom prst="rect">
            <a:avLst/>
          </a:prstGeom>
        </p:spPr>
        <p:txBody>
          <a:bodyPr spcFirstLastPara="1" vert="horz" wrap="square" lIns="0" tIns="0" rIns="0" bIns="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dirty="0"/>
              <a:t>Over and under fitting</a:t>
            </a:r>
          </a:p>
        </p:txBody>
      </p:sp>
      <p:pic>
        <p:nvPicPr>
          <p:cNvPr id="5" name="Picture 4">
            <a:extLst>
              <a:ext uri="{FF2B5EF4-FFF2-40B4-BE49-F238E27FC236}">
                <a16:creationId xmlns:a16="http://schemas.microsoft.com/office/drawing/2014/main" id="{229C1AB0-37C7-A7B4-E6FD-10649F78429E}"/>
              </a:ext>
            </a:extLst>
          </p:cNvPr>
          <p:cNvPicPr>
            <a:picLocks noChangeAspect="1"/>
          </p:cNvPicPr>
          <p:nvPr/>
        </p:nvPicPr>
        <p:blipFill>
          <a:blip r:embed="rId3"/>
          <a:srcRect t="4187" r="579" b="29934"/>
          <a:stretch>
            <a:fillRect/>
          </a:stretch>
        </p:blipFill>
        <p:spPr>
          <a:xfrm>
            <a:off x="2802339" y="1448047"/>
            <a:ext cx="8043041" cy="2996906"/>
          </a:xfrm>
          <a:prstGeom prst="rect">
            <a:avLst/>
          </a:prstGeom>
        </p:spPr>
      </p:pic>
      <p:pic>
        <p:nvPicPr>
          <p:cNvPr id="6" name="Picture 2">
            <a:extLst>
              <a:ext uri="{FF2B5EF4-FFF2-40B4-BE49-F238E27FC236}">
                <a16:creationId xmlns:a16="http://schemas.microsoft.com/office/drawing/2014/main" id="{29858E3B-D063-1364-C5DF-B2EFEC066A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9987" y="4661350"/>
            <a:ext cx="3167743" cy="2137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988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4;p22">
            <a:extLst>
              <a:ext uri="{FF2B5EF4-FFF2-40B4-BE49-F238E27FC236}">
                <a16:creationId xmlns:a16="http://schemas.microsoft.com/office/drawing/2014/main" id="{C24D1AA5-97D3-F4D2-10EC-32CAD4DB87F4}"/>
              </a:ext>
            </a:extLst>
          </p:cNvPr>
          <p:cNvSpPr txBox="1">
            <a:spLocks/>
          </p:cNvSpPr>
          <p:nvPr/>
        </p:nvSpPr>
        <p:spPr>
          <a:xfrm>
            <a:off x="1297500" y="393750"/>
            <a:ext cx="7038900" cy="914100"/>
          </a:xfrm>
          <a:prstGeom prst="rect">
            <a:avLst/>
          </a:prstGeom>
        </p:spPr>
        <p:txBody>
          <a:bodyPr spcFirstLastPara="1" vert="horz" wrap="square" lIns="0" tIns="0" rIns="0" bIns="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1100"/>
              <a:buFont typeface="Arial"/>
              <a:buNone/>
            </a:pPr>
            <a:r>
              <a:rPr lang="en-GB" dirty="0"/>
              <a:t>The bias variance curse</a:t>
            </a:r>
          </a:p>
        </p:txBody>
      </p:sp>
      <p:sp>
        <p:nvSpPr>
          <p:cNvPr id="5" name="TextBox 4">
            <a:extLst>
              <a:ext uri="{FF2B5EF4-FFF2-40B4-BE49-F238E27FC236}">
                <a16:creationId xmlns:a16="http://schemas.microsoft.com/office/drawing/2014/main" id="{5738D252-758E-7862-BF4B-497CAEBC5380}"/>
              </a:ext>
            </a:extLst>
          </p:cNvPr>
          <p:cNvSpPr txBox="1"/>
          <p:nvPr/>
        </p:nvSpPr>
        <p:spPr>
          <a:xfrm>
            <a:off x="228600" y="2739610"/>
            <a:ext cx="4484914" cy="2862322"/>
          </a:xfrm>
          <a:prstGeom prst="rect">
            <a:avLst/>
          </a:prstGeom>
          <a:noFill/>
        </p:spPr>
        <p:txBody>
          <a:bodyPr wrap="square">
            <a:spAutoFit/>
          </a:bodyPr>
          <a:lstStyle/>
          <a:p>
            <a:pPr marL="0" lvl="0" indent="0" algn="l" rtl="0">
              <a:spcBef>
                <a:spcPts val="0"/>
              </a:spcBef>
              <a:spcAft>
                <a:spcPts val="0"/>
              </a:spcAft>
              <a:buClr>
                <a:schemeClr val="dk1"/>
              </a:buClr>
              <a:buSzPts val="1100"/>
              <a:buFont typeface="Arial"/>
              <a:buNone/>
            </a:pPr>
            <a:r>
              <a:rPr lang="en-GB" sz="2000" dirty="0"/>
              <a:t>As the complexity of model increases the bias decreases but the variance increases.</a:t>
            </a:r>
          </a:p>
          <a:p>
            <a:pPr marL="0" lvl="0" indent="0" algn="l" rtl="0">
              <a:spcBef>
                <a:spcPts val="0"/>
              </a:spcBef>
              <a:spcAft>
                <a:spcPts val="0"/>
              </a:spcAft>
              <a:buClr>
                <a:schemeClr val="dk1"/>
              </a:buClr>
              <a:buSzPts val="1100"/>
              <a:buFont typeface="Arial"/>
              <a:buNone/>
            </a:pPr>
            <a:endParaRPr lang="en-GB" sz="2000" dirty="0"/>
          </a:p>
          <a:p>
            <a:pPr marL="0" lvl="0" indent="0" algn="l" rtl="0">
              <a:spcBef>
                <a:spcPts val="0"/>
              </a:spcBef>
              <a:spcAft>
                <a:spcPts val="0"/>
              </a:spcAft>
              <a:buClr>
                <a:schemeClr val="dk1"/>
              </a:buClr>
              <a:buSzPts val="1100"/>
              <a:buFont typeface="Arial"/>
              <a:buNone/>
            </a:pPr>
            <a:r>
              <a:rPr lang="en-GB" sz="2000" dirty="0"/>
              <a:t>There is a trade-off between </a:t>
            </a:r>
            <a:r>
              <a:rPr lang="en-GB" sz="2000" b="1" dirty="0"/>
              <a:t>bias</a:t>
            </a:r>
            <a:r>
              <a:rPr lang="en-GB" sz="2000" dirty="0"/>
              <a:t> and </a:t>
            </a:r>
            <a:r>
              <a:rPr lang="en-GB" sz="2000" b="1" dirty="0"/>
              <a:t>variance</a:t>
            </a:r>
            <a:r>
              <a:rPr lang="en-GB" sz="2000" dirty="0"/>
              <a:t>.</a:t>
            </a:r>
          </a:p>
          <a:p>
            <a:pPr marL="0" lvl="0" indent="0" algn="l" rtl="0">
              <a:spcBef>
                <a:spcPts val="0"/>
              </a:spcBef>
              <a:spcAft>
                <a:spcPts val="0"/>
              </a:spcAft>
              <a:buClr>
                <a:schemeClr val="dk1"/>
              </a:buClr>
              <a:buSzPts val="1100"/>
              <a:buFont typeface="Arial"/>
              <a:buNone/>
            </a:pPr>
            <a:endParaRPr lang="en-GB" sz="2000" dirty="0"/>
          </a:p>
          <a:p>
            <a:pPr marL="0" lvl="0" indent="0" algn="l" rtl="0">
              <a:spcBef>
                <a:spcPts val="0"/>
              </a:spcBef>
              <a:spcAft>
                <a:spcPts val="0"/>
              </a:spcAft>
              <a:buClr>
                <a:schemeClr val="dk1"/>
              </a:buClr>
              <a:buSzPts val="1100"/>
              <a:buFont typeface="Arial"/>
              <a:buNone/>
            </a:pPr>
            <a:r>
              <a:rPr lang="en-GB" sz="2000" dirty="0"/>
              <a:t>You can't get both low bias</a:t>
            </a:r>
          </a:p>
          <a:p>
            <a:pPr marL="0" lvl="0" indent="0" algn="l" rtl="0">
              <a:spcBef>
                <a:spcPts val="0"/>
              </a:spcBef>
              <a:spcAft>
                <a:spcPts val="0"/>
              </a:spcAft>
              <a:buClr>
                <a:schemeClr val="dk1"/>
              </a:buClr>
              <a:buSzPts val="1100"/>
              <a:buFont typeface="Arial"/>
              <a:buNone/>
            </a:pPr>
            <a:r>
              <a:rPr lang="en-GB" sz="2000" dirty="0"/>
              <a:t>and low variance at the same time.</a:t>
            </a:r>
          </a:p>
        </p:txBody>
      </p:sp>
      <p:pic>
        <p:nvPicPr>
          <p:cNvPr id="6" name="Picture 2">
            <a:extLst>
              <a:ext uri="{FF2B5EF4-FFF2-40B4-BE49-F238E27FC236}">
                <a16:creationId xmlns:a16="http://schemas.microsoft.com/office/drawing/2014/main" id="{1CD6B205-478D-314D-5E6C-A8109A48A4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3514" y="2337806"/>
            <a:ext cx="6953817" cy="3970730"/>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00;p20">
            <a:extLst>
              <a:ext uri="{FF2B5EF4-FFF2-40B4-BE49-F238E27FC236}">
                <a16:creationId xmlns:a16="http://schemas.microsoft.com/office/drawing/2014/main" id="{7522E3A4-57C8-8E43-E49C-B5A20401638D}"/>
              </a:ext>
            </a:extLst>
          </p:cNvPr>
          <p:cNvSpPr txBox="1">
            <a:spLocks/>
          </p:cNvSpPr>
          <p:nvPr/>
        </p:nvSpPr>
        <p:spPr>
          <a:xfrm>
            <a:off x="660401" y="1528747"/>
            <a:ext cx="10369624" cy="435762"/>
          </a:xfrm>
          <a:prstGeom prst="rect">
            <a:avLst/>
          </a:prstGeom>
        </p:spPr>
        <p:txBody>
          <a:bodyPr spcFirstLastPara="1" vert="horz" wrap="square" lIns="0" tIns="0" rIns="0" bIns="0" rtlCol="0" anchor="t" anchorCtr="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6368" indent="0">
              <a:buSzPct val="77777"/>
            </a:pPr>
            <a:r>
              <a:rPr lang="en-GB" b="1"/>
              <a:t>Bias</a:t>
            </a:r>
            <a:r>
              <a:rPr lang="en-GB"/>
              <a:t> = </a:t>
            </a:r>
            <a:r>
              <a:rPr lang="en-GB" i="1"/>
              <a:t>systematic mistake</a:t>
            </a:r>
            <a:r>
              <a:rPr lang="en-GB"/>
              <a:t>                           </a:t>
            </a:r>
            <a:r>
              <a:rPr lang="en-GB" b="1"/>
              <a:t>Variance</a:t>
            </a:r>
            <a:r>
              <a:rPr lang="en-GB"/>
              <a:t> = </a:t>
            </a:r>
            <a:r>
              <a:rPr lang="en-GB" i="1"/>
              <a:t>instability</a:t>
            </a:r>
          </a:p>
          <a:p>
            <a:pPr marL="0" indent="0">
              <a:spcBef>
                <a:spcPts val="0"/>
              </a:spcBef>
              <a:buClr>
                <a:schemeClr val="dk1"/>
              </a:buClr>
              <a:buSzPct val="61111"/>
              <a:buFont typeface="Arial"/>
              <a:buNone/>
            </a:pPr>
            <a:endParaRPr lang="en-GB"/>
          </a:p>
          <a:p>
            <a:pPr marL="0" indent="0">
              <a:spcBef>
                <a:spcPts val="0"/>
              </a:spcBef>
              <a:buFont typeface="Arial" panose="020B0604020202020204" pitchFamily="34" charset="0"/>
              <a:buNone/>
            </a:pPr>
            <a:endParaRPr lang="en-GB" dirty="0"/>
          </a:p>
        </p:txBody>
      </p:sp>
    </p:spTree>
    <p:extLst>
      <p:ext uri="{BB962C8B-B14F-4D97-AF65-F5344CB8AC3E}">
        <p14:creationId xmlns:p14="http://schemas.microsoft.com/office/powerpoint/2010/main" val="35286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D7E9CA-DBAD-7732-0732-0141743D9525}"/>
              </a:ext>
            </a:extLst>
          </p:cNvPr>
          <p:cNvSpPr/>
          <p:nvPr/>
        </p:nvSpPr>
        <p:spPr>
          <a:xfrm>
            <a:off x="1" y="6203485"/>
            <a:ext cx="12191999" cy="6545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le 1">
            <a:extLst>
              <a:ext uri="{FF2B5EF4-FFF2-40B4-BE49-F238E27FC236}">
                <a16:creationId xmlns:a16="http://schemas.microsoft.com/office/drawing/2014/main" id="{EF5CA479-B68B-6086-4B17-05B3F25C7477}"/>
              </a:ext>
            </a:extLst>
          </p:cNvPr>
          <p:cNvSpPr>
            <a:spLocks noGrp="1"/>
          </p:cNvSpPr>
          <p:nvPr>
            <p:ph type="title" idx="4294967295"/>
          </p:nvPr>
        </p:nvSpPr>
        <p:spPr>
          <a:xfrm>
            <a:off x="0" y="90488"/>
            <a:ext cx="11504613" cy="768350"/>
          </a:xfrm>
        </p:spPr>
        <p:txBody>
          <a:bodyPr/>
          <a:lstStyle/>
          <a:p>
            <a:r>
              <a:rPr lang="it-IT" dirty="0" err="1"/>
              <a:t>Typical</a:t>
            </a:r>
            <a:r>
              <a:rPr lang="it-IT" dirty="0"/>
              <a:t> ML workflow</a:t>
            </a:r>
          </a:p>
        </p:txBody>
      </p:sp>
      <p:pic>
        <p:nvPicPr>
          <p:cNvPr id="21" name="Picture 20">
            <a:extLst>
              <a:ext uri="{FF2B5EF4-FFF2-40B4-BE49-F238E27FC236}">
                <a16:creationId xmlns:a16="http://schemas.microsoft.com/office/drawing/2014/main" id="{D6F2374C-ED0D-9583-9327-AC09F193F483}"/>
              </a:ext>
            </a:extLst>
          </p:cNvPr>
          <p:cNvPicPr>
            <a:picLocks noChangeAspect="1"/>
          </p:cNvPicPr>
          <p:nvPr/>
        </p:nvPicPr>
        <p:blipFill>
          <a:blip r:embed="rId3"/>
          <a:srcRect l="1511" t="11821" r="1051" b="38996"/>
          <a:stretch>
            <a:fillRect/>
          </a:stretch>
        </p:blipFill>
        <p:spPr>
          <a:xfrm>
            <a:off x="183808" y="1115027"/>
            <a:ext cx="11849160" cy="2819922"/>
          </a:xfrm>
          <a:prstGeom prst="rect">
            <a:avLst/>
          </a:prstGeom>
          <a:ln>
            <a:noFill/>
          </a:ln>
        </p:spPr>
        <p:style>
          <a:lnRef idx="2">
            <a:schemeClr val="accent2"/>
          </a:lnRef>
          <a:fillRef idx="1">
            <a:schemeClr val="lt1"/>
          </a:fillRef>
          <a:effectRef idx="0">
            <a:schemeClr val="accent2"/>
          </a:effectRef>
          <a:fontRef idx="minor">
            <a:schemeClr val="dk1"/>
          </a:fontRef>
        </p:style>
      </p:pic>
      <p:sp>
        <p:nvSpPr>
          <p:cNvPr id="24" name="TextBox 23">
            <a:extLst>
              <a:ext uri="{FF2B5EF4-FFF2-40B4-BE49-F238E27FC236}">
                <a16:creationId xmlns:a16="http://schemas.microsoft.com/office/drawing/2014/main" id="{6395610E-ED18-AC59-0BBE-BC8BC743E9A9}"/>
              </a:ext>
            </a:extLst>
          </p:cNvPr>
          <p:cNvSpPr txBox="1"/>
          <p:nvPr/>
        </p:nvSpPr>
        <p:spPr>
          <a:xfrm>
            <a:off x="183807" y="3945834"/>
            <a:ext cx="1260912" cy="22467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it-IT" sz="1400" dirty="0" err="1"/>
              <a:t>Gather</a:t>
            </a:r>
            <a:r>
              <a:rPr lang="it-IT" sz="1400" dirty="0"/>
              <a:t> </a:t>
            </a:r>
            <a:r>
              <a:rPr lang="it-IT" sz="1400" dirty="0" err="1"/>
              <a:t>raw</a:t>
            </a:r>
            <a:r>
              <a:rPr lang="it-IT" sz="1400" dirty="0"/>
              <a:t> data from </a:t>
            </a:r>
            <a:r>
              <a:rPr lang="it-IT" sz="1400" dirty="0" err="1"/>
              <a:t>various</a:t>
            </a:r>
            <a:r>
              <a:rPr lang="it-IT" sz="1400" dirty="0"/>
              <a:t> sources</a:t>
            </a:r>
          </a:p>
          <a:p>
            <a:endParaRPr lang="it-IT" sz="1400" dirty="0"/>
          </a:p>
          <a:p>
            <a:endParaRPr lang="it-IT" sz="1400" dirty="0"/>
          </a:p>
          <a:p>
            <a:r>
              <a:rPr lang="it-IT" sz="1400" dirty="0" err="1"/>
              <a:t>Example</a:t>
            </a:r>
            <a:r>
              <a:rPr lang="it-IT" sz="1400" dirty="0"/>
              <a:t>:</a:t>
            </a:r>
          </a:p>
          <a:p>
            <a:r>
              <a:rPr lang="it-IT" sz="1400" dirty="0"/>
              <a:t>Satellite data, DEM, roads etc.</a:t>
            </a:r>
          </a:p>
        </p:txBody>
      </p:sp>
      <p:sp>
        <p:nvSpPr>
          <p:cNvPr id="25" name="TextBox 24">
            <a:extLst>
              <a:ext uri="{FF2B5EF4-FFF2-40B4-BE49-F238E27FC236}">
                <a16:creationId xmlns:a16="http://schemas.microsoft.com/office/drawing/2014/main" id="{31194746-3662-0759-C6D2-AAD066688385}"/>
              </a:ext>
            </a:extLst>
          </p:cNvPr>
          <p:cNvSpPr txBox="1"/>
          <p:nvPr/>
        </p:nvSpPr>
        <p:spPr>
          <a:xfrm>
            <a:off x="1611129" y="3945833"/>
            <a:ext cx="1260912" cy="22467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GB" sz="1400" dirty="0"/>
              <a:t>Handle missing values and outliers</a:t>
            </a:r>
          </a:p>
          <a:p>
            <a:endParaRPr lang="en-GB" sz="1400" dirty="0"/>
          </a:p>
          <a:p>
            <a:r>
              <a:rPr lang="en-GB" sz="1400" dirty="0"/>
              <a:t>﻿﻿Correct errors and unify formats and spatial resolution</a:t>
            </a:r>
          </a:p>
        </p:txBody>
      </p:sp>
      <p:sp>
        <p:nvSpPr>
          <p:cNvPr id="26" name="TextBox 25">
            <a:extLst>
              <a:ext uri="{FF2B5EF4-FFF2-40B4-BE49-F238E27FC236}">
                <a16:creationId xmlns:a16="http://schemas.microsoft.com/office/drawing/2014/main" id="{39CB8FB1-D2FD-EF16-BCB6-6A7AA7BC8C3F}"/>
              </a:ext>
            </a:extLst>
          </p:cNvPr>
          <p:cNvSpPr txBox="1"/>
          <p:nvPr/>
        </p:nvSpPr>
        <p:spPr>
          <a:xfrm>
            <a:off x="2963219" y="3945833"/>
            <a:ext cx="1260912" cy="22467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GB" sz="1400" dirty="0"/>
              <a:t>Create meaningful predictors from raw data</a:t>
            </a:r>
          </a:p>
          <a:p>
            <a:r>
              <a:rPr lang="en-GB" sz="1400" dirty="0"/>
              <a:t>﻿﻿</a:t>
            </a:r>
          </a:p>
          <a:p>
            <a:r>
              <a:rPr lang="en-GB" sz="1400" dirty="0"/>
              <a:t>Example: slope, aspect, distance to roads, NDVI</a:t>
            </a:r>
          </a:p>
        </p:txBody>
      </p:sp>
      <p:sp>
        <p:nvSpPr>
          <p:cNvPr id="32" name="U-turn Arrow 31">
            <a:extLst>
              <a:ext uri="{FF2B5EF4-FFF2-40B4-BE49-F238E27FC236}">
                <a16:creationId xmlns:a16="http://schemas.microsoft.com/office/drawing/2014/main" id="{C78B379A-A122-F69B-7D06-AE128C53BBBE}"/>
              </a:ext>
            </a:extLst>
          </p:cNvPr>
          <p:cNvSpPr/>
          <p:nvPr/>
        </p:nvSpPr>
        <p:spPr>
          <a:xfrm rot="5400000">
            <a:off x="8085855" y="4415745"/>
            <a:ext cx="431859" cy="4271678"/>
          </a:xfrm>
          <a:prstGeom prst="uturnArrow">
            <a:avLst>
              <a:gd name="adj1" fmla="val 25000"/>
              <a:gd name="adj2" fmla="val 24432"/>
              <a:gd name="adj3" fmla="val 25000"/>
              <a:gd name="adj4" fmla="val 43750"/>
              <a:gd name="adj5" fmla="val 10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33" name="U-turn Arrow 32">
            <a:extLst>
              <a:ext uri="{FF2B5EF4-FFF2-40B4-BE49-F238E27FC236}">
                <a16:creationId xmlns:a16="http://schemas.microsoft.com/office/drawing/2014/main" id="{367972D3-6EF1-AD58-ADE6-BA3CB5523195}"/>
              </a:ext>
            </a:extLst>
          </p:cNvPr>
          <p:cNvSpPr/>
          <p:nvPr/>
        </p:nvSpPr>
        <p:spPr>
          <a:xfrm rot="16200000">
            <a:off x="1722550" y="4750165"/>
            <a:ext cx="431860" cy="3476082"/>
          </a:xfrm>
          <a:prstGeom prst="uturnArrow">
            <a:avLst>
              <a:gd name="adj1" fmla="val 23113"/>
              <a:gd name="adj2" fmla="val 25000"/>
              <a:gd name="adj3" fmla="val 25000"/>
              <a:gd name="adj4" fmla="val 43750"/>
              <a:gd name="adj5" fmla="val 10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34" name="TextBox 33">
            <a:extLst>
              <a:ext uri="{FF2B5EF4-FFF2-40B4-BE49-F238E27FC236}">
                <a16:creationId xmlns:a16="http://schemas.microsoft.com/office/drawing/2014/main" id="{7343AAB2-B5A7-556F-3F1D-28A8D584A336}"/>
              </a:ext>
            </a:extLst>
          </p:cNvPr>
          <p:cNvSpPr txBox="1"/>
          <p:nvPr/>
        </p:nvSpPr>
        <p:spPr>
          <a:xfrm>
            <a:off x="3619370" y="6335654"/>
            <a:ext cx="2607053" cy="369332"/>
          </a:xfrm>
          <a:prstGeom prst="rect">
            <a:avLst/>
          </a:prstGeom>
          <a:noFill/>
        </p:spPr>
        <p:txBody>
          <a:bodyPr wrap="square" rtlCol="0">
            <a:spAutoFit/>
          </a:bodyPr>
          <a:lstStyle/>
          <a:p>
            <a:pPr algn="ctr"/>
            <a:r>
              <a:rPr lang="it-IT" dirty="0"/>
              <a:t>MULTIPLE ITERATIONS</a:t>
            </a:r>
          </a:p>
        </p:txBody>
      </p:sp>
      <p:sp>
        <p:nvSpPr>
          <p:cNvPr id="36" name="TextBox 35">
            <a:extLst>
              <a:ext uri="{FF2B5EF4-FFF2-40B4-BE49-F238E27FC236}">
                <a16:creationId xmlns:a16="http://schemas.microsoft.com/office/drawing/2014/main" id="{289CC79D-31A5-4E84-9487-1241338CE6A7}"/>
              </a:ext>
            </a:extLst>
          </p:cNvPr>
          <p:cNvSpPr txBox="1"/>
          <p:nvPr/>
        </p:nvSpPr>
        <p:spPr>
          <a:xfrm>
            <a:off x="200438" y="919476"/>
            <a:ext cx="3476081"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it-IT" dirty="0"/>
              <a:t>Data </a:t>
            </a:r>
            <a:r>
              <a:rPr lang="it-IT" dirty="0" err="1"/>
              <a:t>preparation</a:t>
            </a:r>
            <a:endParaRPr lang="it-IT" dirty="0"/>
          </a:p>
        </p:txBody>
      </p:sp>
      <p:sp>
        <p:nvSpPr>
          <p:cNvPr id="38" name="TextBox 37">
            <a:extLst>
              <a:ext uri="{FF2B5EF4-FFF2-40B4-BE49-F238E27FC236}">
                <a16:creationId xmlns:a16="http://schemas.microsoft.com/office/drawing/2014/main" id="{708F1235-8EA1-2664-3FD8-A5584B752F39}"/>
              </a:ext>
            </a:extLst>
          </p:cNvPr>
          <p:cNvSpPr txBox="1"/>
          <p:nvPr/>
        </p:nvSpPr>
        <p:spPr>
          <a:xfrm>
            <a:off x="3764806" y="930361"/>
            <a:ext cx="4647673"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it-IT" dirty="0"/>
              <a:t>Model </a:t>
            </a:r>
            <a:r>
              <a:rPr lang="it-IT" dirty="0" err="1"/>
              <a:t>development</a:t>
            </a:r>
            <a:endParaRPr lang="it-IT" dirty="0"/>
          </a:p>
        </p:txBody>
      </p:sp>
      <p:sp>
        <p:nvSpPr>
          <p:cNvPr id="27" name="TextBox 26">
            <a:extLst>
              <a:ext uri="{FF2B5EF4-FFF2-40B4-BE49-F238E27FC236}">
                <a16:creationId xmlns:a16="http://schemas.microsoft.com/office/drawing/2014/main" id="{75EF77CB-2C28-1817-1AF2-355523F53D56}"/>
              </a:ext>
            </a:extLst>
          </p:cNvPr>
          <p:cNvSpPr txBox="1"/>
          <p:nvPr/>
        </p:nvSpPr>
        <p:spPr>
          <a:xfrm>
            <a:off x="4619697" y="3945833"/>
            <a:ext cx="1358348" cy="22467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GB" sz="1400" dirty="0"/>
              <a:t>Split data to train the model and evaluate it</a:t>
            </a:r>
          </a:p>
          <a:p>
            <a:endParaRPr lang="en-GB" sz="1400" dirty="0"/>
          </a:p>
          <a:p>
            <a:endParaRPr lang="en-GB" sz="1400" dirty="0"/>
          </a:p>
          <a:p>
            <a:endParaRPr lang="en-GB" sz="1400" dirty="0"/>
          </a:p>
          <a:p>
            <a:endParaRPr lang="en-GB" sz="1400" dirty="0"/>
          </a:p>
          <a:p>
            <a:r>
              <a:rPr lang="en-GB" sz="1400" dirty="0"/>
              <a:t>Avoid spatial and temporal leakage</a:t>
            </a:r>
          </a:p>
        </p:txBody>
      </p:sp>
      <p:sp>
        <p:nvSpPr>
          <p:cNvPr id="28" name="TextBox 27">
            <a:extLst>
              <a:ext uri="{FF2B5EF4-FFF2-40B4-BE49-F238E27FC236}">
                <a16:creationId xmlns:a16="http://schemas.microsoft.com/office/drawing/2014/main" id="{F7ADC42E-0D51-A907-AC42-352D2B1E9D3E}"/>
              </a:ext>
            </a:extLst>
          </p:cNvPr>
          <p:cNvSpPr txBox="1"/>
          <p:nvPr/>
        </p:nvSpPr>
        <p:spPr>
          <a:xfrm>
            <a:off x="6165947" y="3945833"/>
            <a:ext cx="1358348" cy="22467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GB" sz="1400" dirty="0"/>
              <a:t>Learn relationships between predictors and target variable</a:t>
            </a:r>
          </a:p>
          <a:p>
            <a:endParaRPr lang="en-GB" sz="1400" dirty="0"/>
          </a:p>
          <a:p>
            <a:endParaRPr lang="en-GB" sz="1400" dirty="0"/>
          </a:p>
          <a:p>
            <a:endParaRPr lang="en-GB" sz="1400" dirty="0"/>
          </a:p>
          <a:p>
            <a:r>
              <a:rPr lang="en-GB" sz="1400" dirty="0"/>
              <a:t>Example:</a:t>
            </a:r>
          </a:p>
          <a:p>
            <a:r>
              <a:rPr lang="en-GB" sz="1400" dirty="0"/>
              <a:t>Random Forest</a:t>
            </a:r>
          </a:p>
        </p:txBody>
      </p:sp>
      <p:sp>
        <p:nvSpPr>
          <p:cNvPr id="29" name="TextBox 28">
            <a:extLst>
              <a:ext uri="{FF2B5EF4-FFF2-40B4-BE49-F238E27FC236}">
                <a16:creationId xmlns:a16="http://schemas.microsoft.com/office/drawing/2014/main" id="{9DD98544-0DBF-2841-92E6-752DDF8669B2}"/>
              </a:ext>
            </a:extLst>
          </p:cNvPr>
          <p:cNvSpPr txBox="1"/>
          <p:nvPr/>
        </p:nvSpPr>
        <p:spPr>
          <a:xfrm>
            <a:off x="7697139" y="3934946"/>
            <a:ext cx="1358348" cy="22467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GB" sz="1400" dirty="0"/>
              <a:t>Assess predictive performance</a:t>
            </a:r>
          </a:p>
          <a:p>
            <a:endParaRPr lang="en-GB" sz="1400" dirty="0"/>
          </a:p>
          <a:p>
            <a:endParaRPr lang="en-GB" sz="1400" dirty="0"/>
          </a:p>
          <a:p>
            <a:r>
              <a:rPr lang="en-GB" sz="1400" dirty="0"/>
              <a:t>Metrics: Accuracy,</a:t>
            </a:r>
          </a:p>
          <a:p>
            <a:r>
              <a:rPr lang="en-GB" sz="1400" dirty="0"/>
              <a:t>ROC-AUC, Confusion</a:t>
            </a:r>
          </a:p>
          <a:p>
            <a:r>
              <a:rPr lang="en-GB" sz="1400" dirty="0"/>
              <a:t>Matrix, etc.</a:t>
            </a:r>
          </a:p>
        </p:txBody>
      </p:sp>
      <p:sp>
        <p:nvSpPr>
          <p:cNvPr id="30" name="TextBox 29">
            <a:extLst>
              <a:ext uri="{FF2B5EF4-FFF2-40B4-BE49-F238E27FC236}">
                <a16:creationId xmlns:a16="http://schemas.microsoft.com/office/drawing/2014/main" id="{730CA524-6F20-81CE-220D-C1C7A406D30E}"/>
              </a:ext>
            </a:extLst>
          </p:cNvPr>
          <p:cNvSpPr txBox="1"/>
          <p:nvPr/>
        </p:nvSpPr>
        <p:spPr>
          <a:xfrm>
            <a:off x="9195231" y="3934945"/>
            <a:ext cx="1242394" cy="22467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GB" sz="1400" dirty="0"/>
              <a:t>Understand which variables drive predictions</a:t>
            </a:r>
          </a:p>
          <a:p>
            <a:r>
              <a:rPr lang="en-GB" sz="1400" dirty="0"/>
              <a:t>Feature importance,</a:t>
            </a:r>
          </a:p>
          <a:p>
            <a:r>
              <a:rPr lang="en-GB" sz="1400" dirty="0"/>
              <a:t>Partial Dependence,</a:t>
            </a:r>
          </a:p>
          <a:p>
            <a:r>
              <a:rPr lang="en-GB" sz="1400" dirty="0"/>
              <a:t>SHAP values</a:t>
            </a:r>
          </a:p>
        </p:txBody>
      </p:sp>
      <p:sp>
        <p:nvSpPr>
          <p:cNvPr id="31" name="TextBox 30">
            <a:extLst>
              <a:ext uri="{FF2B5EF4-FFF2-40B4-BE49-F238E27FC236}">
                <a16:creationId xmlns:a16="http://schemas.microsoft.com/office/drawing/2014/main" id="{98A70319-4551-988D-9697-2FC6E4187CEF}"/>
              </a:ext>
            </a:extLst>
          </p:cNvPr>
          <p:cNvSpPr txBox="1"/>
          <p:nvPr/>
        </p:nvSpPr>
        <p:spPr>
          <a:xfrm>
            <a:off x="10717694" y="3945834"/>
            <a:ext cx="1358348" cy="22467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GB" sz="1400" dirty="0"/>
              <a:t>Apply the model to new areas or future scenarios</a:t>
            </a:r>
          </a:p>
          <a:p>
            <a:endParaRPr lang="en-GB" sz="1400" dirty="0"/>
          </a:p>
          <a:p>
            <a:endParaRPr lang="en-GB" sz="1400" dirty="0"/>
          </a:p>
          <a:p>
            <a:r>
              <a:rPr lang="en-GB" sz="1400" dirty="0"/>
              <a:t>Generate maps and inform decisions</a:t>
            </a:r>
          </a:p>
        </p:txBody>
      </p:sp>
    </p:spTree>
    <p:extLst>
      <p:ext uri="{BB962C8B-B14F-4D97-AF65-F5344CB8AC3E}">
        <p14:creationId xmlns:p14="http://schemas.microsoft.com/office/powerpoint/2010/main" val="2735531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7DB7-FC5D-14CB-65FF-CB3362962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F6503-3888-2A0E-634F-21856DE7897A}"/>
              </a:ext>
            </a:extLst>
          </p:cNvPr>
          <p:cNvSpPr>
            <a:spLocks noGrp="1"/>
          </p:cNvSpPr>
          <p:nvPr>
            <p:ph type="title" idx="4294967295"/>
          </p:nvPr>
        </p:nvSpPr>
        <p:spPr>
          <a:xfrm>
            <a:off x="0" y="365125"/>
            <a:ext cx="10515600" cy="1325563"/>
          </a:xfrm>
        </p:spPr>
        <p:txBody>
          <a:bodyPr/>
          <a:lstStyle/>
          <a:p>
            <a:r>
              <a:rPr lang="it-IT" dirty="0" err="1"/>
              <a:t>Outline</a:t>
            </a:r>
            <a:endParaRPr lang="it-IT" dirty="0"/>
          </a:p>
        </p:txBody>
      </p:sp>
      <p:sp>
        <p:nvSpPr>
          <p:cNvPr id="3" name="Content Placeholder 2">
            <a:extLst>
              <a:ext uri="{FF2B5EF4-FFF2-40B4-BE49-F238E27FC236}">
                <a16:creationId xmlns:a16="http://schemas.microsoft.com/office/drawing/2014/main" id="{682DAD97-A489-248C-0626-EB505EC9D130}"/>
              </a:ext>
            </a:extLst>
          </p:cNvPr>
          <p:cNvSpPr>
            <a:spLocks noGrp="1"/>
          </p:cNvSpPr>
          <p:nvPr>
            <p:ph idx="4294967295"/>
          </p:nvPr>
        </p:nvSpPr>
        <p:spPr>
          <a:xfrm>
            <a:off x="0" y="1825625"/>
            <a:ext cx="10515600" cy="4351338"/>
          </a:xfrm>
        </p:spPr>
        <p:txBody>
          <a:bodyPr/>
          <a:lstStyle/>
          <a:p>
            <a:r>
              <a:rPr lang="it-IT" dirty="0"/>
              <a:t>Intro</a:t>
            </a:r>
          </a:p>
          <a:p>
            <a:r>
              <a:rPr lang="it-IT" dirty="0"/>
              <a:t>Basic ML Concepts</a:t>
            </a:r>
          </a:p>
          <a:p>
            <a:r>
              <a:rPr lang="it-IT" b="1" dirty="0"/>
              <a:t>Models </a:t>
            </a:r>
            <a:r>
              <a:rPr lang="it-IT" b="1" dirty="0" err="1"/>
              <a:t>overview</a:t>
            </a:r>
            <a:endParaRPr lang="it-IT" b="1" dirty="0"/>
          </a:p>
          <a:p>
            <a:r>
              <a:rPr lang="en-US" dirty="0"/>
              <a:t>Wildfire susceptibility using Random Forest </a:t>
            </a:r>
            <a:endParaRPr lang="it-IT" dirty="0"/>
          </a:p>
        </p:txBody>
      </p:sp>
    </p:spTree>
    <p:extLst>
      <p:ext uri="{BB962C8B-B14F-4D97-AF65-F5344CB8AC3E}">
        <p14:creationId xmlns:p14="http://schemas.microsoft.com/office/powerpoint/2010/main" val="2139296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BE21E9-F8B3-CED0-423E-6FC5FFB20440}"/>
              </a:ext>
            </a:extLst>
          </p:cNvPr>
          <p:cNvSpPr/>
          <p:nvPr/>
        </p:nvSpPr>
        <p:spPr>
          <a:xfrm>
            <a:off x="1" y="6203485"/>
            <a:ext cx="12191999" cy="6545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TextBox 2">
            <a:extLst>
              <a:ext uri="{FF2B5EF4-FFF2-40B4-BE49-F238E27FC236}">
                <a16:creationId xmlns:a16="http://schemas.microsoft.com/office/drawing/2014/main" id="{869F6853-6465-820D-F6DE-B24746D0D00A}"/>
              </a:ext>
            </a:extLst>
          </p:cNvPr>
          <p:cNvSpPr txBox="1"/>
          <p:nvPr/>
        </p:nvSpPr>
        <p:spPr>
          <a:xfrm>
            <a:off x="235437" y="197346"/>
            <a:ext cx="6600792" cy="2954655"/>
          </a:xfrm>
          <a:prstGeom prst="rect">
            <a:avLst/>
          </a:prstGeom>
          <a:noFill/>
        </p:spPr>
        <p:txBody>
          <a:bodyPr wrap="square">
            <a:spAutoFit/>
          </a:bodyPr>
          <a:lstStyle/>
          <a:p>
            <a:pPr>
              <a:buNone/>
            </a:pPr>
            <a:r>
              <a:rPr lang="en-GB" sz="2400" b="1" dirty="0"/>
              <a:t>Linear &amp; Logistic Regression</a:t>
            </a:r>
            <a:br>
              <a:rPr lang="en-GB" dirty="0"/>
            </a:br>
            <a:r>
              <a:rPr lang="en-GB" i="1" dirty="0"/>
              <a:t>Learn simple relationships between predictors and target variables.</a:t>
            </a:r>
          </a:p>
          <a:p>
            <a:pPr>
              <a:buNone/>
            </a:pPr>
            <a:br>
              <a:rPr lang="en-GB" dirty="0"/>
            </a:br>
            <a:r>
              <a:rPr lang="en-GB" b="1" dirty="0"/>
              <a:t>Typical environmental applications</a:t>
            </a:r>
          </a:p>
          <a:p>
            <a:pPr>
              <a:buFont typeface="Arial" panose="020B0604020202020204" pitchFamily="34" charset="0"/>
              <a:buChar char="•"/>
            </a:pPr>
            <a:r>
              <a:rPr lang="en-GB" dirty="0"/>
              <a:t> Temperature trends</a:t>
            </a:r>
          </a:p>
          <a:p>
            <a:pPr>
              <a:buFont typeface="Arial" panose="020B0604020202020204" pitchFamily="34" charset="0"/>
              <a:buChar char="•"/>
            </a:pPr>
            <a:r>
              <a:rPr lang="en-GB" dirty="0"/>
              <a:t> Air quality estimation</a:t>
            </a:r>
          </a:p>
          <a:p>
            <a:pPr>
              <a:buFont typeface="Arial" panose="020B0604020202020204" pitchFamily="34" charset="0"/>
              <a:buChar char="•"/>
            </a:pPr>
            <a:r>
              <a:rPr lang="en-GB" dirty="0"/>
              <a:t> Binary hazard occurrence</a:t>
            </a:r>
          </a:p>
          <a:p>
            <a:pPr>
              <a:buNone/>
            </a:pPr>
            <a:endParaRPr lang="en-GB" dirty="0"/>
          </a:p>
          <a:p>
            <a:pPr>
              <a:buNone/>
            </a:pPr>
            <a:r>
              <a:rPr lang="en-GB" dirty="0">
                <a:solidFill>
                  <a:schemeClr val="tx1">
                    <a:lumMod val="65000"/>
                    <a:lumOff val="35000"/>
                  </a:schemeClr>
                </a:solidFill>
              </a:rPr>
              <a:t>Good baseline models and useful for explainable analyses</a:t>
            </a:r>
          </a:p>
        </p:txBody>
      </p:sp>
      <p:pic>
        <p:nvPicPr>
          <p:cNvPr id="4" name="Picture 3">
            <a:extLst>
              <a:ext uri="{FF2B5EF4-FFF2-40B4-BE49-F238E27FC236}">
                <a16:creationId xmlns:a16="http://schemas.microsoft.com/office/drawing/2014/main" id="{5D1B0896-E92E-DA96-6AF2-50724AC6C172}"/>
              </a:ext>
            </a:extLst>
          </p:cNvPr>
          <p:cNvPicPr>
            <a:picLocks noChangeAspect="1"/>
          </p:cNvPicPr>
          <p:nvPr/>
        </p:nvPicPr>
        <p:blipFill>
          <a:blip r:embed="rId3"/>
          <a:stretch>
            <a:fillRect/>
          </a:stretch>
        </p:blipFill>
        <p:spPr>
          <a:xfrm>
            <a:off x="7722298" y="162962"/>
            <a:ext cx="3385457" cy="1810183"/>
          </a:xfrm>
          <a:prstGeom prst="rect">
            <a:avLst/>
          </a:prstGeom>
        </p:spPr>
      </p:pic>
      <p:grpSp>
        <p:nvGrpSpPr>
          <p:cNvPr id="9" name="Group 8">
            <a:extLst>
              <a:ext uri="{FF2B5EF4-FFF2-40B4-BE49-F238E27FC236}">
                <a16:creationId xmlns:a16="http://schemas.microsoft.com/office/drawing/2014/main" id="{F115D27A-7F47-891E-304F-68C7B217EAD1}"/>
              </a:ext>
            </a:extLst>
          </p:cNvPr>
          <p:cNvGrpSpPr/>
          <p:nvPr/>
        </p:nvGrpSpPr>
        <p:grpSpPr>
          <a:xfrm>
            <a:off x="6836229" y="2030404"/>
            <a:ext cx="5116285" cy="1200329"/>
            <a:chOff x="1926771" y="4058922"/>
            <a:chExt cx="5263243" cy="1200329"/>
          </a:xfrm>
        </p:grpSpPr>
        <p:sp>
          <p:nvSpPr>
            <p:cNvPr id="6" name="TextBox 5">
              <a:extLst>
                <a:ext uri="{FF2B5EF4-FFF2-40B4-BE49-F238E27FC236}">
                  <a16:creationId xmlns:a16="http://schemas.microsoft.com/office/drawing/2014/main" id="{BFF397E1-98A9-ECE3-7065-60E4A8FF9094}"/>
                </a:ext>
              </a:extLst>
            </p:cNvPr>
            <p:cNvSpPr txBox="1"/>
            <p:nvPr/>
          </p:nvSpPr>
          <p:spPr>
            <a:xfrm>
              <a:off x="4250871" y="4058922"/>
              <a:ext cx="2939143" cy="1200329"/>
            </a:xfrm>
            <a:prstGeom prst="rect">
              <a:avLst/>
            </a:prstGeom>
            <a:noFill/>
          </p:spPr>
          <p:txBody>
            <a:bodyPr wrap="square">
              <a:spAutoFit/>
            </a:bodyPr>
            <a:lstStyle/>
            <a:p>
              <a:pPr>
                <a:buNone/>
              </a:pPr>
              <a:r>
                <a:rPr lang="en-GB" b="1" dirty="0"/>
                <a:t>Limitations</a:t>
              </a:r>
            </a:p>
            <a:p>
              <a:pPr>
                <a:buFont typeface="Arial" panose="020B0604020202020204" pitchFamily="34" charset="0"/>
                <a:buChar char="•"/>
              </a:pPr>
              <a:r>
                <a:rPr lang="en-GB" dirty="0"/>
                <a:t>Limited ability to model complex non-linear processes</a:t>
              </a:r>
            </a:p>
          </p:txBody>
        </p:sp>
        <p:sp>
          <p:nvSpPr>
            <p:cNvPr id="8" name="TextBox 7">
              <a:extLst>
                <a:ext uri="{FF2B5EF4-FFF2-40B4-BE49-F238E27FC236}">
                  <a16:creationId xmlns:a16="http://schemas.microsoft.com/office/drawing/2014/main" id="{26E1EFAF-381E-2449-424B-B1698C911378}"/>
                </a:ext>
              </a:extLst>
            </p:cNvPr>
            <p:cNvSpPr txBox="1"/>
            <p:nvPr/>
          </p:nvSpPr>
          <p:spPr>
            <a:xfrm>
              <a:off x="1926771" y="4058922"/>
              <a:ext cx="3243943" cy="1200329"/>
            </a:xfrm>
            <a:prstGeom prst="rect">
              <a:avLst/>
            </a:prstGeom>
            <a:noFill/>
          </p:spPr>
          <p:txBody>
            <a:bodyPr wrap="square">
              <a:spAutoFit/>
            </a:bodyPr>
            <a:lstStyle/>
            <a:p>
              <a:pPr>
                <a:buNone/>
              </a:pPr>
              <a:r>
                <a:rPr lang="en-GB" b="1" dirty="0"/>
                <a:t>Strengths</a:t>
              </a:r>
            </a:p>
            <a:p>
              <a:pPr>
                <a:buFont typeface="Arial" panose="020B0604020202020204" pitchFamily="34" charset="0"/>
                <a:buChar char="•"/>
              </a:pPr>
              <a:r>
                <a:rPr lang="en-GB" dirty="0"/>
                <a:t>Simple</a:t>
              </a:r>
            </a:p>
            <a:p>
              <a:pPr>
                <a:buFont typeface="Arial" panose="020B0604020202020204" pitchFamily="34" charset="0"/>
                <a:buChar char="•"/>
              </a:pPr>
              <a:r>
                <a:rPr lang="en-GB" dirty="0"/>
                <a:t>Fast</a:t>
              </a:r>
            </a:p>
            <a:p>
              <a:pPr>
                <a:buFont typeface="Arial" panose="020B0604020202020204" pitchFamily="34" charset="0"/>
                <a:buChar char="•"/>
              </a:pPr>
              <a:r>
                <a:rPr lang="en-GB" dirty="0"/>
                <a:t>Highly interpretable</a:t>
              </a:r>
            </a:p>
          </p:txBody>
        </p:sp>
      </p:grpSp>
      <p:grpSp>
        <p:nvGrpSpPr>
          <p:cNvPr id="5" name="Group 4">
            <a:extLst>
              <a:ext uri="{FF2B5EF4-FFF2-40B4-BE49-F238E27FC236}">
                <a16:creationId xmlns:a16="http://schemas.microsoft.com/office/drawing/2014/main" id="{9ED251A5-5F73-5964-063B-CB0E1D354D70}"/>
              </a:ext>
            </a:extLst>
          </p:cNvPr>
          <p:cNvGrpSpPr/>
          <p:nvPr/>
        </p:nvGrpSpPr>
        <p:grpSpPr>
          <a:xfrm>
            <a:off x="391888" y="3408802"/>
            <a:ext cx="11560626" cy="3231654"/>
            <a:chOff x="250372" y="138500"/>
            <a:chExt cx="11560626" cy="3231654"/>
          </a:xfrm>
        </p:grpSpPr>
        <p:sp>
          <p:nvSpPr>
            <p:cNvPr id="7" name="TextBox 6">
              <a:extLst>
                <a:ext uri="{FF2B5EF4-FFF2-40B4-BE49-F238E27FC236}">
                  <a16:creationId xmlns:a16="http://schemas.microsoft.com/office/drawing/2014/main" id="{9C3B5FE0-5836-0266-60F3-4BF9C42E8667}"/>
                </a:ext>
              </a:extLst>
            </p:cNvPr>
            <p:cNvSpPr txBox="1"/>
            <p:nvPr/>
          </p:nvSpPr>
          <p:spPr>
            <a:xfrm>
              <a:off x="250372" y="138500"/>
              <a:ext cx="5508172" cy="3231654"/>
            </a:xfrm>
            <a:prstGeom prst="rect">
              <a:avLst/>
            </a:prstGeom>
            <a:noFill/>
          </p:spPr>
          <p:txBody>
            <a:bodyPr wrap="square">
              <a:spAutoFit/>
            </a:bodyPr>
            <a:lstStyle/>
            <a:p>
              <a:pPr>
                <a:buNone/>
              </a:pPr>
              <a:r>
                <a:rPr lang="en-GB" sz="2400" b="1" dirty="0"/>
                <a:t>Support Vector Machine (SVM)</a:t>
              </a:r>
              <a:endParaRPr lang="en-GB" sz="2400" dirty="0"/>
            </a:p>
            <a:p>
              <a:pPr>
                <a:buNone/>
              </a:pPr>
              <a:r>
                <a:rPr lang="en-GB" i="1" dirty="0"/>
                <a:t>Separates classes by finding the optimal decision boundary.</a:t>
              </a:r>
            </a:p>
            <a:p>
              <a:pPr>
                <a:buNone/>
              </a:pPr>
              <a:endParaRPr lang="en-GB" dirty="0"/>
            </a:p>
            <a:p>
              <a:pPr>
                <a:buNone/>
              </a:pPr>
              <a:r>
                <a:rPr lang="en-GB" b="1" dirty="0"/>
                <a:t>Typical environmental applications</a:t>
              </a:r>
            </a:p>
            <a:p>
              <a:pPr>
                <a:buFont typeface="Arial" panose="020B0604020202020204" pitchFamily="34" charset="0"/>
                <a:buChar char="•"/>
              </a:pPr>
              <a:r>
                <a:rPr lang="en-GB" dirty="0"/>
                <a:t> Land-cover classification</a:t>
              </a:r>
            </a:p>
            <a:p>
              <a:pPr>
                <a:buFont typeface="Arial" panose="020B0604020202020204" pitchFamily="34" charset="0"/>
                <a:buChar char="•"/>
              </a:pPr>
              <a:r>
                <a:rPr lang="en-GB" dirty="0"/>
                <a:t> Remote sensing</a:t>
              </a:r>
            </a:p>
            <a:p>
              <a:pPr>
                <a:buFont typeface="Arial" panose="020B0604020202020204" pitchFamily="34" charset="0"/>
                <a:buChar char="•"/>
              </a:pPr>
              <a:r>
                <a:rPr lang="en-GB" dirty="0"/>
                <a:t> Image segmentation</a:t>
              </a:r>
            </a:p>
            <a:p>
              <a:pPr>
                <a:buNone/>
              </a:pPr>
              <a:br>
                <a:rPr lang="en-GB" dirty="0"/>
              </a:br>
              <a:r>
                <a:rPr lang="en-GB" b="1" dirty="0">
                  <a:solidFill>
                    <a:schemeClr val="tx1">
                      <a:lumMod val="65000"/>
                      <a:lumOff val="35000"/>
                    </a:schemeClr>
                  </a:solidFill>
                </a:rPr>
                <a:t>Widely used in remote sensing and geospatial classification problems.</a:t>
              </a:r>
            </a:p>
          </p:txBody>
        </p:sp>
        <p:pic>
          <p:nvPicPr>
            <p:cNvPr id="12" name="Picture 11">
              <a:extLst>
                <a:ext uri="{FF2B5EF4-FFF2-40B4-BE49-F238E27FC236}">
                  <a16:creationId xmlns:a16="http://schemas.microsoft.com/office/drawing/2014/main" id="{11B81B11-9563-0BBC-D15D-AC17B853BF81}"/>
                </a:ext>
              </a:extLst>
            </p:cNvPr>
            <p:cNvPicPr>
              <a:picLocks noChangeAspect="1"/>
            </p:cNvPicPr>
            <p:nvPr/>
          </p:nvPicPr>
          <p:blipFill>
            <a:blip r:embed="rId4"/>
            <a:stretch>
              <a:fillRect/>
            </a:stretch>
          </p:blipFill>
          <p:spPr>
            <a:xfrm>
              <a:off x="7886701" y="185057"/>
              <a:ext cx="2971800" cy="1524000"/>
            </a:xfrm>
            <a:prstGeom prst="rect">
              <a:avLst/>
            </a:prstGeom>
          </p:spPr>
        </p:pic>
        <p:sp>
          <p:nvSpPr>
            <p:cNvPr id="14" name="TextBox 13">
              <a:extLst>
                <a:ext uri="{FF2B5EF4-FFF2-40B4-BE49-F238E27FC236}">
                  <a16:creationId xmlns:a16="http://schemas.microsoft.com/office/drawing/2014/main" id="{EF4A33CF-76BB-8464-CFFF-7AFEFE72B0AC}"/>
                </a:ext>
              </a:extLst>
            </p:cNvPr>
            <p:cNvSpPr txBox="1"/>
            <p:nvPr/>
          </p:nvSpPr>
          <p:spPr>
            <a:xfrm>
              <a:off x="6096000" y="1852689"/>
              <a:ext cx="2688771" cy="1477328"/>
            </a:xfrm>
            <a:prstGeom prst="rect">
              <a:avLst/>
            </a:prstGeom>
            <a:noFill/>
          </p:spPr>
          <p:txBody>
            <a:bodyPr wrap="square">
              <a:spAutoFit/>
            </a:bodyPr>
            <a:lstStyle/>
            <a:p>
              <a:pPr>
                <a:buNone/>
              </a:pPr>
              <a:r>
                <a:rPr lang="en-GB" b="1" dirty="0"/>
                <a:t>Strengths</a:t>
              </a:r>
            </a:p>
            <a:p>
              <a:pPr>
                <a:buFont typeface="Arial" panose="020B0604020202020204" pitchFamily="34" charset="0"/>
                <a:buChar char="•"/>
              </a:pPr>
              <a:r>
                <a:rPr lang="en-GB" dirty="0"/>
                <a:t>Effective with limited datasets</a:t>
              </a:r>
            </a:p>
            <a:p>
              <a:pPr>
                <a:buFont typeface="Arial" panose="020B0604020202020204" pitchFamily="34" charset="0"/>
                <a:buChar char="•"/>
              </a:pPr>
              <a:r>
                <a:rPr lang="en-GB" dirty="0"/>
                <a:t>Handles complex class separation</a:t>
              </a:r>
            </a:p>
          </p:txBody>
        </p:sp>
        <p:sp>
          <p:nvSpPr>
            <p:cNvPr id="16" name="TextBox 15">
              <a:extLst>
                <a:ext uri="{FF2B5EF4-FFF2-40B4-BE49-F238E27FC236}">
                  <a16:creationId xmlns:a16="http://schemas.microsoft.com/office/drawing/2014/main" id="{39400979-3E21-07D3-D5E0-1704D9F6C01F}"/>
                </a:ext>
              </a:extLst>
            </p:cNvPr>
            <p:cNvSpPr txBox="1"/>
            <p:nvPr/>
          </p:nvSpPr>
          <p:spPr>
            <a:xfrm>
              <a:off x="9122227" y="1852689"/>
              <a:ext cx="2688771" cy="1477328"/>
            </a:xfrm>
            <a:prstGeom prst="rect">
              <a:avLst/>
            </a:prstGeom>
            <a:noFill/>
          </p:spPr>
          <p:txBody>
            <a:bodyPr wrap="square">
              <a:spAutoFit/>
            </a:bodyPr>
            <a:lstStyle/>
            <a:p>
              <a:pPr>
                <a:buNone/>
              </a:pPr>
              <a:r>
                <a:rPr lang="en-GB" b="1" dirty="0"/>
                <a:t>Limitations</a:t>
              </a:r>
            </a:p>
            <a:p>
              <a:pPr>
                <a:buFont typeface="Arial" panose="020B0604020202020204" pitchFamily="34" charset="0"/>
                <a:buChar char="•"/>
              </a:pPr>
              <a:r>
                <a:rPr lang="en-GB" dirty="0"/>
                <a:t>Computationally expensive on large datasets</a:t>
              </a:r>
            </a:p>
            <a:p>
              <a:pPr>
                <a:buFont typeface="Arial" panose="020B0604020202020204" pitchFamily="34" charset="0"/>
                <a:buChar char="•"/>
              </a:pPr>
              <a:r>
                <a:rPr lang="en-GB" dirty="0"/>
                <a:t>Less interpretable</a:t>
              </a:r>
            </a:p>
          </p:txBody>
        </p:sp>
      </p:grpSp>
      <p:cxnSp>
        <p:nvCxnSpPr>
          <p:cNvPr id="18" name="Straight Connector 17">
            <a:extLst>
              <a:ext uri="{FF2B5EF4-FFF2-40B4-BE49-F238E27FC236}">
                <a16:creationId xmlns:a16="http://schemas.microsoft.com/office/drawing/2014/main" id="{2D508DA2-141C-A2FA-94E5-E3B6E299F3BA}"/>
              </a:ext>
            </a:extLst>
          </p:cNvPr>
          <p:cNvCxnSpPr>
            <a:cxnSpLocks/>
          </p:cNvCxnSpPr>
          <p:nvPr/>
        </p:nvCxnSpPr>
        <p:spPr>
          <a:xfrm>
            <a:off x="2024743" y="3328705"/>
            <a:ext cx="816428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768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59992B-CBC9-83EE-B704-D6EE2AA77859}"/>
              </a:ext>
            </a:extLst>
          </p:cNvPr>
          <p:cNvSpPr/>
          <p:nvPr/>
        </p:nvSpPr>
        <p:spPr>
          <a:xfrm>
            <a:off x="1" y="6203485"/>
            <a:ext cx="12191999" cy="6545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extBox 8">
            <a:extLst>
              <a:ext uri="{FF2B5EF4-FFF2-40B4-BE49-F238E27FC236}">
                <a16:creationId xmlns:a16="http://schemas.microsoft.com/office/drawing/2014/main" id="{6C3B9D48-92ED-75C3-2CCA-5C38E8278A00}"/>
              </a:ext>
            </a:extLst>
          </p:cNvPr>
          <p:cNvSpPr txBox="1"/>
          <p:nvPr/>
        </p:nvSpPr>
        <p:spPr>
          <a:xfrm>
            <a:off x="5976256" y="3718288"/>
            <a:ext cx="5987143" cy="2954655"/>
          </a:xfrm>
          <a:prstGeom prst="rect">
            <a:avLst/>
          </a:prstGeom>
          <a:noFill/>
        </p:spPr>
        <p:txBody>
          <a:bodyPr wrap="square">
            <a:spAutoFit/>
          </a:bodyPr>
          <a:lstStyle/>
          <a:p>
            <a:pPr>
              <a:buNone/>
            </a:pPr>
            <a:r>
              <a:rPr lang="en-GB" sz="2400" b="1" dirty="0"/>
              <a:t>Neural Networks &amp; Deep Learning</a:t>
            </a:r>
            <a:endParaRPr lang="en-GB" sz="2400" dirty="0"/>
          </a:p>
          <a:p>
            <a:pPr>
              <a:buNone/>
            </a:pPr>
            <a:r>
              <a:rPr lang="en-GB" i="1" dirty="0"/>
              <a:t>Learn complex hierarchical patterns from large datasets.</a:t>
            </a:r>
          </a:p>
          <a:p>
            <a:pPr>
              <a:buNone/>
            </a:pPr>
            <a:endParaRPr lang="en-GB" dirty="0"/>
          </a:p>
          <a:p>
            <a:pPr>
              <a:buNone/>
            </a:pPr>
            <a:r>
              <a:rPr lang="en-GB" b="1" dirty="0"/>
              <a:t>Typical environmental applications</a:t>
            </a:r>
          </a:p>
          <a:p>
            <a:pPr>
              <a:buFont typeface="Arial" panose="020B0604020202020204" pitchFamily="34" charset="0"/>
              <a:buChar char="•"/>
            </a:pPr>
            <a:r>
              <a:rPr lang="en-GB" dirty="0"/>
              <a:t> Satellite image analysis</a:t>
            </a:r>
          </a:p>
          <a:p>
            <a:pPr>
              <a:buFont typeface="Arial" panose="020B0604020202020204" pitchFamily="34" charset="0"/>
              <a:buChar char="•"/>
            </a:pPr>
            <a:r>
              <a:rPr lang="en-GB" dirty="0"/>
              <a:t> Fire and smoke detection, flood mapping, etc.</a:t>
            </a:r>
          </a:p>
          <a:p>
            <a:pPr>
              <a:buFont typeface="Arial" panose="020B0604020202020204" pitchFamily="34" charset="0"/>
              <a:buChar char="•"/>
            </a:pPr>
            <a:r>
              <a:rPr lang="en-GB" dirty="0"/>
              <a:t> Weather prediction</a:t>
            </a:r>
            <a:br>
              <a:rPr lang="en-GB" dirty="0"/>
            </a:br>
            <a:endParaRPr lang="en-GB" dirty="0"/>
          </a:p>
          <a:p>
            <a:pPr>
              <a:buNone/>
            </a:pPr>
            <a:r>
              <a:rPr lang="en-GB" dirty="0"/>
              <a:t>Particularly powerful for computer vision and Earth observation applications.</a:t>
            </a:r>
          </a:p>
        </p:txBody>
      </p:sp>
      <p:sp>
        <p:nvSpPr>
          <p:cNvPr id="11" name="TextBox 10">
            <a:extLst>
              <a:ext uri="{FF2B5EF4-FFF2-40B4-BE49-F238E27FC236}">
                <a16:creationId xmlns:a16="http://schemas.microsoft.com/office/drawing/2014/main" id="{D593ED99-ED5B-E034-60FF-D1165D7596AC}"/>
              </a:ext>
            </a:extLst>
          </p:cNvPr>
          <p:cNvSpPr txBox="1"/>
          <p:nvPr/>
        </p:nvSpPr>
        <p:spPr>
          <a:xfrm>
            <a:off x="250372" y="4882341"/>
            <a:ext cx="2231571" cy="2031325"/>
          </a:xfrm>
          <a:prstGeom prst="rect">
            <a:avLst/>
          </a:prstGeom>
          <a:noFill/>
        </p:spPr>
        <p:txBody>
          <a:bodyPr wrap="square">
            <a:spAutoFit/>
          </a:bodyPr>
          <a:lstStyle/>
          <a:p>
            <a:pPr>
              <a:buNone/>
            </a:pPr>
            <a:r>
              <a:rPr lang="en-GB" b="1" dirty="0"/>
              <a:t>Strengths</a:t>
            </a:r>
          </a:p>
          <a:p>
            <a:pPr>
              <a:buFont typeface="Arial" panose="020B0604020202020204" pitchFamily="34" charset="0"/>
              <a:buChar char="•"/>
            </a:pPr>
            <a:r>
              <a:rPr lang="en-GB" dirty="0"/>
              <a:t>Excellent for images and spatial data</a:t>
            </a:r>
          </a:p>
          <a:p>
            <a:pPr>
              <a:buFont typeface="Arial" panose="020B0604020202020204" pitchFamily="34" charset="0"/>
              <a:buChar char="•"/>
            </a:pPr>
            <a:r>
              <a:rPr lang="en-GB" dirty="0"/>
              <a:t>Can model highly complex relationships</a:t>
            </a:r>
          </a:p>
        </p:txBody>
      </p:sp>
      <p:sp>
        <p:nvSpPr>
          <p:cNvPr id="13" name="TextBox 12">
            <a:extLst>
              <a:ext uri="{FF2B5EF4-FFF2-40B4-BE49-F238E27FC236}">
                <a16:creationId xmlns:a16="http://schemas.microsoft.com/office/drawing/2014/main" id="{7AB3760F-A363-B332-2DD7-76F932023100}"/>
              </a:ext>
            </a:extLst>
          </p:cNvPr>
          <p:cNvSpPr txBox="1"/>
          <p:nvPr/>
        </p:nvSpPr>
        <p:spPr>
          <a:xfrm>
            <a:off x="3026228" y="4965174"/>
            <a:ext cx="2405743" cy="1754326"/>
          </a:xfrm>
          <a:prstGeom prst="rect">
            <a:avLst/>
          </a:prstGeom>
          <a:noFill/>
        </p:spPr>
        <p:txBody>
          <a:bodyPr wrap="square">
            <a:spAutoFit/>
          </a:bodyPr>
          <a:lstStyle/>
          <a:p>
            <a:pPr>
              <a:buNone/>
            </a:pPr>
            <a:r>
              <a:rPr lang="en-GB" b="1" dirty="0"/>
              <a:t>Limitations</a:t>
            </a:r>
          </a:p>
          <a:p>
            <a:pPr>
              <a:buFont typeface="Arial" panose="020B0604020202020204" pitchFamily="34" charset="0"/>
              <a:buChar char="•"/>
            </a:pPr>
            <a:r>
              <a:rPr lang="en-GB" dirty="0"/>
              <a:t>Requires large datasets and computation</a:t>
            </a:r>
          </a:p>
          <a:p>
            <a:pPr>
              <a:buFont typeface="Arial" panose="020B0604020202020204" pitchFamily="34" charset="0"/>
              <a:buChar char="•"/>
            </a:pPr>
            <a:r>
              <a:rPr lang="en-GB" dirty="0"/>
              <a:t>Often behaves like a “black box”</a:t>
            </a:r>
          </a:p>
        </p:txBody>
      </p:sp>
      <p:pic>
        <p:nvPicPr>
          <p:cNvPr id="14" name="Picture 13">
            <a:extLst>
              <a:ext uri="{FF2B5EF4-FFF2-40B4-BE49-F238E27FC236}">
                <a16:creationId xmlns:a16="http://schemas.microsoft.com/office/drawing/2014/main" id="{B01AD66F-74B0-5E0D-87C5-3DD27C1AFC7B}"/>
              </a:ext>
            </a:extLst>
          </p:cNvPr>
          <p:cNvPicPr>
            <a:picLocks noChangeAspect="1"/>
          </p:cNvPicPr>
          <p:nvPr/>
        </p:nvPicPr>
        <p:blipFill>
          <a:blip r:embed="rId3"/>
          <a:srcRect t="11005"/>
          <a:stretch>
            <a:fillRect/>
          </a:stretch>
        </p:blipFill>
        <p:spPr>
          <a:xfrm>
            <a:off x="979714" y="3509619"/>
            <a:ext cx="3657600" cy="1390190"/>
          </a:xfrm>
          <a:prstGeom prst="rect">
            <a:avLst/>
          </a:prstGeom>
        </p:spPr>
      </p:pic>
      <p:cxnSp>
        <p:nvCxnSpPr>
          <p:cNvPr id="15" name="Straight Connector 14">
            <a:extLst>
              <a:ext uri="{FF2B5EF4-FFF2-40B4-BE49-F238E27FC236}">
                <a16:creationId xmlns:a16="http://schemas.microsoft.com/office/drawing/2014/main" id="{C0E97BDC-9E56-1D72-0E35-8BE18BACEB3C}"/>
              </a:ext>
            </a:extLst>
          </p:cNvPr>
          <p:cNvCxnSpPr>
            <a:cxnSpLocks/>
          </p:cNvCxnSpPr>
          <p:nvPr/>
        </p:nvCxnSpPr>
        <p:spPr>
          <a:xfrm>
            <a:off x="2024743" y="3361363"/>
            <a:ext cx="8164286"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17" name="Group 16">
            <a:extLst>
              <a:ext uri="{FF2B5EF4-FFF2-40B4-BE49-F238E27FC236}">
                <a16:creationId xmlns:a16="http://schemas.microsoft.com/office/drawing/2014/main" id="{88CBD27F-3F98-4DB6-5870-9FC67AC7444A}"/>
              </a:ext>
            </a:extLst>
          </p:cNvPr>
          <p:cNvGrpSpPr/>
          <p:nvPr/>
        </p:nvGrpSpPr>
        <p:grpSpPr>
          <a:xfrm>
            <a:off x="278981" y="34384"/>
            <a:ext cx="11913019" cy="3231654"/>
            <a:chOff x="148352" y="3463384"/>
            <a:chExt cx="11913019" cy="3231654"/>
          </a:xfrm>
        </p:grpSpPr>
        <p:pic>
          <p:nvPicPr>
            <p:cNvPr id="5" name="Picture 4">
              <a:extLst>
                <a:ext uri="{FF2B5EF4-FFF2-40B4-BE49-F238E27FC236}">
                  <a16:creationId xmlns:a16="http://schemas.microsoft.com/office/drawing/2014/main" id="{99E07E82-5430-2B5B-7060-F7EC2F59DA04}"/>
                </a:ext>
              </a:extLst>
            </p:cNvPr>
            <p:cNvPicPr>
              <a:picLocks noChangeAspect="1"/>
            </p:cNvPicPr>
            <p:nvPr/>
          </p:nvPicPr>
          <p:blipFill>
            <a:blip r:embed="rId4"/>
            <a:stretch>
              <a:fillRect/>
            </a:stretch>
          </p:blipFill>
          <p:spPr>
            <a:xfrm>
              <a:off x="442476" y="3463384"/>
              <a:ext cx="3835400" cy="1625600"/>
            </a:xfrm>
            <a:prstGeom prst="rect">
              <a:avLst/>
            </a:prstGeom>
          </p:spPr>
        </p:pic>
        <p:sp>
          <p:nvSpPr>
            <p:cNvPr id="7" name="TextBox 6">
              <a:extLst>
                <a:ext uri="{FF2B5EF4-FFF2-40B4-BE49-F238E27FC236}">
                  <a16:creationId xmlns:a16="http://schemas.microsoft.com/office/drawing/2014/main" id="{61783886-A9AF-F539-EEF6-D4E9395D3C0F}"/>
                </a:ext>
              </a:extLst>
            </p:cNvPr>
            <p:cNvSpPr txBox="1"/>
            <p:nvPr/>
          </p:nvSpPr>
          <p:spPr>
            <a:xfrm>
              <a:off x="5268686" y="3463384"/>
              <a:ext cx="6792685" cy="3231654"/>
            </a:xfrm>
            <a:prstGeom prst="rect">
              <a:avLst/>
            </a:prstGeom>
            <a:noFill/>
          </p:spPr>
          <p:txBody>
            <a:bodyPr wrap="square">
              <a:spAutoFit/>
            </a:bodyPr>
            <a:lstStyle/>
            <a:p>
              <a:pPr>
                <a:buNone/>
              </a:pPr>
              <a:r>
                <a:rPr lang="en-GB" sz="2400" b="1" dirty="0"/>
                <a:t>Gradient Boosting</a:t>
              </a:r>
              <a:endParaRPr lang="en-GB" sz="2400" dirty="0"/>
            </a:p>
            <a:p>
              <a:pPr>
                <a:buNone/>
              </a:pPr>
              <a:br>
                <a:rPr lang="en-GB" dirty="0"/>
              </a:br>
              <a:r>
                <a:rPr lang="en-GB" i="1" dirty="0"/>
                <a:t>Multiple weak learners are built sequentially, each focusing on correcting mistakes done by previous ones.</a:t>
              </a:r>
            </a:p>
            <a:p>
              <a:pPr>
                <a:buNone/>
              </a:pPr>
              <a:endParaRPr lang="en-GB" dirty="0"/>
            </a:p>
            <a:p>
              <a:pPr>
                <a:buNone/>
              </a:pPr>
              <a:r>
                <a:rPr lang="en-GB" b="1" dirty="0"/>
                <a:t>Typical environmental applications</a:t>
              </a:r>
            </a:p>
            <a:p>
              <a:pPr>
                <a:buFont typeface="Arial" panose="020B0604020202020204" pitchFamily="34" charset="0"/>
                <a:buChar char="•"/>
              </a:pPr>
              <a:r>
                <a:rPr lang="en-GB" dirty="0"/>
                <a:t> Extreme-event prediction </a:t>
              </a:r>
            </a:p>
            <a:p>
              <a:pPr>
                <a:buFont typeface="Arial" panose="020B0604020202020204" pitchFamily="34" charset="0"/>
                <a:buChar char="•"/>
              </a:pPr>
              <a:r>
                <a:rPr lang="en-GB" dirty="0"/>
                <a:t> Risk mapping</a:t>
              </a:r>
            </a:p>
            <a:p>
              <a:pPr>
                <a:buFont typeface="Arial" panose="020B0604020202020204" pitchFamily="34" charset="0"/>
                <a:buChar char="•"/>
              </a:pPr>
              <a:r>
                <a:rPr lang="en-GB" dirty="0"/>
                <a:t> Environmental forecasting</a:t>
              </a:r>
            </a:p>
            <a:p>
              <a:pPr>
                <a:buNone/>
              </a:pPr>
              <a:endParaRPr lang="en-GB" dirty="0"/>
            </a:p>
            <a:p>
              <a:pPr>
                <a:buNone/>
              </a:pPr>
              <a:r>
                <a:rPr lang="en-GB" b="1" dirty="0">
                  <a:solidFill>
                    <a:schemeClr val="tx1">
                      <a:lumMod val="65000"/>
                      <a:lumOff val="35000"/>
                    </a:schemeClr>
                  </a:solidFill>
                </a:rPr>
                <a:t>High predictive performances and flexibility</a:t>
              </a:r>
            </a:p>
          </p:txBody>
        </p:sp>
        <p:sp>
          <p:nvSpPr>
            <p:cNvPr id="10" name="TextBox 9">
              <a:extLst>
                <a:ext uri="{FF2B5EF4-FFF2-40B4-BE49-F238E27FC236}">
                  <a16:creationId xmlns:a16="http://schemas.microsoft.com/office/drawing/2014/main" id="{102DA39C-D7C4-E350-2649-E7A1F2F94CAB}"/>
                </a:ext>
              </a:extLst>
            </p:cNvPr>
            <p:cNvSpPr txBox="1"/>
            <p:nvPr/>
          </p:nvSpPr>
          <p:spPr>
            <a:xfrm>
              <a:off x="148352" y="5103674"/>
              <a:ext cx="2211824" cy="1200329"/>
            </a:xfrm>
            <a:prstGeom prst="rect">
              <a:avLst/>
            </a:prstGeom>
            <a:noFill/>
          </p:spPr>
          <p:txBody>
            <a:bodyPr wrap="square">
              <a:spAutoFit/>
            </a:bodyPr>
            <a:lstStyle/>
            <a:p>
              <a:pPr>
                <a:buNone/>
              </a:pPr>
              <a:r>
                <a:rPr lang="en-GB" b="1" dirty="0"/>
                <a:t>Strengths</a:t>
              </a:r>
            </a:p>
            <a:p>
              <a:pPr>
                <a:buFont typeface="Arial" panose="020B0604020202020204" pitchFamily="34" charset="0"/>
                <a:buChar char="•"/>
              </a:pPr>
              <a:r>
                <a:rPr lang="en-GB" dirty="0"/>
                <a:t> Very high predictive performance</a:t>
              </a:r>
            </a:p>
          </p:txBody>
        </p:sp>
        <p:sp>
          <p:nvSpPr>
            <p:cNvPr id="12" name="TextBox 11">
              <a:extLst>
                <a:ext uri="{FF2B5EF4-FFF2-40B4-BE49-F238E27FC236}">
                  <a16:creationId xmlns:a16="http://schemas.microsoft.com/office/drawing/2014/main" id="{DB84970D-5F06-E73F-A228-F7168B735AD5}"/>
                </a:ext>
              </a:extLst>
            </p:cNvPr>
            <p:cNvSpPr txBox="1"/>
            <p:nvPr/>
          </p:nvSpPr>
          <p:spPr>
            <a:xfrm>
              <a:off x="2534347" y="5183326"/>
              <a:ext cx="2560167" cy="1477328"/>
            </a:xfrm>
            <a:prstGeom prst="rect">
              <a:avLst/>
            </a:prstGeom>
            <a:noFill/>
          </p:spPr>
          <p:txBody>
            <a:bodyPr wrap="square">
              <a:spAutoFit/>
            </a:bodyPr>
            <a:lstStyle/>
            <a:p>
              <a:pPr>
                <a:buNone/>
              </a:pPr>
              <a:r>
                <a:rPr lang="en-GB" b="1" dirty="0"/>
                <a:t>Limitations</a:t>
              </a:r>
            </a:p>
            <a:p>
              <a:pPr>
                <a:buFont typeface="Arial" panose="020B0604020202020204" pitchFamily="34" charset="0"/>
                <a:buChar char="•"/>
              </a:pPr>
              <a:r>
                <a:rPr lang="en-GB" dirty="0"/>
                <a:t> More difficult to interpret</a:t>
              </a:r>
            </a:p>
            <a:p>
              <a:pPr>
                <a:buFont typeface="Arial" panose="020B0604020202020204" pitchFamily="34" charset="0"/>
                <a:buChar char="•"/>
              </a:pPr>
              <a:r>
                <a:rPr lang="en-GB" dirty="0"/>
                <a:t> Requires hyperparameter tuning</a:t>
              </a:r>
            </a:p>
          </p:txBody>
        </p:sp>
      </p:grpSp>
    </p:spTree>
    <p:extLst>
      <p:ext uri="{BB962C8B-B14F-4D97-AF65-F5344CB8AC3E}">
        <p14:creationId xmlns:p14="http://schemas.microsoft.com/office/powerpoint/2010/main" val="3447694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E295EE-784C-A66B-17A7-6BE7F63D6D0F}"/>
              </a:ext>
            </a:extLst>
          </p:cNvPr>
          <p:cNvPicPr>
            <a:picLocks noChangeAspect="1"/>
          </p:cNvPicPr>
          <p:nvPr/>
        </p:nvPicPr>
        <p:blipFill>
          <a:blip r:embed="rId3"/>
          <a:srcRect l="827" t="8672" r="52229" b="2030"/>
          <a:stretch>
            <a:fillRect/>
          </a:stretch>
        </p:blipFill>
        <p:spPr>
          <a:xfrm>
            <a:off x="7598228" y="626493"/>
            <a:ext cx="4321629" cy="5480393"/>
          </a:xfrm>
          <a:prstGeom prst="rect">
            <a:avLst/>
          </a:prstGeom>
        </p:spPr>
      </p:pic>
      <p:sp>
        <p:nvSpPr>
          <p:cNvPr id="7" name="TextBox 6">
            <a:extLst>
              <a:ext uri="{FF2B5EF4-FFF2-40B4-BE49-F238E27FC236}">
                <a16:creationId xmlns:a16="http://schemas.microsoft.com/office/drawing/2014/main" id="{179D476B-326E-D420-9613-D1429B6103EF}"/>
              </a:ext>
            </a:extLst>
          </p:cNvPr>
          <p:cNvSpPr txBox="1"/>
          <p:nvPr/>
        </p:nvSpPr>
        <p:spPr>
          <a:xfrm>
            <a:off x="195942" y="1166842"/>
            <a:ext cx="7402286" cy="4524315"/>
          </a:xfrm>
          <a:prstGeom prst="rect">
            <a:avLst/>
          </a:prstGeom>
          <a:noFill/>
        </p:spPr>
        <p:txBody>
          <a:bodyPr wrap="square">
            <a:spAutoFit/>
          </a:bodyPr>
          <a:lstStyle/>
          <a:p>
            <a:pPr>
              <a:buNone/>
            </a:pPr>
            <a:r>
              <a:rPr lang="en-GB" i="1" dirty="0"/>
              <a:t>A Decision Tree splits the dataset into smaller and more homogeneous groups using sequential rules on predictor variables.</a:t>
            </a:r>
          </a:p>
          <a:p>
            <a:pPr>
              <a:buNone/>
            </a:pPr>
            <a:br>
              <a:rPr lang="en-GB" dirty="0"/>
            </a:br>
            <a:r>
              <a:rPr lang="en-GB" b="1" dirty="0"/>
              <a:t>How it works</a:t>
            </a:r>
          </a:p>
          <a:p>
            <a:pPr>
              <a:buFont typeface="+mj-lt"/>
              <a:buAutoNum type="arabicPeriod"/>
            </a:pPr>
            <a:r>
              <a:rPr lang="en-GB" dirty="0"/>
              <a:t> Start from all observations</a:t>
            </a:r>
          </a:p>
          <a:p>
            <a:pPr>
              <a:buFont typeface="+mj-lt"/>
              <a:buAutoNum type="arabicPeriod"/>
            </a:pPr>
            <a:r>
              <a:rPr lang="en-GB" dirty="0"/>
              <a:t> Select the variable that best separates classes</a:t>
            </a:r>
          </a:p>
          <a:p>
            <a:pPr>
              <a:buFont typeface="+mj-lt"/>
              <a:buAutoNum type="arabicPeriod"/>
            </a:pPr>
            <a:r>
              <a:rPr lang="en-GB" dirty="0"/>
              <a:t> Split the data into branches</a:t>
            </a:r>
          </a:p>
          <a:p>
            <a:pPr>
              <a:buFont typeface="+mj-lt"/>
              <a:buAutoNum type="arabicPeriod"/>
            </a:pPr>
            <a:r>
              <a:rPr lang="en-GB" dirty="0"/>
              <a:t> Repeat recursively until terminal nodes are reached</a:t>
            </a:r>
          </a:p>
          <a:p>
            <a:pPr>
              <a:buNone/>
            </a:pPr>
            <a:br>
              <a:rPr lang="en-GB" dirty="0"/>
            </a:br>
            <a:r>
              <a:rPr lang="en-GB" b="1" dirty="0"/>
              <a:t>Advantages</a:t>
            </a:r>
          </a:p>
          <a:p>
            <a:pPr>
              <a:buFont typeface="Arial" panose="020B0604020202020204" pitchFamily="34" charset="0"/>
              <a:buChar char="•"/>
            </a:pPr>
            <a:r>
              <a:rPr lang="en-GB" dirty="0"/>
              <a:t> Simple and interpretable</a:t>
            </a:r>
          </a:p>
          <a:p>
            <a:pPr>
              <a:buFont typeface="Arial" panose="020B0604020202020204" pitchFamily="34" charset="0"/>
              <a:buChar char="•"/>
            </a:pPr>
            <a:r>
              <a:rPr lang="en-GB" dirty="0"/>
              <a:t> Handles numerical and categorical variables</a:t>
            </a:r>
          </a:p>
          <a:p>
            <a:pPr>
              <a:buFont typeface="Arial" panose="020B0604020202020204" pitchFamily="34" charset="0"/>
              <a:buChar char="•"/>
            </a:pPr>
            <a:r>
              <a:rPr lang="en-GB" dirty="0"/>
              <a:t> Captures non-linear relationships</a:t>
            </a:r>
          </a:p>
          <a:p>
            <a:pPr>
              <a:buNone/>
            </a:pPr>
            <a:br>
              <a:rPr lang="en-GB" dirty="0"/>
            </a:br>
            <a:r>
              <a:rPr lang="en-GB" b="1" dirty="0"/>
              <a:t>Main limitation</a:t>
            </a:r>
          </a:p>
          <a:p>
            <a:pPr>
              <a:buNone/>
            </a:pPr>
            <a:r>
              <a:rPr lang="en-GB" dirty="0"/>
              <a:t>Single trees are unstable and prone to overfitting.</a:t>
            </a:r>
          </a:p>
        </p:txBody>
      </p:sp>
      <p:sp>
        <p:nvSpPr>
          <p:cNvPr id="8" name="TextBox 7">
            <a:extLst>
              <a:ext uri="{FF2B5EF4-FFF2-40B4-BE49-F238E27FC236}">
                <a16:creationId xmlns:a16="http://schemas.microsoft.com/office/drawing/2014/main" id="{4758CA74-55FF-54FF-CDFD-0FA755529478}"/>
              </a:ext>
            </a:extLst>
          </p:cNvPr>
          <p:cNvSpPr txBox="1"/>
          <p:nvPr/>
        </p:nvSpPr>
        <p:spPr>
          <a:xfrm>
            <a:off x="195942" y="311892"/>
            <a:ext cx="5192487" cy="584775"/>
          </a:xfrm>
          <a:prstGeom prst="rect">
            <a:avLst/>
          </a:prstGeom>
          <a:noFill/>
        </p:spPr>
        <p:txBody>
          <a:bodyPr wrap="square" rtlCol="0">
            <a:spAutoFit/>
          </a:bodyPr>
          <a:lstStyle/>
          <a:p>
            <a:r>
              <a:rPr lang="it-IT" sz="3200" b="1" dirty="0" err="1"/>
              <a:t>Decision</a:t>
            </a:r>
            <a:r>
              <a:rPr lang="it-IT" sz="3200" b="1" dirty="0"/>
              <a:t> </a:t>
            </a:r>
            <a:r>
              <a:rPr lang="it-IT" sz="3200" b="1" dirty="0" err="1"/>
              <a:t>Trees</a:t>
            </a:r>
            <a:endParaRPr lang="it-IT" sz="3200" b="1" dirty="0"/>
          </a:p>
        </p:txBody>
      </p:sp>
    </p:spTree>
    <p:extLst>
      <p:ext uri="{BB962C8B-B14F-4D97-AF65-F5344CB8AC3E}">
        <p14:creationId xmlns:p14="http://schemas.microsoft.com/office/powerpoint/2010/main" val="2115113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FBAA78-7FED-DE06-FBE2-159A3996A107}"/>
              </a:ext>
            </a:extLst>
          </p:cNvPr>
          <p:cNvPicPr>
            <a:picLocks noChangeAspect="1"/>
          </p:cNvPicPr>
          <p:nvPr/>
        </p:nvPicPr>
        <p:blipFill>
          <a:blip r:embed="rId3"/>
          <a:srcRect l="49297" t="8310" r="1396" b="1507"/>
          <a:stretch>
            <a:fillRect/>
          </a:stretch>
        </p:blipFill>
        <p:spPr>
          <a:xfrm>
            <a:off x="7293430" y="827314"/>
            <a:ext cx="4615542" cy="5627915"/>
          </a:xfrm>
          <a:prstGeom prst="rect">
            <a:avLst/>
          </a:prstGeom>
        </p:spPr>
      </p:pic>
      <p:sp>
        <p:nvSpPr>
          <p:cNvPr id="4" name="TextBox 3">
            <a:extLst>
              <a:ext uri="{FF2B5EF4-FFF2-40B4-BE49-F238E27FC236}">
                <a16:creationId xmlns:a16="http://schemas.microsoft.com/office/drawing/2014/main" id="{F1D30612-EE58-ADCD-2419-305244B25841}"/>
              </a:ext>
            </a:extLst>
          </p:cNvPr>
          <p:cNvSpPr txBox="1"/>
          <p:nvPr/>
        </p:nvSpPr>
        <p:spPr>
          <a:xfrm>
            <a:off x="283028" y="672277"/>
            <a:ext cx="7326086" cy="4801314"/>
          </a:xfrm>
          <a:prstGeom prst="rect">
            <a:avLst/>
          </a:prstGeom>
          <a:noFill/>
        </p:spPr>
        <p:txBody>
          <a:bodyPr wrap="square">
            <a:spAutoFit/>
          </a:bodyPr>
          <a:lstStyle/>
          <a:p>
            <a:pPr>
              <a:buNone/>
            </a:pPr>
            <a:r>
              <a:rPr lang="en-GB" i="1" dirty="0"/>
              <a:t>Random Forest is an ensemble-learning algorithm that combines predictions from many independent decision trees.</a:t>
            </a:r>
            <a:endParaRPr lang="en-GB" dirty="0"/>
          </a:p>
          <a:p>
            <a:pPr>
              <a:buNone/>
            </a:pPr>
            <a:endParaRPr lang="en-GB" b="1" dirty="0"/>
          </a:p>
          <a:p>
            <a:pPr>
              <a:buNone/>
            </a:pPr>
            <a:r>
              <a:rPr lang="en-GB" b="1" dirty="0"/>
              <a:t>How it improves Decision Trees</a:t>
            </a:r>
          </a:p>
          <a:p>
            <a:pPr>
              <a:buNone/>
            </a:pPr>
            <a:r>
              <a:rPr lang="en-GB" dirty="0"/>
              <a:t>Each tree is trained on:</a:t>
            </a:r>
          </a:p>
          <a:p>
            <a:pPr>
              <a:buFont typeface="Arial" panose="020B0604020202020204" pitchFamily="34" charset="0"/>
              <a:buChar char="•"/>
            </a:pPr>
            <a:r>
              <a:rPr lang="en-GB" dirty="0"/>
              <a:t> a random subset of observations</a:t>
            </a:r>
          </a:p>
          <a:p>
            <a:pPr>
              <a:buFont typeface="Arial" panose="020B0604020202020204" pitchFamily="34" charset="0"/>
              <a:buChar char="•"/>
            </a:pPr>
            <a:r>
              <a:rPr lang="en-GB" dirty="0"/>
              <a:t> a random subset of predictor variables</a:t>
            </a:r>
          </a:p>
          <a:p>
            <a:pPr>
              <a:buNone/>
            </a:pPr>
            <a:r>
              <a:rPr lang="en-GB" dirty="0"/>
              <a:t>This increases model diversity and reduces overfitting.</a:t>
            </a:r>
          </a:p>
          <a:p>
            <a:pPr>
              <a:buNone/>
            </a:pPr>
            <a:endParaRPr lang="en-GB" dirty="0"/>
          </a:p>
          <a:p>
            <a:pPr>
              <a:buNone/>
            </a:pPr>
            <a:r>
              <a:rPr lang="en-GB" b="1" dirty="0"/>
              <a:t>Final prediction</a:t>
            </a:r>
          </a:p>
          <a:p>
            <a:pPr>
              <a:buNone/>
            </a:pPr>
            <a:r>
              <a:rPr lang="en-GB" dirty="0"/>
              <a:t>Each tree produces a prediction:</a:t>
            </a:r>
          </a:p>
          <a:p>
            <a:pPr>
              <a:buFont typeface="Arial" panose="020B0604020202020204" pitchFamily="34" charset="0"/>
              <a:buChar char="•"/>
            </a:pPr>
            <a:r>
              <a:rPr lang="en-GB" dirty="0"/>
              <a:t> classification → majority vote</a:t>
            </a:r>
          </a:p>
          <a:p>
            <a:pPr>
              <a:buFont typeface="Arial" panose="020B0604020202020204" pitchFamily="34" charset="0"/>
              <a:buChar char="•"/>
            </a:pPr>
            <a:r>
              <a:rPr lang="en-GB" dirty="0"/>
              <a:t> probability → average probability across trees</a:t>
            </a:r>
          </a:p>
          <a:p>
            <a:pPr>
              <a:buNone/>
            </a:pPr>
            <a:endParaRPr lang="en-GB" dirty="0"/>
          </a:p>
          <a:p>
            <a:pPr>
              <a:buNone/>
            </a:pPr>
            <a:r>
              <a:rPr lang="en-GB" dirty="0"/>
              <a:t>“Random Forest trades some interpretability for better generalization and predictive robustness.”</a:t>
            </a:r>
          </a:p>
          <a:p>
            <a:pPr>
              <a:buNone/>
            </a:pPr>
            <a:endParaRPr lang="en-GB" dirty="0"/>
          </a:p>
        </p:txBody>
      </p:sp>
      <p:sp>
        <p:nvSpPr>
          <p:cNvPr id="5" name="Title 1">
            <a:extLst>
              <a:ext uri="{FF2B5EF4-FFF2-40B4-BE49-F238E27FC236}">
                <a16:creationId xmlns:a16="http://schemas.microsoft.com/office/drawing/2014/main" id="{B49AD620-1F14-07E6-9047-F75DE66281AF}"/>
              </a:ext>
            </a:extLst>
          </p:cNvPr>
          <p:cNvSpPr txBox="1">
            <a:spLocks/>
          </p:cNvSpPr>
          <p:nvPr/>
        </p:nvSpPr>
        <p:spPr>
          <a:xfrm>
            <a:off x="152400" y="117107"/>
            <a:ext cx="6041570" cy="555170"/>
          </a:xfrm>
          <a:prstGeom prst="rect">
            <a:avLst/>
          </a:prstGeom>
        </p:spPr>
        <p:txBody>
          <a:bodyPr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sz="4000" dirty="0"/>
              <a:t>Random </a:t>
            </a:r>
            <a:r>
              <a:rPr lang="it-IT" sz="4000" dirty="0" err="1"/>
              <a:t>Forest</a:t>
            </a:r>
            <a:endParaRPr lang="it-IT" sz="4000" dirty="0"/>
          </a:p>
        </p:txBody>
      </p:sp>
      <p:pic>
        <p:nvPicPr>
          <p:cNvPr id="7" name="Picture 6">
            <a:extLst>
              <a:ext uri="{FF2B5EF4-FFF2-40B4-BE49-F238E27FC236}">
                <a16:creationId xmlns:a16="http://schemas.microsoft.com/office/drawing/2014/main" id="{586918C2-131E-448A-9AEC-ACF1E07AC94B}"/>
              </a:ext>
            </a:extLst>
          </p:cNvPr>
          <p:cNvPicPr>
            <a:picLocks noChangeAspect="1"/>
          </p:cNvPicPr>
          <p:nvPr/>
        </p:nvPicPr>
        <p:blipFill>
          <a:blip r:embed="rId4"/>
          <a:srcRect b="6040"/>
          <a:stretch>
            <a:fillRect/>
          </a:stretch>
        </p:blipFill>
        <p:spPr>
          <a:xfrm>
            <a:off x="283028" y="5248452"/>
            <a:ext cx="3446683" cy="1609548"/>
          </a:xfrm>
          <a:prstGeom prst="rect">
            <a:avLst/>
          </a:prstGeom>
        </p:spPr>
      </p:pic>
      <p:pic>
        <p:nvPicPr>
          <p:cNvPr id="8" name="Picture 7">
            <a:extLst>
              <a:ext uri="{FF2B5EF4-FFF2-40B4-BE49-F238E27FC236}">
                <a16:creationId xmlns:a16="http://schemas.microsoft.com/office/drawing/2014/main" id="{94137CB7-D7D6-ACE9-C0F3-5F6C480CB556}"/>
              </a:ext>
            </a:extLst>
          </p:cNvPr>
          <p:cNvPicPr>
            <a:picLocks noChangeAspect="1"/>
          </p:cNvPicPr>
          <p:nvPr/>
        </p:nvPicPr>
        <p:blipFill>
          <a:blip r:embed="rId5"/>
          <a:srcRect b="7770"/>
          <a:stretch>
            <a:fillRect/>
          </a:stretch>
        </p:blipFill>
        <p:spPr>
          <a:xfrm>
            <a:off x="4031789" y="5279917"/>
            <a:ext cx="3098353" cy="1578084"/>
          </a:xfrm>
          <a:prstGeom prst="rect">
            <a:avLst/>
          </a:prstGeom>
        </p:spPr>
      </p:pic>
    </p:spTree>
    <p:extLst>
      <p:ext uri="{BB962C8B-B14F-4D97-AF65-F5344CB8AC3E}">
        <p14:creationId xmlns:p14="http://schemas.microsoft.com/office/powerpoint/2010/main" val="2247238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3A03-5969-05D8-B8DF-5216D89A4378}"/>
              </a:ext>
            </a:extLst>
          </p:cNvPr>
          <p:cNvSpPr>
            <a:spLocks noGrp="1"/>
          </p:cNvSpPr>
          <p:nvPr>
            <p:ph type="title" idx="4294967295"/>
          </p:nvPr>
        </p:nvSpPr>
        <p:spPr>
          <a:xfrm>
            <a:off x="0" y="0"/>
            <a:ext cx="10515600" cy="1325563"/>
          </a:xfrm>
        </p:spPr>
        <p:txBody>
          <a:bodyPr/>
          <a:lstStyle/>
          <a:p>
            <a:r>
              <a:rPr lang="en-GB" dirty="0"/>
              <a:t>Models Interpretability </a:t>
            </a:r>
          </a:p>
        </p:txBody>
      </p:sp>
      <p:sp>
        <p:nvSpPr>
          <p:cNvPr id="3" name="Content Placeholder 2">
            <a:extLst>
              <a:ext uri="{FF2B5EF4-FFF2-40B4-BE49-F238E27FC236}">
                <a16:creationId xmlns:a16="http://schemas.microsoft.com/office/drawing/2014/main" id="{45A512F4-0E58-15F2-1638-F0D38BBB9329}"/>
              </a:ext>
            </a:extLst>
          </p:cNvPr>
          <p:cNvSpPr>
            <a:spLocks noGrp="1"/>
          </p:cNvSpPr>
          <p:nvPr>
            <p:ph idx="4294967295"/>
          </p:nvPr>
        </p:nvSpPr>
        <p:spPr>
          <a:xfrm>
            <a:off x="0" y="1381125"/>
            <a:ext cx="3713163" cy="5106988"/>
          </a:xfrm>
        </p:spPr>
        <p:txBody>
          <a:bodyPr>
            <a:normAutofit/>
          </a:bodyPr>
          <a:lstStyle/>
          <a:p>
            <a:pPr marL="0" indent="0">
              <a:buNone/>
            </a:pPr>
            <a:r>
              <a:rPr lang="en-GB" dirty="0"/>
              <a:t>Simple models allow understanding how predictions are made, without extra tools.</a:t>
            </a:r>
          </a:p>
          <a:p>
            <a:pPr marL="0" indent="0">
              <a:buNone/>
            </a:pPr>
            <a:endParaRPr lang="en-GB" dirty="0"/>
          </a:p>
          <a:p>
            <a:pPr marL="0" indent="0">
              <a:buNone/>
            </a:pPr>
            <a:r>
              <a:rPr lang="en-GB" dirty="0"/>
              <a:t>Complex models often work like “</a:t>
            </a:r>
            <a:r>
              <a:rPr lang="en-GB" b="1" i="1" dirty="0"/>
              <a:t>black boxes</a:t>
            </a:r>
            <a:r>
              <a:rPr lang="en-GB" dirty="0"/>
              <a:t>”.  Additional methods are needed to understand how they make predictions.</a:t>
            </a:r>
          </a:p>
        </p:txBody>
      </p:sp>
      <p:pic>
        <p:nvPicPr>
          <p:cNvPr id="7" name="Picture 6">
            <a:extLst>
              <a:ext uri="{FF2B5EF4-FFF2-40B4-BE49-F238E27FC236}">
                <a16:creationId xmlns:a16="http://schemas.microsoft.com/office/drawing/2014/main" id="{8ADF2CC9-B0E3-2AB2-7D95-0713ECF33AC9}"/>
              </a:ext>
            </a:extLst>
          </p:cNvPr>
          <p:cNvPicPr>
            <a:picLocks noChangeAspect="1"/>
          </p:cNvPicPr>
          <p:nvPr/>
        </p:nvPicPr>
        <p:blipFill>
          <a:blip r:embed="rId3"/>
          <a:stretch>
            <a:fillRect/>
          </a:stretch>
        </p:blipFill>
        <p:spPr>
          <a:xfrm>
            <a:off x="4318660" y="1508125"/>
            <a:ext cx="7734191" cy="2320257"/>
          </a:xfrm>
          <a:prstGeom prst="rect">
            <a:avLst/>
          </a:prstGeom>
        </p:spPr>
      </p:pic>
      <p:sp>
        <p:nvSpPr>
          <p:cNvPr id="9" name="TextBox 8">
            <a:extLst>
              <a:ext uri="{FF2B5EF4-FFF2-40B4-BE49-F238E27FC236}">
                <a16:creationId xmlns:a16="http://schemas.microsoft.com/office/drawing/2014/main" id="{93116711-BD82-7CC9-EC01-3F663D12C41E}"/>
              </a:ext>
            </a:extLst>
          </p:cNvPr>
          <p:cNvSpPr txBox="1"/>
          <p:nvPr/>
        </p:nvSpPr>
        <p:spPr>
          <a:xfrm>
            <a:off x="4611757" y="4010945"/>
            <a:ext cx="8236971" cy="307777"/>
          </a:xfrm>
          <a:prstGeom prst="rect">
            <a:avLst/>
          </a:prstGeom>
          <a:noFill/>
        </p:spPr>
        <p:txBody>
          <a:bodyPr wrap="square">
            <a:spAutoFit/>
          </a:bodyPr>
          <a:lstStyle/>
          <a:p>
            <a:r>
              <a:rPr lang="en-GB" sz="1400" dirty="0">
                <a:hlinkClick r:id="rId4"/>
              </a:rPr>
              <a:t>https://miro.medium.com/v2/resize:fit:1400/format:webp/1*6-QWLr9obdDlUmVLtDXPrQ.png</a:t>
            </a:r>
            <a:endParaRPr lang="en-GB" sz="1400" dirty="0"/>
          </a:p>
        </p:txBody>
      </p:sp>
      <p:sp>
        <p:nvSpPr>
          <p:cNvPr id="11" name="TextBox 10">
            <a:extLst>
              <a:ext uri="{FF2B5EF4-FFF2-40B4-BE49-F238E27FC236}">
                <a16:creationId xmlns:a16="http://schemas.microsoft.com/office/drawing/2014/main" id="{6D5C7F19-5CEF-0DE6-7360-7D0E346D4D5E}"/>
              </a:ext>
            </a:extLst>
          </p:cNvPr>
          <p:cNvSpPr txBox="1"/>
          <p:nvPr/>
        </p:nvSpPr>
        <p:spPr>
          <a:xfrm>
            <a:off x="4318660" y="4844142"/>
            <a:ext cx="7734191" cy="1569660"/>
          </a:xfrm>
          <a:prstGeom prst="rect">
            <a:avLst/>
          </a:prstGeom>
          <a:noFill/>
        </p:spPr>
        <p:txBody>
          <a:bodyPr wrap="square">
            <a:spAutoFit/>
          </a:bodyPr>
          <a:lstStyle/>
          <a:p>
            <a:pPr marL="0" indent="0">
              <a:buNone/>
            </a:pPr>
            <a:r>
              <a:rPr lang="en-GB" sz="3200" i="1" dirty="0">
                <a:solidFill>
                  <a:schemeClr val="tx1">
                    <a:lumMod val="65000"/>
                    <a:lumOff val="35000"/>
                  </a:schemeClr>
                </a:solidFill>
              </a:rPr>
              <a:t>Explainability focuses on understanding what happens inside a model, from input to output.</a:t>
            </a:r>
          </a:p>
        </p:txBody>
      </p:sp>
    </p:spTree>
    <p:extLst>
      <p:ext uri="{BB962C8B-B14F-4D97-AF65-F5344CB8AC3E}">
        <p14:creationId xmlns:p14="http://schemas.microsoft.com/office/powerpoint/2010/main" val="4183361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9F3E3-42D5-EE29-C3F2-4CF69DDF9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6AEA4-76E9-4303-2148-A3E6C30DC2E8}"/>
              </a:ext>
            </a:extLst>
          </p:cNvPr>
          <p:cNvSpPr>
            <a:spLocks noGrp="1"/>
          </p:cNvSpPr>
          <p:nvPr>
            <p:ph type="title" idx="4294967295"/>
          </p:nvPr>
        </p:nvSpPr>
        <p:spPr>
          <a:xfrm>
            <a:off x="0" y="365125"/>
            <a:ext cx="10515600" cy="1325563"/>
          </a:xfrm>
        </p:spPr>
        <p:txBody>
          <a:bodyPr/>
          <a:lstStyle/>
          <a:p>
            <a:r>
              <a:rPr lang="it-IT" dirty="0" err="1"/>
              <a:t>Outline</a:t>
            </a:r>
            <a:endParaRPr lang="it-IT" dirty="0"/>
          </a:p>
        </p:txBody>
      </p:sp>
      <p:sp>
        <p:nvSpPr>
          <p:cNvPr id="3" name="Content Placeholder 2">
            <a:extLst>
              <a:ext uri="{FF2B5EF4-FFF2-40B4-BE49-F238E27FC236}">
                <a16:creationId xmlns:a16="http://schemas.microsoft.com/office/drawing/2014/main" id="{E92DD2D4-6743-1A64-A36C-DE04CB5EC2E2}"/>
              </a:ext>
            </a:extLst>
          </p:cNvPr>
          <p:cNvSpPr>
            <a:spLocks noGrp="1"/>
          </p:cNvSpPr>
          <p:nvPr>
            <p:ph idx="4294967295"/>
          </p:nvPr>
        </p:nvSpPr>
        <p:spPr>
          <a:xfrm>
            <a:off x="0" y="1825625"/>
            <a:ext cx="10515600" cy="4351338"/>
          </a:xfrm>
        </p:spPr>
        <p:txBody>
          <a:bodyPr/>
          <a:lstStyle/>
          <a:p>
            <a:r>
              <a:rPr lang="it-IT" dirty="0"/>
              <a:t>Intro</a:t>
            </a:r>
          </a:p>
          <a:p>
            <a:r>
              <a:rPr lang="it-IT" dirty="0"/>
              <a:t>Basic ML Concepts</a:t>
            </a:r>
          </a:p>
          <a:p>
            <a:r>
              <a:rPr lang="it-IT" dirty="0"/>
              <a:t>Models </a:t>
            </a:r>
            <a:r>
              <a:rPr lang="it-IT" dirty="0" err="1"/>
              <a:t>overview</a:t>
            </a:r>
            <a:endParaRPr lang="it-IT" dirty="0"/>
          </a:p>
          <a:p>
            <a:r>
              <a:rPr lang="en-US" b="1" dirty="0"/>
              <a:t>Wildfire susceptibility using Random Forest </a:t>
            </a:r>
            <a:endParaRPr lang="it-IT" b="1" dirty="0"/>
          </a:p>
        </p:txBody>
      </p:sp>
    </p:spTree>
    <p:extLst>
      <p:ext uri="{BB962C8B-B14F-4D97-AF65-F5344CB8AC3E}">
        <p14:creationId xmlns:p14="http://schemas.microsoft.com/office/powerpoint/2010/main" val="467533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12A75-C316-B238-7051-376A86B5E639}"/>
              </a:ext>
            </a:extLst>
          </p:cNvPr>
          <p:cNvSpPr>
            <a:spLocks noGrp="1"/>
          </p:cNvSpPr>
          <p:nvPr>
            <p:ph type="title" idx="4294967295"/>
          </p:nvPr>
        </p:nvSpPr>
        <p:spPr>
          <a:xfrm>
            <a:off x="231093" y="1600200"/>
            <a:ext cx="5864907" cy="1310154"/>
          </a:xfrm>
        </p:spPr>
        <p:txBody>
          <a:bodyPr anchor="ctr">
            <a:normAutofit fontScale="90000"/>
          </a:bodyPr>
          <a:lstStyle/>
          <a:p>
            <a:r>
              <a:rPr lang="it-IT" sz="4000" dirty="0"/>
              <a:t>ML In practice: Random </a:t>
            </a:r>
            <a:r>
              <a:rPr lang="it-IT" sz="4000" dirty="0" err="1"/>
              <a:t>Forest</a:t>
            </a:r>
            <a:r>
              <a:rPr lang="it-IT" sz="4000" dirty="0"/>
              <a:t> for </a:t>
            </a:r>
            <a:r>
              <a:rPr lang="it-IT" sz="4000" dirty="0" err="1"/>
              <a:t>Forest</a:t>
            </a:r>
            <a:r>
              <a:rPr lang="it-IT" sz="4000" dirty="0"/>
              <a:t> Fire </a:t>
            </a:r>
            <a:r>
              <a:rPr lang="it-IT" sz="4000" dirty="0" err="1"/>
              <a:t>Susceptibility</a:t>
            </a:r>
            <a:endParaRPr lang="it-IT" sz="4000" dirty="0"/>
          </a:p>
        </p:txBody>
      </p:sp>
      <p:pic>
        <p:nvPicPr>
          <p:cNvPr id="8" name="Picture 7">
            <a:extLst>
              <a:ext uri="{FF2B5EF4-FFF2-40B4-BE49-F238E27FC236}">
                <a16:creationId xmlns:a16="http://schemas.microsoft.com/office/drawing/2014/main" id="{CB11DE59-3402-A0D7-DF78-95D8F79ABFC5}"/>
              </a:ext>
            </a:extLst>
          </p:cNvPr>
          <p:cNvPicPr>
            <a:picLocks noChangeAspect="1"/>
          </p:cNvPicPr>
          <p:nvPr/>
        </p:nvPicPr>
        <p:blipFill>
          <a:blip r:embed="rId3"/>
          <a:stretch>
            <a:fillRect/>
          </a:stretch>
        </p:blipFill>
        <p:spPr>
          <a:xfrm>
            <a:off x="6993673" y="656326"/>
            <a:ext cx="4260759" cy="1651044"/>
          </a:xfrm>
          <a:prstGeom prst="rect">
            <a:avLst/>
          </a:prstGeom>
        </p:spPr>
      </p:pic>
      <p:pic>
        <p:nvPicPr>
          <p:cNvPr id="9" name="Picture 8">
            <a:extLst>
              <a:ext uri="{FF2B5EF4-FFF2-40B4-BE49-F238E27FC236}">
                <a16:creationId xmlns:a16="http://schemas.microsoft.com/office/drawing/2014/main" id="{5FB1EF7B-1300-E4F9-BAC2-7ABE38B5B058}"/>
              </a:ext>
            </a:extLst>
          </p:cNvPr>
          <p:cNvPicPr>
            <a:picLocks noChangeAspect="1"/>
          </p:cNvPicPr>
          <p:nvPr/>
        </p:nvPicPr>
        <p:blipFill>
          <a:blip r:embed="rId4"/>
          <a:stretch>
            <a:fillRect/>
          </a:stretch>
        </p:blipFill>
        <p:spPr>
          <a:xfrm>
            <a:off x="6993673" y="2774051"/>
            <a:ext cx="4489427" cy="1346827"/>
          </a:xfrm>
          <a:prstGeom prst="rect">
            <a:avLst/>
          </a:prstGeom>
        </p:spPr>
      </p:pic>
      <p:pic>
        <p:nvPicPr>
          <p:cNvPr id="7" name="Picture 6">
            <a:extLst>
              <a:ext uri="{FF2B5EF4-FFF2-40B4-BE49-F238E27FC236}">
                <a16:creationId xmlns:a16="http://schemas.microsoft.com/office/drawing/2014/main" id="{DC58D951-5810-31CE-76CF-5837A111247B}"/>
              </a:ext>
            </a:extLst>
          </p:cNvPr>
          <p:cNvPicPr>
            <a:picLocks noChangeAspect="1"/>
          </p:cNvPicPr>
          <p:nvPr/>
        </p:nvPicPr>
        <p:blipFill>
          <a:blip r:embed="rId5"/>
          <a:stretch>
            <a:fillRect/>
          </a:stretch>
        </p:blipFill>
        <p:spPr>
          <a:xfrm>
            <a:off x="6993673" y="4569974"/>
            <a:ext cx="4557061" cy="1310154"/>
          </a:xfrm>
          <a:prstGeom prst="rect">
            <a:avLst/>
          </a:prstGeom>
        </p:spPr>
      </p:pic>
      <p:sp>
        <p:nvSpPr>
          <p:cNvPr id="4" name="Content Placeholder 2">
            <a:extLst>
              <a:ext uri="{FF2B5EF4-FFF2-40B4-BE49-F238E27FC236}">
                <a16:creationId xmlns:a16="http://schemas.microsoft.com/office/drawing/2014/main" id="{2FE94873-C270-D140-A231-2D3D0F3F37E1}"/>
              </a:ext>
            </a:extLst>
          </p:cNvPr>
          <p:cNvSpPr txBox="1">
            <a:spLocks/>
          </p:cNvSpPr>
          <p:nvPr/>
        </p:nvSpPr>
        <p:spPr>
          <a:xfrm>
            <a:off x="457200" y="1600200"/>
            <a:ext cx="82296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sz="2200"/>
            </a:pPr>
            <a:endParaRPr lang="en-GB" sz="2200" dirty="0"/>
          </a:p>
        </p:txBody>
      </p:sp>
    </p:spTree>
    <p:extLst>
      <p:ext uri="{BB962C8B-B14F-4D97-AF65-F5344CB8AC3E}">
        <p14:creationId xmlns:p14="http://schemas.microsoft.com/office/powerpoint/2010/main" val="800564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3197E0-23CD-9DD3-5767-E8F26443E219}"/>
              </a:ext>
            </a:extLst>
          </p:cNvPr>
          <p:cNvPicPr>
            <a:picLocks noChangeAspect="1"/>
          </p:cNvPicPr>
          <p:nvPr/>
        </p:nvPicPr>
        <p:blipFill>
          <a:blip r:embed="rId3"/>
          <a:stretch>
            <a:fillRect/>
          </a:stretch>
        </p:blipFill>
        <p:spPr>
          <a:xfrm>
            <a:off x="2687590" y="1402425"/>
            <a:ext cx="6148604" cy="4053149"/>
          </a:xfrm>
          <a:prstGeom prst="rect">
            <a:avLst/>
          </a:prstGeom>
        </p:spPr>
      </p:pic>
      <p:sp>
        <p:nvSpPr>
          <p:cNvPr id="4" name="Content Placeholder 5">
            <a:extLst>
              <a:ext uri="{FF2B5EF4-FFF2-40B4-BE49-F238E27FC236}">
                <a16:creationId xmlns:a16="http://schemas.microsoft.com/office/drawing/2014/main" id="{2B9F0360-C26D-3A56-A1D8-412BC4868E26}"/>
              </a:ext>
            </a:extLst>
          </p:cNvPr>
          <p:cNvSpPr txBox="1">
            <a:spLocks/>
          </p:cNvSpPr>
          <p:nvPr/>
        </p:nvSpPr>
        <p:spPr>
          <a:xfrm>
            <a:off x="290526" y="393820"/>
            <a:ext cx="7597811" cy="1708151"/>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sz="2200"/>
            </a:pPr>
            <a:r>
              <a:rPr lang="en-GB" sz="2000"/>
              <a:t>Goal: estimate the </a:t>
            </a:r>
            <a:r>
              <a:rPr lang="en-GB" sz="2000" b="1"/>
              <a:t>relative probability </a:t>
            </a:r>
            <a:r>
              <a:rPr lang="en-GB" sz="2000"/>
              <a:t>of wildfire occurrence as a proxy of wildfire susceptibility. Use occurred events, environmental and anthropogenic conditions.</a:t>
            </a:r>
          </a:p>
          <a:p>
            <a:endParaRPr lang="it-IT" sz="2000" dirty="0"/>
          </a:p>
        </p:txBody>
      </p:sp>
      <p:pic>
        <p:nvPicPr>
          <p:cNvPr id="5" name="Picture 4">
            <a:extLst>
              <a:ext uri="{FF2B5EF4-FFF2-40B4-BE49-F238E27FC236}">
                <a16:creationId xmlns:a16="http://schemas.microsoft.com/office/drawing/2014/main" id="{81773022-B359-78AA-4C79-211D604E0DF0}"/>
              </a:ext>
            </a:extLst>
          </p:cNvPr>
          <p:cNvPicPr>
            <a:picLocks noChangeAspect="1"/>
          </p:cNvPicPr>
          <p:nvPr/>
        </p:nvPicPr>
        <p:blipFill>
          <a:blip r:embed="rId4"/>
          <a:stretch>
            <a:fillRect/>
          </a:stretch>
        </p:blipFill>
        <p:spPr>
          <a:xfrm>
            <a:off x="9475993" y="4473014"/>
            <a:ext cx="2425481" cy="982560"/>
          </a:xfrm>
          <a:prstGeom prst="rect">
            <a:avLst/>
          </a:prstGeom>
        </p:spPr>
      </p:pic>
      <p:pic>
        <p:nvPicPr>
          <p:cNvPr id="6" name="Picture 5">
            <a:extLst>
              <a:ext uri="{FF2B5EF4-FFF2-40B4-BE49-F238E27FC236}">
                <a16:creationId xmlns:a16="http://schemas.microsoft.com/office/drawing/2014/main" id="{E8B9973B-9DCE-B9D2-3B5B-BCBED829829B}"/>
              </a:ext>
            </a:extLst>
          </p:cNvPr>
          <p:cNvPicPr>
            <a:picLocks noChangeAspect="1"/>
          </p:cNvPicPr>
          <p:nvPr/>
        </p:nvPicPr>
        <p:blipFill>
          <a:blip r:embed="rId5"/>
          <a:stretch>
            <a:fillRect/>
          </a:stretch>
        </p:blipFill>
        <p:spPr>
          <a:xfrm>
            <a:off x="10448472" y="1220275"/>
            <a:ext cx="1129333" cy="1129333"/>
          </a:xfrm>
          <a:prstGeom prst="rect">
            <a:avLst/>
          </a:prstGeom>
        </p:spPr>
      </p:pic>
      <p:pic>
        <p:nvPicPr>
          <p:cNvPr id="7" name="Picture 6">
            <a:extLst>
              <a:ext uri="{FF2B5EF4-FFF2-40B4-BE49-F238E27FC236}">
                <a16:creationId xmlns:a16="http://schemas.microsoft.com/office/drawing/2014/main" id="{8C023EE9-6ECF-2167-66F1-E6E39E041B4C}"/>
              </a:ext>
            </a:extLst>
          </p:cNvPr>
          <p:cNvPicPr>
            <a:picLocks noChangeAspect="1"/>
          </p:cNvPicPr>
          <p:nvPr/>
        </p:nvPicPr>
        <p:blipFill>
          <a:blip r:embed="rId6"/>
          <a:stretch>
            <a:fillRect/>
          </a:stretch>
        </p:blipFill>
        <p:spPr>
          <a:xfrm>
            <a:off x="10360895" y="2706845"/>
            <a:ext cx="1304489" cy="722155"/>
          </a:xfrm>
          <a:prstGeom prst="rect">
            <a:avLst/>
          </a:prstGeom>
        </p:spPr>
      </p:pic>
      <p:pic>
        <p:nvPicPr>
          <p:cNvPr id="8" name="Picture 7">
            <a:extLst>
              <a:ext uri="{FF2B5EF4-FFF2-40B4-BE49-F238E27FC236}">
                <a16:creationId xmlns:a16="http://schemas.microsoft.com/office/drawing/2014/main" id="{468B0364-4177-B5C4-8B0D-A4F0E25D680C}"/>
              </a:ext>
            </a:extLst>
          </p:cNvPr>
          <p:cNvPicPr>
            <a:picLocks noChangeAspect="1"/>
          </p:cNvPicPr>
          <p:nvPr/>
        </p:nvPicPr>
        <p:blipFill>
          <a:blip r:embed="rId7"/>
          <a:stretch>
            <a:fillRect/>
          </a:stretch>
        </p:blipFill>
        <p:spPr>
          <a:xfrm>
            <a:off x="9980673" y="3803224"/>
            <a:ext cx="1920801" cy="541648"/>
          </a:xfrm>
          <a:prstGeom prst="rect">
            <a:avLst/>
          </a:prstGeom>
        </p:spPr>
      </p:pic>
      <p:pic>
        <p:nvPicPr>
          <p:cNvPr id="9" name="Picture 8" descr="QR Code Image">
            <a:extLst>
              <a:ext uri="{FF2B5EF4-FFF2-40B4-BE49-F238E27FC236}">
                <a16:creationId xmlns:a16="http://schemas.microsoft.com/office/drawing/2014/main" id="{4FC748CF-F887-CD5C-DB5D-E2A2B789DC6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664" y="5167408"/>
            <a:ext cx="955127" cy="95512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2D2AACA-C520-F06A-8C5A-B521180D8DAE}"/>
              </a:ext>
            </a:extLst>
          </p:cNvPr>
          <p:cNvSpPr txBox="1"/>
          <p:nvPr/>
        </p:nvSpPr>
        <p:spPr>
          <a:xfrm>
            <a:off x="1519345" y="5472612"/>
            <a:ext cx="7211467" cy="646331"/>
          </a:xfrm>
          <a:prstGeom prst="rect">
            <a:avLst/>
          </a:prstGeom>
          <a:noFill/>
        </p:spPr>
        <p:txBody>
          <a:bodyPr wrap="square">
            <a:spAutoFit/>
          </a:bodyPr>
          <a:lstStyle/>
          <a:p>
            <a:r>
              <a:rPr lang="it-IT" i="1" dirty="0"/>
              <a:t>Course </a:t>
            </a:r>
            <a:r>
              <a:rPr lang="it-IT" i="1" dirty="0" err="1"/>
              <a:t>material</a:t>
            </a:r>
            <a:endParaRPr lang="it-IT" i="1" dirty="0"/>
          </a:p>
          <a:p>
            <a:r>
              <a:rPr lang="it-IT" b="1" i="1" dirty="0"/>
              <a:t>https://</a:t>
            </a:r>
            <a:r>
              <a:rPr lang="it-IT" b="1" i="1" dirty="0" err="1"/>
              <a:t>github.com</a:t>
            </a:r>
            <a:r>
              <a:rPr lang="it-IT" b="1" i="1" dirty="0"/>
              <a:t>/</a:t>
            </a:r>
            <a:r>
              <a:rPr lang="it-IT" b="1" i="1" dirty="0" err="1"/>
              <a:t>mirkodandrea</a:t>
            </a:r>
            <a:r>
              <a:rPr lang="it-IT" b="1" i="1" dirty="0"/>
              <a:t>/</a:t>
            </a:r>
            <a:r>
              <a:rPr lang="it-IT" b="1" i="1" dirty="0" err="1"/>
              <a:t>wildfire</a:t>
            </a:r>
            <a:r>
              <a:rPr lang="it-IT" b="1" i="1" dirty="0"/>
              <a:t>-</a:t>
            </a:r>
            <a:r>
              <a:rPr lang="it-IT" b="1" i="1" dirty="0" err="1"/>
              <a:t>susceptibility</a:t>
            </a:r>
            <a:r>
              <a:rPr lang="it-IT" b="1" i="1" dirty="0"/>
              <a:t>-ml-</a:t>
            </a:r>
            <a:r>
              <a:rPr lang="it-IT" b="1" i="1" dirty="0" err="1"/>
              <a:t>lesson</a:t>
            </a:r>
            <a:endParaRPr lang="it-IT" b="1" i="1" dirty="0"/>
          </a:p>
        </p:txBody>
      </p:sp>
      <p:pic>
        <p:nvPicPr>
          <p:cNvPr id="11" name="Picture 10">
            <a:extLst>
              <a:ext uri="{FF2B5EF4-FFF2-40B4-BE49-F238E27FC236}">
                <a16:creationId xmlns:a16="http://schemas.microsoft.com/office/drawing/2014/main" id="{D69DC52E-FBF6-49BF-38F4-A0293831704A}"/>
              </a:ext>
            </a:extLst>
          </p:cNvPr>
          <p:cNvPicPr>
            <a:picLocks noChangeAspect="1"/>
          </p:cNvPicPr>
          <p:nvPr/>
        </p:nvPicPr>
        <p:blipFill>
          <a:blip r:embed="rId9"/>
          <a:stretch>
            <a:fillRect/>
          </a:stretch>
        </p:blipFill>
        <p:spPr>
          <a:xfrm>
            <a:off x="9787105" y="5489445"/>
            <a:ext cx="1790700" cy="774700"/>
          </a:xfrm>
          <a:prstGeom prst="rect">
            <a:avLst/>
          </a:prstGeom>
        </p:spPr>
      </p:pic>
      <p:sp>
        <p:nvSpPr>
          <p:cNvPr id="12" name="Right Arrow 11">
            <a:extLst>
              <a:ext uri="{FF2B5EF4-FFF2-40B4-BE49-F238E27FC236}">
                <a16:creationId xmlns:a16="http://schemas.microsoft.com/office/drawing/2014/main" id="{518505C9-3F6A-8E2E-9497-E83A93D1DC09}"/>
              </a:ext>
            </a:extLst>
          </p:cNvPr>
          <p:cNvSpPr/>
          <p:nvPr/>
        </p:nvSpPr>
        <p:spPr>
          <a:xfrm flipV="1">
            <a:off x="8937366" y="5849504"/>
            <a:ext cx="538627" cy="2019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511986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2ECCAE-5702-60F2-7F35-6637725E1955}"/>
              </a:ext>
            </a:extLst>
          </p:cNvPr>
          <p:cNvPicPr>
            <a:picLocks noChangeAspect="1"/>
          </p:cNvPicPr>
          <p:nvPr/>
        </p:nvPicPr>
        <p:blipFill>
          <a:blip r:embed="rId3"/>
          <a:stretch>
            <a:fillRect/>
          </a:stretch>
        </p:blipFill>
        <p:spPr>
          <a:xfrm>
            <a:off x="507268" y="1106243"/>
            <a:ext cx="11177464" cy="3549757"/>
          </a:xfrm>
          <a:prstGeom prst="rect">
            <a:avLst/>
          </a:prstGeom>
        </p:spPr>
      </p:pic>
      <p:sp>
        <p:nvSpPr>
          <p:cNvPr id="8" name="TextBox 7">
            <a:extLst>
              <a:ext uri="{FF2B5EF4-FFF2-40B4-BE49-F238E27FC236}">
                <a16:creationId xmlns:a16="http://schemas.microsoft.com/office/drawing/2014/main" id="{5320B0EC-9A3B-E8F2-221E-3351DC886BC3}"/>
              </a:ext>
            </a:extLst>
          </p:cNvPr>
          <p:cNvSpPr txBox="1"/>
          <p:nvPr/>
        </p:nvSpPr>
        <p:spPr>
          <a:xfrm>
            <a:off x="1854025" y="5105426"/>
            <a:ext cx="9076959" cy="646331"/>
          </a:xfrm>
          <a:prstGeom prst="rect">
            <a:avLst/>
          </a:prstGeom>
          <a:noFill/>
        </p:spPr>
        <p:txBody>
          <a:bodyPr wrap="square">
            <a:spAutoFit/>
          </a:bodyPr>
          <a:lstStyle/>
          <a:p>
            <a:pPr>
              <a:buNone/>
            </a:pPr>
            <a:r>
              <a:rPr lang="en-GB" dirty="0">
                <a:effectLst/>
                <a:latin typeface="Helvetica" pitchFamily="2" charset="0"/>
              </a:rPr>
              <a:t>The model uses environmental and anthropogenic predictors derived from raster layers.</a:t>
            </a:r>
          </a:p>
          <a:p>
            <a:pPr>
              <a:buNone/>
            </a:pPr>
            <a:r>
              <a:rPr lang="en-GB" dirty="0">
                <a:effectLst/>
                <a:latin typeface="Helvetica" pitchFamily="2" charset="0"/>
              </a:rPr>
              <a:t>All </a:t>
            </a:r>
            <a:r>
              <a:rPr lang="en-GB" dirty="0" err="1">
                <a:effectLst/>
                <a:latin typeface="Helvetica" pitchFamily="2" charset="0"/>
              </a:rPr>
              <a:t>rasters</a:t>
            </a:r>
            <a:r>
              <a:rPr lang="en-GB" dirty="0">
                <a:effectLst/>
                <a:latin typeface="Helvetica" pitchFamily="2" charset="0"/>
              </a:rPr>
              <a:t> are aligned to the same grid and stacked to build the feature table.</a:t>
            </a:r>
          </a:p>
        </p:txBody>
      </p:sp>
      <p:sp>
        <p:nvSpPr>
          <p:cNvPr id="2" name="Title 1">
            <a:extLst>
              <a:ext uri="{FF2B5EF4-FFF2-40B4-BE49-F238E27FC236}">
                <a16:creationId xmlns:a16="http://schemas.microsoft.com/office/drawing/2014/main" id="{85B3EF15-B2F3-B2B0-8238-2825FF2CA108}"/>
              </a:ext>
            </a:extLst>
          </p:cNvPr>
          <p:cNvSpPr txBox="1">
            <a:spLocks/>
          </p:cNvSpPr>
          <p:nvPr/>
        </p:nvSpPr>
        <p:spPr>
          <a:xfrm>
            <a:off x="457200" y="274638"/>
            <a:ext cx="10013576" cy="1143000"/>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Raster Predictors and Feature Engineering</a:t>
            </a:r>
          </a:p>
        </p:txBody>
      </p:sp>
    </p:spTree>
    <p:extLst>
      <p:ext uri="{BB962C8B-B14F-4D97-AF65-F5344CB8AC3E}">
        <p14:creationId xmlns:p14="http://schemas.microsoft.com/office/powerpoint/2010/main" val="1756376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B9D67-B203-CF5A-CF74-11FA445482D7}"/>
              </a:ext>
            </a:extLst>
          </p:cNvPr>
          <p:cNvSpPr>
            <a:spLocks noGrp="1"/>
          </p:cNvSpPr>
          <p:nvPr>
            <p:ph type="title" idx="4294967295"/>
          </p:nvPr>
        </p:nvSpPr>
        <p:spPr>
          <a:xfrm>
            <a:off x="0" y="365125"/>
            <a:ext cx="10515600" cy="1325563"/>
          </a:xfrm>
        </p:spPr>
        <p:txBody>
          <a:bodyPr/>
          <a:lstStyle/>
          <a:p>
            <a:r>
              <a:rPr lang="it-IT" dirty="0" err="1"/>
              <a:t>Categorical</a:t>
            </a:r>
            <a:r>
              <a:rPr lang="it-IT" dirty="0"/>
              <a:t> </a:t>
            </a:r>
            <a:r>
              <a:rPr lang="it-IT" dirty="0" err="1"/>
              <a:t>Variables</a:t>
            </a:r>
            <a:endParaRPr lang="it-IT" dirty="0"/>
          </a:p>
        </p:txBody>
      </p:sp>
      <p:sp>
        <p:nvSpPr>
          <p:cNvPr id="3" name="Content Placeholder 2">
            <a:extLst>
              <a:ext uri="{FF2B5EF4-FFF2-40B4-BE49-F238E27FC236}">
                <a16:creationId xmlns:a16="http://schemas.microsoft.com/office/drawing/2014/main" id="{C4931CFA-F987-9779-859E-87D51637B72D}"/>
              </a:ext>
            </a:extLst>
          </p:cNvPr>
          <p:cNvSpPr>
            <a:spLocks noGrp="1"/>
          </p:cNvSpPr>
          <p:nvPr>
            <p:ph idx="4294967295"/>
          </p:nvPr>
        </p:nvSpPr>
        <p:spPr>
          <a:xfrm>
            <a:off x="0" y="1690688"/>
            <a:ext cx="6589713" cy="4718050"/>
          </a:xfrm>
        </p:spPr>
        <p:txBody>
          <a:bodyPr>
            <a:normAutofit fontScale="77500" lnSpcReduction="20000"/>
          </a:bodyPr>
          <a:lstStyle/>
          <a:p>
            <a:pPr marL="0" indent="0">
              <a:buNone/>
            </a:pPr>
            <a:r>
              <a:rPr lang="en-GB" dirty="0"/>
              <a:t>Some Random Forest implementations need numeric inputs, so categorical variables must be encoded first.</a:t>
            </a:r>
            <a:br>
              <a:rPr lang="en-GB" dirty="0"/>
            </a:br>
            <a:endParaRPr lang="en-GB" dirty="0"/>
          </a:p>
          <a:p>
            <a:r>
              <a:rPr lang="en-GB" b="1" dirty="0"/>
              <a:t>Ordinal encoding: </a:t>
            </a:r>
            <a:r>
              <a:rPr lang="en-GB" dirty="0"/>
              <a:t>use when categories have order, e.g. low / medium / high.</a:t>
            </a:r>
          </a:p>
          <a:p>
            <a:r>
              <a:rPr lang="en-GB" b="1" dirty="0"/>
              <a:t>One-hot encoding: </a:t>
            </a:r>
            <a:r>
              <a:rPr lang="en-GB" dirty="0"/>
              <a:t>use when categories have no order, e.g. forest type or land-use class. Replace the categorical variable with 0/1 columns.</a:t>
            </a:r>
          </a:p>
          <a:p>
            <a:r>
              <a:rPr lang="en-GB" b="1" dirty="0"/>
              <a:t>Target encoding: </a:t>
            </a:r>
            <a:r>
              <a:rPr lang="en-GB" dirty="0"/>
              <a:t>use label/target relation to variable to sort categories. Can introduce overfit.</a:t>
            </a:r>
          </a:p>
          <a:p>
            <a:pPr marL="0" indent="0">
              <a:buNone/>
            </a:pPr>
            <a:br>
              <a:rPr lang="en-GB" dirty="0"/>
            </a:br>
            <a:endParaRPr lang="en-GB" dirty="0"/>
          </a:p>
          <a:p>
            <a:pPr marL="0" indent="0">
              <a:buNone/>
            </a:pPr>
            <a:r>
              <a:rPr lang="en-GB" dirty="0"/>
              <a:t>For this example, we will use One Hot Encoding for the </a:t>
            </a:r>
            <a:r>
              <a:rPr lang="en-GB" b="1" dirty="0"/>
              <a:t>vegetation </a:t>
            </a:r>
            <a:r>
              <a:rPr lang="en-GB" dirty="0"/>
              <a:t>categorical variable</a:t>
            </a:r>
            <a:endParaRPr lang="it-IT" b="1" dirty="0"/>
          </a:p>
        </p:txBody>
      </p:sp>
      <p:grpSp>
        <p:nvGrpSpPr>
          <p:cNvPr id="7" name="Group 6">
            <a:extLst>
              <a:ext uri="{FF2B5EF4-FFF2-40B4-BE49-F238E27FC236}">
                <a16:creationId xmlns:a16="http://schemas.microsoft.com/office/drawing/2014/main" id="{78051E8D-EB96-FC33-7CE3-E2A9A45F1FC0}"/>
              </a:ext>
            </a:extLst>
          </p:cNvPr>
          <p:cNvGrpSpPr/>
          <p:nvPr/>
        </p:nvGrpSpPr>
        <p:grpSpPr>
          <a:xfrm>
            <a:off x="7429110" y="493939"/>
            <a:ext cx="4344883" cy="6521224"/>
            <a:chOff x="7429110" y="493939"/>
            <a:chExt cx="4344883" cy="6521224"/>
          </a:xfrm>
        </p:grpSpPr>
        <p:pic>
          <p:nvPicPr>
            <p:cNvPr id="4" name="Picture 3">
              <a:extLst>
                <a:ext uri="{FF2B5EF4-FFF2-40B4-BE49-F238E27FC236}">
                  <a16:creationId xmlns:a16="http://schemas.microsoft.com/office/drawing/2014/main" id="{91586987-AE9F-A954-F803-D42E9E32F33E}"/>
                </a:ext>
              </a:extLst>
            </p:cNvPr>
            <p:cNvPicPr>
              <a:picLocks noChangeAspect="1"/>
            </p:cNvPicPr>
            <p:nvPr/>
          </p:nvPicPr>
          <p:blipFill>
            <a:blip r:embed="rId3"/>
            <a:srcRect l="51541"/>
            <a:stretch>
              <a:fillRect/>
            </a:stretch>
          </p:blipFill>
          <p:spPr>
            <a:xfrm>
              <a:off x="7429110" y="3681639"/>
              <a:ext cx="4344883" cy="3333524"/>
            </a:xfrm>
            <a:prstGeom prst="rect">
              <a:avLst/>
            </a:prstGeom>
          </p:spPr>
        </p:pic>
        <p:pic>
          <p:nvPicPr>
            <p:cNvPr id="5" name="Picture 4">
              <a:extLst>
                <a:ext uri="{FF2B5EF4-FFF2-40B4-BE49-F238E27FC236}">
                  <a16:creationId xmlns:a16="http://schemas.microsoft.com/office/drawing/2014/main" id="{FDB20E5B-DDED-7548-6DCC-E95391686D39}"/>
                </a:ext>
              </a:extLst>
            </p:cNvPr>
            <p:cNvPicPr>
              <a:picLocks noChangeAspect="1"/>
            </p:cNvPicPr>
            <p:nvPr/>
          </p:nvPicPr>
          <p:blipFill>
            <a:blip r:embed="rId4"/>
            <a:stretch>
              <a:fillRect/>
            </a:stretch>
          </p:blipFill>
          <p:spPr>
            <a:xfrm>
              <a:off x="7429110" y="493939"/>
              <a:ext cx="4140200" cy="3098800"/>
            </a:xfrm>
            <a:prstGeom prst="rect">
              <a:avLst/>
            </a:prstGeom>
          </p:spPr>
        </p:pic>
        <p:sp>
          <p:nvSpPr>
            <p:cNvPr id="6" name="Down Arrow 5">
              <a:extLst>
                <a:ext uri="{FF2B5EF4-FFF2-40B4-BE49-F238E27FC236}">
                  <a16:creationId xmlns:a16="http://schemas.microsoft.com/office/drawing/2014/main" id="{03BE9678-31E7-01DC-055F-4DC9F63B6311}"/>
                </a:ext>
              </a:extLst>
            </p:cNvPr>
            <p:cNvSpPr/>
            <p:nvPr/>
          </p:nvSpPr>
          <p:spPr>
            <a:xfrm>
              <a:off x="9408886" y="3407228"/>
              <a:ext cx="511629" cy="7075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Tree>
    <p:extLst>
      <p:ext uri="{BB962C8B-B14F-4D97-AF65-F5344CB8AC3E}">
        <p14:creationId xmlns:p14="http://schemas.microsoft.com/office/powerpoint/2010/main" val="990242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4BA8-EBAE-9E8E-4110-6CD5670CF79B}"/>
              </a:ext>
            </a:extLst>
          </p:cNvPr>
          <p:cNvSpPr>
            <a:spLocks noGrp="1"/>
          </p:cNvSpPr>
          <p:nvPr>
            <p:ph type="title" idx="4294967295"/>
          </p:nvPr>
        </p:nvSpPr>
        <p:spPr>
          <a:xfrm>
            <a:off x="0" y="365125"/>
            <a:ext cx="10515600" cy="1325563"/>
          </a:xfrm>
        </p:spPr>
        <p:txBody>
          <a:bodyPr/>
          <a:lstStyle/>
          <a:p>
            <a:pPr algn="l">
              <a:buNone/>
            </a:pPr>
            <a:r>
              <a:rPr lang="en-US" sz="3200" b="1" dirty="0"/>
              <a:t>Feature engineering, in code</a:t>
            </a:r>
          </a:p>
        </p:txBody>
      </p:sp>
      <p:sp>
        <p:nvSpPr>
          <p:cNvPr id="3" name="CodeBg">
            <a:extLst>
              <a:ext uri="{FF2B5EF4-FFF2-40B4-BE49-F238E27FC236}">
                <a16:creationId xmlns:a16="http://schemas.microsoft.com/office/drawing/2014/main" id="{160F8100-38D0-F343-B738-05FF88FE0994}"/>
              </a:ext>
            </a:extLst>
          </p:cNvPr>
          <p:cNvSpPr/>
          <p:nvPr/>
        </p:nvSpPr>
        <p:spPr>
          <a:xfrm>
            <a:off x="381000" y="1778000"/>
            <a:ext cx="6858000" cy="4699000"/>
          </a:xfrm>
          <a:prstGeom prst="rect">
            <a:avLst/>
          </a:prstGeom>
          <a:solidFill>
            <a:srgbClr val="1E1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4" name="CodeText">
            <a:extLst>
              <a:ext uri="{FF2B5EF4-FFF2-40B4-BE49-F238E27FC236}">
                <a16:creationId xmlns:a16="http://schemas.microsoft.com/office/drawing/2014/main" id="{96830BE3-3D54-094E-B055-BD02DF409B77}"/>
              </a:ext>
            </a:extLst>
          </p:cNvPr>
          <p:cNvSpPr txBox="1"/>
          <p:nvPr/>
        </p:nvSpPr>
        <p:spPr>
          <a:xfrm>
            <a:off x="533400" y="1905000"/>
            <a:ext cx="6553200" cy="4445000"/>
          </a:xfrm>
          <a:prstGeom prst="rect">
            <a:avLst/>
          </a:prstGeom>
          <a:noFill/>
          <a:ln>
            <a:noFill/>
          </a:ln>
        </p:spPr>
        <p:txBody>
          <a:bodyPr vertOverflow="overflow" vert="horz" wrap="square" rtlCol="0" anchor="t">
            <a:noAutofit/>
          </a:bodyPr>
          <a:lstStyle/>
          <a:p>
            <a:pPr marL="0" indent="0" algn="l">
              <a:lnSpc>
                <a:spcPts val="1700"/>
              </a:lnSpc>
              <a:buNone/>
            </a:pPr>
            <a:r>
              <a:rPr lang="en-US" sz="1400" dirty="0">
                <a:solidFill>
                  <a:srgbClr val="6A9955"/>
                </a:solidFill>
                <a:latin typeface="Consolas"/>
              </a:rPr>
              <a:t># Aspect: degrees → two orthogonal components</a:t>
            </a:r>
          </a:p>
          <a:p>
            <a:pPr marL="0" indent="0" algn="l">
              <a:lnSpc>
                <a:spcPts val="1700"/>
              </a:lnSpc>
              <a:buNone/>
            </a:pPr>
            <a:r>
              <a:rPr lang="en-US" sz="1400" dirty="0">
                <a:solidFill>
                  <a:srgbClr val="569CD6"/>
                </a:solidFill>
                <a:latin typeface="Consolas"/>
              </a:rPr>
              <a:t>def </a:t>
            </a:r>
            <a:r>
              <a:rPr lang="en-US" sz="1400" dirty="0">
                <a:solidFill>
                  <a:srgbClr val="DCDCAA"/>
                </a:solidFill>
                <a:latin typeface="Consolas"/>
              </a:rPr>
              <a:t>add_aspect_features</a:t>
            </a:r>
            <a:r>
              <a:rPr lang="en-US" sz="1400" dirty="0">
                <a:solidFill>
                  <a:srgbClr val="D4D4D4"/>
                </a:solidFill>
                <a:latin typeface="Consolas"/>
              </a:rPr>
              <a:t>(frame):</a:t>
            </a:r>
          </a:p>
          <a:p>
            <a:pPr marL="0" indent="0" algn="l">
              <a:lnSpc>
                <a:spcPts val="1700"/>
              </a:lnSpc>
              <a:buNone/>
            </a:pPr>
            <a:r>
              <a:rPr lang="en-US" sz="1400" dirty="0">
                <a:solidFill>
                  <a:srgbClr val="D4D4D4"/>
                </a:solidFill>
                <a:latin typeface="Consolas"/>
              </a:rPr>
              <a:t>  rad = np.deg2rad(frame[</a:t>
            </a:r>
            <a:r>
              <a:rPr lang="en-US" sz="1400" dirty="0">
                <a:solidFill>
                  <a:srgbClr val="CE9178"/>
                </a:solidFill>
                <a:latin typeface="Consolas"/>
              </a:rPr>
              <a:t>"aspect"</a:t>
            </a:r>
            <a:r>
              <a:rPr lang="en-US" sz="1400" dirty="0">
                <a:solidFill>
                  <a:srgbClr val="D4D4D4"/>
                </a:solidFill>
                <a:latin typeface="Consolas"/>
              </a:rPr>
              <a:t>])</a:t>
            </a:r>
          </a:p>
          <a:p>
            <a:pPr marL="0" indent="0" algn="l">
              <a:lnSpc>
                <a:spcPts val="1700"/>
              </a:lnSpc>
              <a:buNone/>
            </a:pPr>
            <a:r>
              <a:rPr lang="en-US" sz="1400" dirty="0">
                <a:solidFill>
                  <a:srgbClr val="D4D4D4"/>
                </a:solidFill>
                <a:latin typeface="Consolas"/>
              </a:rPr>
              <a:t>  frame[</a:t>
            </a:r>
            <a:r>
              <a:rPr lang="en-US" sz="1400" dirty="0">
                <a:solidFill>
                  <a:srgbClr val="CE9178"/>
                </a:solidFill>
                <a:latin typeface="Consolas"/>
              </a:rPr>
              <a:t>"aspect_eastness"</a:t>
            </a:r>
            <a:r>
              <a:rPr lang="en-US" sz="1400" dirty="0">
                <a:solidFill>
                  <a:srgbClr val="D4D4D4"/>
                </a:solidFill>
                <a:latin typeface="Consolas"/>
              </a:rPr>
              <a:t>]  = np.sin(rad)</a:t>
            </a:r>
          </a:p>
          <a:p>
            <a:pPr marL="0" indent="0" algn="l">
              <a:lnSpc>
                <a:spcPts val="1700"/>
              </a:lnSpc>
              <a:buNone/>
            </a:pPr>
            <a:r>
              <a:rPr lang="en-US" sz="1400" dirty="0">
                <a:solidFill>
                  <a:srgbClr val="D4D4D4"/>
                </a:solidFill>
                <a:latin typeface="Consolas"/>
              </a:rPr>
              <a:t>  frame[</a:t>
            </a:r>
            <a:r>
              <a:rPr lang="en-US" sz="1400" dirty="0">
                <a:solidFill>
                  <a:srgbClr val="CE9178"/>
                </a:solidFill>
                <a:latin typeface="Consolas"/>
              </a:rPr>
              <a:t>"aspect_northness"</a:t>
            </a:r>
            <a:r>
              <a:rPr lang="en-US" sz="1400" dirty="0">
                <a:solidFill>
                  <a:srgbClr val="D4D4D4"/>
                </a:solidFill>
                <a:latin typeface="Consolas"/>
              </a:rPr>
              <a:t>] = np.cos(rad)</a:t>
            </a:r>
          </a:p>
          <a:p>
            <a:pPr marL="0" indent="0" algn="l">
              <a:lnSpc>
                <a:spcPts val="1700"/>
              </a:lnSpc>
              <a:buNone/>
            </a:pPr>
            <a:r>
              <a:rPr lang="en-US" sz="1400" dirty="0">
                <a:solidFill>
                  <a:srgbClr val="D4D4D4"/>
                </a:solidFill>
                <a:latin typeface="Consolas"/>
              </a:rPr>
              <a:t>  </a:t>
            </a:r>
            <a:r>
              <a:rPr lang="en-US" sz="1400" dirty="0">
                <a:solidFill>
                  <a:srgbClr val="569CD6"/>
                </a:solidFill>
                <a:latin typeface="Consolas"/>
              </a:rPr>
              <a:t>return </a:t>
            </a:r>
            <a:r>
              <a:rPr lang="en-US" sz="1400" dirty="0">
                <a:solidFill>
                  <a:srgbClr val="D4D4D4"/>
                </a:solidFill>
                <a:latin typeface="Consolas"/>
              </a:rPr>
              <a:t>frame</a:t>
            </a:r>
          </a:p>
          <a:p>
            <a:pPr>
              <a:lnSpc>
                <a:spcPts val="1000"/>
              </a:lnSpc>
              <a:buNone/>
            </a:pPr>
            <a:endParaRPr lang="en-US" sz="1000"/>
          </a:p>
          <a:p>
            <a:pPr marL="0" indent="0" algn="l">
              <a:lnSpc>
                <a:spcPts val="1700"/>
              </a:lnSpc>
              <a:buNone/>
            </a:pPr>
            <a:r>
              <a:rPr lang="en-US" sz="1400" dirty="0">
                <a:solidFill>
                  <a:srgbClr val="6A9955"/>
                </a:solidFill>
                <a:latin typeface="Consolas"/>
              </a:rPr>
              <a:t># Vegetation: unordered codes → one binary column per class</a:t>
            </a:r>
          </a:p>
          <a:p>
            <a:pPr marL="0" indent="0" algn="l">
              <a:lnSpc>
                <a:spcPts val="1700"/>
              </a:lnSpc>
              <a:buNone/>
            </a:pPr>
            <a:r>
              <a:rPr lang="en-US" sz="1400" dirty="0">
                <a:solidFill>
                  <a:srgbClr val="569CD6"/>
                </a:solidFill>
                <a:latin typeface="Consolas"/>
              </a:rPr>
              <a:t>def </a:t>
            </a:r>
            <a:r>
              <a:rPr lang="en-US" sz="1400" dirty="0">
                <a:solidFill>
                  <a:srgbClr val="DCDCAA"/>
                </a:solidFill>
                <a:latin typeface="Consolas"/>
              </a:rPr>
              <a:t>one_hot_encode_vegetation</a:t>
            </a:r>
            <a:r>
              <a:rPr lang="en-US" sz="1400" dirty="0">
                <a:solidFill>
                  <a:srgbClr val="D4D4D4"/>
                </a:solidFill>
                <a:latin typeface="Consolas"/>
              </a:rPr>
              <a:t>(frame):</a:t>
            </a:r>
          </a:p>
          <a:p>
            <a:pPr marL="0" indent="0" algn="l">
              <a:lnSpc>
                <a:spcPts val="1700"/>
              </a:lnSpc>
              <a:buNone/>
            </a:pPr>
            <a:r>
              <a:rPr lang="en-US" sz="1400" dirty="0">
                <a:solidFill>
                  <a:srgbClr val="D4D4D4"/>
                </a:solidFill>
                <a:latin typeface="Consolas"/>
              </a:rPr>
              <a:t>  dummies = pd.get_dummies(</a:t>
            </a:r>
          </a:p>
          <a:p>
            <a:pPr marL="0" indent="0" algn="l">
              <a:lnSpc>
                <a:spcPts val="1700"/>
              </a:lnSpc>
              <a:buNone/>
            </a:pPr>
            <a:r>
              <a:rPr lang="en-US" sz="1400" dirty="0">
                <a:solidFill>
                  <a:srgbClr val="D4D4D4"/>
                </a:solidFill>
                <a:latin typeface="Consolas"/>
              </a:rPr>
              <a:t>    frame[</a:t>
            </a:r>
            <a:r>
              <a:rPr lang="en-US" sz="1400" dirty="0">
                <a:solidFill>
                  <a:srgbClr val="CE9178"/>
                </a:solidFill>
                <a:latin typeface="Consolas"/>
              </a:rPr>
              <a:t>"vegetation"</a:t>
            </a:r>
            <a:r>
              <a:rPr lang="en-US" sz="1400" dirty="0">
                <a:solidFill>
                  <a:srgbClr val="D4D4D4"/>
                </a:solidFill>
                <a:latin typeface="Consolas"/>
              </a:rPr>
              <a:t>].astype(</a:t>
            </a:r>
            <a:r>
              <a:rPr lang="en-US" sz="1400" dirty="0">
                <a:solidFill>
                  <a:srgbClr val="569CD6"/>
                </a:solidFill>
                <a:latin typeface="Consolas"/>
              </a:rPr>
              <a:t>int</a:t>
            </a:r>
            <a:r>
              <a:rPr lang="en-US" sz="1400" dirty="0">
                <a:solidFill>
                  <a:srgbClr val="D4D4D4"/>
                </a:solidFill>
                <a:latin typeface="Consolas"/>
              </a:rPr>
              <a:t>),</a:t>
            </a:r>
          </a:p>
          <a:p>
            <a:pPr marL="0" indent="0" algn="l">
              <a:lnSpc>
                <a:spcPts val="1700"/>
              </a:lnSpc>
              <a:buNone/>
            </a:pPr>
            <a:r>
              <a:rPr lang="en-US" sz="1400" dirty="0">
                <a:solidFill>
                  <a:srgbClr val="D4D4D4"/>
                </a:solidFill>
                <a:latin typeface="Consolas"/>
              </a:rPr>
              <a:t>    prefix=</a:t>
            </a:r>
            <a:r>
              <a:rPr lang="en-US" sz="1400" dirty="0">
                <a:solidFill>
                  <a:srgbClr val="CE9178"/>
                </a:solidFill>
                <a:latin typeface="Consolas"/>
              </a:rPr>
              <a:t>"vegetation"</a:t>
            </a:r>
            <a:r>
              <a:rPr lang="en-US" sz="1400" dirty="0">
                <a:solidFill>
                  <a:srgbClr val="D4D4D4"/>
                </a:solidFill>
                <a:latin typeface="Consolas"/>
              </a:rPr>
              <a:t>, dtype=</a:t>
            </a:r>
            <a:r>
              <a:rPr lang="en-US" sz="1400" dirty="0">
                <a:solidFill>
                  <a:srgbClr val="569CD6"/>
                </a:solidFill>
                <a:latin typeface="Consolas"/>
              </a:rPr>
              <a:t>int</a:t>
            </a:r>
            <a:r>
              <a:rPr lang="en-US" sz="1400" dirty="0">
                <a:solidFill>
                  <a:srgbClr val="D4D4D4"/>
                </a:solidFill>
                <a:latin typeface="Consolas"/>
              </a:rPr>
              <a:t>,</a:t>
            </a:r>
          </a:p>
          <a:p>
            <a:pPr marL="0" indent="0" algn="l">
              <a:lnSpc>
                <a:spcPts val="1700"/>
              </a:lnSpc>
              <a:buNone/>
            </a:pPr>
            <a:r>
              <a:rPr lang="en-US" sz="1400" dirty="0">
                <a:solidFill>
                  <a:srgbClr val="D4D4D4"/>
                </a:solidFill>
                <a:latin typeface="Consolas"/>
              </a:rPr>
              <a:t>  )</a:t>
            </a:r>
          </a:p>
          <a:p>
            <a:pPr marL="0" indent="0" algn="l">
              <a:lnSpc>
                <a:spcPts val="1700"/>
              </a:lnSpc>
              <a:buNone/>
            </a:pPr>
            <a:r>
              <a:rPr lang="en-US" sz="1400" dirty="0">
                <a:solidFill>
                  <a:srgbClr val="D4D4D4"/>
                </a:solidFill>
                <a:latin typeface="Consolas"/>
              </a:rPr>
              <a:t>  </a:t>
            </a:r>
            <a:r>
              <a:rPr lang="en-US" sz="1400" dirty="0">
                <a:solidFill>
                  <a:srgbClr val="569CD6"/>
                </a:solidFill>
                <a:latin typeface="Consolas"/>
              </a:rPr>
              <a:t>return </a:t>
            </a:r>
            <a:r>
              <a:rPr lang="en-US" sz="1400" dirty="0">
                <a:solidFill>
                  <a:srgbClr val="D4D4D4"/>
                </a:solidFill>
                <a:latin typeface="Consolas"/>
              </a:rPr>
              <a:t>dummies.reindex(</a:t>
            </a:r>
          </a:p>
          <a:p>
            <a:pPr marL="0" indent="0" algn="l">
              <a:lnSpc>
                <a:spcPts val="1700"/>
              </a:lnSpc>
              <a:buNone/>
            </a:pPr>
            <a:r>
              <a:rPr lang="en-US" sz="1400" dirty="0">
                <a:solidFill>
                  <a:srgbClr val="D4D4D4"/>
                </a:solidFill>
                <a:latin typeface="Consolas"/>
              </a:rPr>
              <a:t>    columns=VEGETATION_FEATURE_COLUMNS, fill_value=</a:t>
            </a:r>
            <a:r>
              <a:rPr lang="en-US" sz="1400" dirty="0">
                <a:solidFill>
                  <a:srgbClr val="B5CEA8"/>
                </a:solidFill>
                <a:latin typeface="Consolas"/>
              </a:rPr>
              <a:t>0</a:t>
            </a:r>
            <a:r>
              <a:rPr lang="en-US" sz="1400" dirty="0">
                <a:solidFill>
                  <a:srgbClr val="D4D4D4"/>
                </a:solidFill>
                <a:latin typeface="Consolas"/>
              </a:rPr>
              <a:t>,</a:t>
            </a:r>
          </a:p>
          <a:p>
            <a:pPr marL="0" indent="0" algn="l">
              <a:lnSpc>
                <a:spcPts val="1700"/>
              </a:lnSpc>
              <a:buNone/>
            </a:pPr>
            <a:r>
              <a:rPr lang="en-US" sz="1400" dirty="0">
                <a:solidFill>
                  <a:srgbClr val="D4D4D4"/>
                </a:solidFill>
                <a:latin typeface="Consolas"/>
              </a:rPr>
              <a:t>  ).reset_index(drop=</a:t>
            </a:r>
            <a:r>
              <a:rPr lang="en-US" sz="1400" dirty="0">
                <a:solidFill>
                  <a:srgbClr val="569CD6"/>
                </a:solidFill>
                <a:latin typeface="Consolas"/>
              </a:rPr>
              <a:t>True</a:t>
            </a:r>
            <a:r>
              <a:rPr lang="en-US" sz="1400" dirty="0">
                <a:solidFill>
                  <a:srgbClr val="D4D4D4"/>
                </a:solidFill>
                <a:latin typeface="Consolas"/>
              </a:rPr>
              <a:t>)</a:t>
            </a:r>
          </a:p>
        </p:txBody>
      </p:sp>
      <p:sp>
        <p:nvSpPr>
          <p:cNvPr id="5" name="Caption">
            <a:extLst>
              <a:ext uri="{FF2B5EF4-FFF2-40B4-BE49-F238E27FC236}">
                <a16:creationId xmlns:a16="http://schemas.microsoft.com/office/drawing/2014/main" id="{D70B6CE5-7BFD-6347-AF38-0311B64135AA}"/>
              </a:ext>
            </a:extLst>
          </p:cNvPr>
          <p:cNvSpPr txBox="1"/>
          <p:nvPr/>
        </p:nvSpPr>
        <p:spPr>
          <a:xfrm>
            <a:off x="7493000" y="1778000"/>
            <a:ext cx="4318000" cy="4699000"/>
          </a:xfrm>
          <a:prstGeom prst="rect">
            <a:avLst/>
          </a:prstGeom>
          <a:noFill/>
          <a:ln>
            <a:noFill/>
          </a:ln>
        </p:spPr>
        <p:txBody>
          <a:bodyPr vertOverflow="overflow" vert="horz" wrap="square" rtlCol="0" anchor="t">
            <a:noAutofit/>
          </a:bodyPr>
          <a:lstStyle/>
          <a:p>
            <a:pPr marL="0" indent="0" algn="l">
              <a:lnSpc>
                <a:spcPts val="2200"/>
              </a:lnSpc>
              <a:spcAft>
                <a:spcPts val="600"/>
              </a:spcAft>
              <a:buNone/>
            </a:pPr>
            <a:r>
              <a:rPr lang="en-US" sz="1800" b="1" dirty="0">
                <a:solidFill>
                  <a:srgbClr val="1A1A1A"/>
                </a:solidFill>
              </a:rPr>
              <a:t>Why these transforms?</a:t>
            </a:r>
          </a:p>
          <a:p>
            <a:pPr marL="171450" indent="-171450" algn="l">
              <a:lnSpc>
                <a:spcPts val="1900"/>
              </a:lnSpc>
              <a:spcAft>
                <a:spcPts val="500"/>
              </a:spcAft>
              <a:buFont typeface="Arial"/>
              <a:buChar char="•"/>
            </a:pPr>
            <a:r>
              <a:rPr lang="en-US" sz="1500" b="1" dirty="0"/>
              <a:t>Aspect is circular</a:t>
            </a:r>
            <a:r>
              <a:rPr lang="en-US" sz="1500" dirty="0"/>
              <a:t> — 1° and 359° point nearly the same direction. Sin/cos preserve direction with no discontinuity.</a:t>
            </a:r>
          </a:p>
          <a:p>
            <a:pPr marL="171450" indent="-171450" algn="l">
              <a:lnSpc>
                <a:spcPts val="1900"/>
              </a:lnSpc>
              <a:spcAft>
                <a:spcPts val="500"/>
              </a:spcAft>
              <a:buFont typeface="Arial"/>
              <a:buChar char="•"/>
            </a:pPr>
            <a:r>
              <a:rPr lang="en-US" sz="1500" b="1" dirty="0"/>
              <a:t>Vegetation is unordered</a:t>
            </a:r>
            <a:r>
              <a:rPr lang="en-US" sz="1500" dirty="0"/>
              <a:t> — code 3111 is not "between" 312 and 3112. One-hot encoding lets the model learn per-class effects.</a:t>
            </a:r>
          </a:p>
          <a:p>
            <a:pPr marL="171450" indent="-171450" algn="l">
              <a:lnSpc>
                <a:spcPts val="1900"/>
              </a:lnSpc>
              <a:buFont typeface="Arial"/>
              <a:buChar char="•"/>
            </a:pPr>
            <a:r>
              <a:rPr lang="en-US" sz="1500" dirty="0"/>
              <a:t>Result: </a:t>
            </a:r>
            <a:r>
              <a:rPr lang="en-US" sz="1500" b="1" dirty="0"/>
              <a:t>18-column feature matrix</a:t>
            </a:r>
            <a:r>
              <a:rPr lang="en-US" sz="1500" dirty="0"/>
              <a:t> ready for the Random Forest.</a:t>
            </a:r>
          </a:p>
        </p:txBody>
      </p:sp>
    </p:spTree>
    <p:extLst>
      <p:ext uri="{BB962C8B-B14F-4D97-AF65-F5344CB8AC3E}">
        <p14:creationId xmlns:p14="http://schemas.microsoft.com/office/powerpoint/2010/main" val="3019082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356CD-6348-C283-4F37-4199E1EABC99}"/>
              </a:ext>
            </a:extLst>
          </p:cNvPr>
          <p:cNvSpPr>
            <a:spLocks noGrp="1"/>
          </p:cNvSpPr>
          <p:nvPr>
            <p:ph type="title" idx="4294967295"/>
          </p:nvPr>
        </p:nvSpPr>
        <p:spPr>
          <a:xfrm>
            <a:off x="0" y="365125"/>
            <a:ext cx="10515600" cy="1325563"/>
          </a:xfrm>
        </p:spPr>
        <p:txBody>
          <a:bodyPr/>
          <a:lstStyle/>
          <a:p>
            <a:r>
              <a:rPr lang="it-IT"/>
              <a:t>Burned vs unburned: what the features show</a:t>
            </a:r>
          </a:p>
        </p:txBody>
      </p:sp>
      <p:sp>
        <p:nvSpPr>
          <p:cNvPr id="3" name="Content Placeholder 2">
            <a:extLst>
              <a:ext uri="{FF2B5EF4-FFF2-40B4-BE49-F238E27FC236}">
                <a16:creationId xmlns:a16="http://schemas.microsoft.com/office/drawing/2014/main" id="{C5001548-7805-83F1-9894-7FB696EC1193}"/>
              </a:ext>
            </a:extLst>
          </p:cNvPr>
          <p:cNvSpPr>
            <a:spLocks noGrp="1"/>
          </p:cNvSpPr>
          <p:nvPr>
            <p:ph idx="4294967295"/>
          </p:nvPr>
        </p:nvSpPr>
        <p:spPr>
          <a:xfrm>
            <a:off x="0" y="1825625"/>
            <a:ext cx="5808663" cy="4351338"/>
          </a:xfrm>
        </p:spPr>
        <p:txBody>
          <a:bodyPr/>
          <a:lstStyle/>
          <a:p>
            <a:pPr>
              <a:buNone/>
            </a:pPr>
            <a:r>
              <a:rPr lang="en-US" sz="1800" b="1" dirty="0"/>
              <a:t>Class-wise medians (continuous predictors)</a:t>
            </a:r>
          </a:p>
          <a:p>
            <a:pPr marL="171450" indent="-171450">
              <a:lnSpc>
                <a:spcPts val="1900"/>
              </a:lnSpc>
              <a:spcAft>
                <a:spcPts val="500"/>
              </a:spcAft>
              <a:buFont typeface="Arial"/>
              <a:buChar char="•"/>
            </a:pPr>
            <a:r>
              <a:rPr lang="en-US" sz="1500" dirty="0"/>
              <a:t>Elevation: burned 467 m vs unburned 565 m — fires concentrate lower in the landscape</a:t>
            </a:r>
          </a:p>
          <a:p>
            <a:pPr marL="171450" indent="-171450">
              <a:lnSpc>
                <a:spcPts val="1900"/>
              </a:lnSpc>
              <a:spcAft>
                <a:spcPts val="500"/>
              </a:spcAft>
              <a:buFont typeface="Arial"/>
              <a:buChar char="•"/>
            </a:pPr>
            <a:r>
              <a:rPr lang="en-US" sz="1500" dirty="0"/>
              <a:t>Slope: 21.3° vs 18.8° — burned pixels sit on steeper terrain</a:t>
            </a:r>
          </a:p>
          <a:p>
            <a:pPr marL="171450" indent="-171450">
              <a:lnSpc>
                <a:spcPts val="1900"/>
              </a:lnSpc>
              <a:spcAft>
                <a:spcPts val="500"/>
              </a:spcAft>
              <a:buFont typeface="Arial"/>
              <a:buChar char="•"/>
            </a:pPr>
            <a:r>
              <a:rPr lang="en-US" sz="1500" dirty="0"/>
              <a:t>Aspect northness: −0.56 vs 0.00 — burned pixels skew strongly south-facing</a:t>
            </a:r>
          </a:p>
          <a:p>
            <a:pPr marL="171450" indent="-171450">
              <a:lnSpc>
                <a:spcPts val="1900"/>
              </a:lnSpc>
              <a:spcAft>
                <a:spcPts val="500"/>
              </a:spcAft>
              <a:buFont typeface="Arial"/>
              <a:buChar char="•"/>
            </a:pPr>
            <a:r>
              <a:rPr lang="en-US" sz="1500" dirty="0"/>
              <a:t>Aspect eastness: 0.16 vs 0.00 — a small eastward tilt</a:t>
            </a:r>
          </a:p>
          <a:p>
            <a:pPr marL="171450" indent="-171450">
              <a:lnSpc>
                <a:spcPts val="1900"/>
              </a:lnSpc>
              <a:spcAft>
                <a:spcPts val="500"/>
              </a:spcAft>
              <a:buFont typeface="Arial"/>
              <a:buChar char="•"/>
            </a:pPr>
            <a:r>
              <a:rPr lang="en-US" sz="1500" dirty="0"/>
              <a:t>Distance to urban / roads: essentially identical between classes — accessibility alone does not separate burned from unburned in this region</a:t>
            </a:r>
          </a:p>
          <a:p>
            <a:pPr>
              <a:lnSpc>
                <a:spcPts val="1900"/>
              </a:lnSpc>
              <a:spcBef>
                <a:spcPts val="400"/>
              </a:spcBef>
              <a:buNone/>
            </a:pPr>
            <a:r>
              <a:rPr lang="en-US" sz="1500" i="1" dirty="0"/>
              <a:t>Takeaway: terrain (elevation, slope, aspect) carries clear discriminative signal; distance features carry almost none.</a:t>
            </a:r>
          </a:p>
        </p:txBody>
      </p:sp>
    </p:spTree>
    <p:extLst>
      <p:ext uri="{BB962C8B-B14F-4D97-AF65-F5344CB8AC3E}">
        <p14:creationId xmlns:p14="http://schemas.microsoft.com/office/powerpoint/2010/main" val="959181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3BB23-17F3-3775-5417-36CD32DD3E9A}"/>
              </a:ext>
            </a:extLst>
          </p:cNvPr>
          <p:cNvSpPr>
            <a:spLocks noGrp="1"/>
          </p:cNvSpPr>
          <p:nvPr>
            <p:ph type="title" idx="4294967295"/>
          </p:nvPr>
        </p:nvSpPr>
        <p:spPr>
          <a:xfrm>
            <a:off x="0" y="365125"/>
            <a:ext cx="10515600" cy="1325563"/>
          </a:xfrm>
        </p:spPr>
        <p:txBody>
          <a:bodyPr/>
          <a:lstStyle/>
          <a:p>
            <a:r>
              <a:rPr lang="it-IT"/>
              <a:t>Vegetation: which classes burn?</a:t>
            </a:r>
          </a:p>
        </p:txBody>
      </p:sp>
      <p:sp>
        <p:nvSpPr>
          <p:cNvPr id="3" name="Content Placeholder 2">
            <a:extLst>
              <a:ext uri="{FF2B5EF4-FFF2-40B4-BE49-F238E27FC236}">
                <a16:creationId xmlns:a16="http://schemas.microsoft.com/office/drawing/2014/main" id="{06B40AA8-6163-64A3-ABE9-B3ABF52F1F89}"/>
              </a:ext>
            </a:extLst>
          </p:cNvPr>
          <p:cNvSpPr>
            <a:spLocks noGrp="1"/>
          </p:cNvSpPr>
          <p:nvPr>
            <p:ph idx="4294967295"/>
          </p:nvPr>
        </p:nvSpPr>
        <p:spPr>
          <a:xfrm>
            <a:off x="0" y="1825625"/>
            <a:ext cx="5562600" cy="4351338"/>
          </a:xfrm>
        </p:spPr>
        <p:txBody>
          <a:bodyPr/>
          <a:lstStyle/>
          <a:p>
            <a:pPr>
              <a:buNone/>
            </a:pPr>
            <a:r>
              <a:rPr lang="en-US" sz="1800" b="1" dirty="0"/>
              <a:t>Strongly over-represented in burned pixels</a:t>
            </a:r>
          </a:p>
          <a:p>
            <a:pPr marL="171450" indent="-171450">
              <a:lnSpc>
                <a:spcPts val="1900"/>
              </a:lnSpc>
              <a:spcAft>
                <a:spcPts val="300"/>
              </a:spcAft>
              <a:buFont typeface="Arial"/>
              <a:buChar char="•"/>
            </a:pPr>
            <a:r>
              <a:rPr lang="en-US" sz="1500" dirty="0"/>
              <a:t>Mediterranean evergreen scrub: 18.7% of burned vs 1.7% of unburned (~11× enrichment)</a:t>
            </a:r>
          </a:p>
          <a:p>
            <a:pPr marL="171450" indent="-171450">
              <a:lnSpc>
                <a:spcPts val="1900"/>
              </a:lnSpc>
              <a:spcAft>
                <a:spcPts val="300"/>
              </a:spcAft>
              <a:buFont typeface="Arial"/>
              <a:buChar char="•"/>
            </a:pPr>
            <a:r>
              <a:rPr lang="en-US" sz="1500" dirty="0"/>
              <a:t>Shrubland and scrub: 13.3% vs 2.8% (~5×)</a:t>
            </a:r>
          </a:p>
          <a:p>
            <a:pPr marL="171450" indent="-171450">
              <a:lnSpc>
                <a:spcPts val="1900"/>
              </a:lnSpc>
              <a:spcAft>
                <a:spcPts val="500"/>
              </a:spcAft>
              <a:buFont typeface="Arial"/>
              <a:buChar char="•"/>
            </a:pPr>
            <a:r>
              <a:rPr lang="en-US" sz="1500" dirty="0"/>
              <a:t>Warm-climate mixed forest: 21.0% vs 15.9% (moderate)</a:t>
            </a:r>
          </a:p>
          <a:p>
            <a:pPr>
              <a:buNone/>
            </a:pPr>
            <a:r>
              <a:rPr lang="en-US" sz="1800" b="1" dirty="0"/>
              <a:t>Under-represented in burned pixels</a:t>
            </a:r>
          </a:p>
          <a:p>
            <a:pPr marL="171450" indent="-171450">
              <a:lnSpc>
                <a:spcPts val="1900"/>
              </a:lnSpc>
              <a:spcAft>
                <a:spcPts val="300"/>
              </a:spcAft>
              <a:buFont typeface="Arial"/>
              <a:buChar char="•"/>
            </a:pPr>
            <a:r>
              <a:rPr lang="en-US" sz="1500" dirty="0"/>
              <a:t>Chestnut forest: 10.7% of burned vs 26.7% of unburned</a:t>
            </a:r>
          </a:p>
          <a:p>
            <a:pPr marL="171450" indent="-171450">
              <a:lnSpc>
                <a:spcPts val="1900"/>
              </a:lnSpc>
              <a:spcAft>
                <a:spcPts val="500"/>
              </a:spcAft>
              <a:buFont typeface="Arial"/>
              <a:buChar char="•"/>
            </a:pPr>
            <a:r>
              <a:rPr lang="en-US" sz="1500" dirty="0"/>
              <a:t>Moist-climate mixed forest: 4.5% vs 12.4%</a:t>
            </a:r>
          </a:p>
          <a:p>
            <a:pPr>
              <a:spcBef>
                <a:spcPts val="400"/>
              </a:spcBef>
              <a:buNone/>
            </a:pPr>
            <a:r>
              <a:rPr lang="en-US" sz="1500" i="1" dirty="0"/>
              <a:t>One-hot encoding produces 12 vegetation columns, bringing the feature matrix to 18 total. The model can now learn class-specific fire propensity rather than assuming a numeric ordering.</a:t>
            </a:r>
          </a:p>
        </p:txBody>
      </p:sp>
    </p:spTree>
    <p:extLst>
      <p:ext uri="{BB962C8B-B14F-4D97-AF65-F5344CB8AC3E}">
        <p14:creationId xmlns:p14="http://schemas.microsoft.com/office/powerpoint/2010/main" val="992727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1E8B-1319-46B8-4F00-2E6686DFE367}"/>
              </a:ext>
            </a:extLst>
          </p:cNvPr>
          <p:cNvSpPr>
            <a:spLocks noGrp="1"/>
          </p:cNvSpPr>
          <p:nvPr>
            <p:ph type="title" idx="4294967295"/>
          </p:nvPr>
        </p:nvSpPr>
        <p:spPr>
          <a:xfrm>
            <a:off x="0" y="365125"/>
            <a:ext cx="10515600" cy="1325563"/>
          </a:xfrm>
        </p:spPr>
        <p:txBody>
          <a:bodyPr/>
          <a:lstStyle/>
          <a:p>
            <a:r>
              <a:rPr lang="it-IT"/>
              <a:t>What the EDA tells us before modelling</a:t>
            </a:r>
          </a:p>
        </p:txBody>
      </p:sp>
      <p:sp>
        <p:nvSpPr>
          <p:cNvPr id="3" name="Content Placeholder 2">
            <a:extLst>
              <a:ext uri="{FF2B5EF4-FFF2-40B4-BE49-F238E27FC236}">
                <a16:creationId xmlns:a16="http://schemas.microsoft.com/office/drawing/2014/main" id="{912F085E-5BDE-5B1B-8463-C02600908DF7}"/>
              </a:ext>
            </a:extLst>
          </p:cNvPr>
          <p:cNvSpPr>
            <a:spLocks noGrp="1"/>
          </p:cNvSpPr>
          <p:nvPr>
            <p:ph idx="4294967295"/>
          </p:nvPr>
        </p:nvSpPr>
        <p:spPr>
          <a:xfrm>
            <a:off x="0" y="1825625"/>
            <a:ext cx="6934200" cy="4351338"/>
          </a:xfrm>
        </p:spPr>
        <p:txBody>
          <a:bodyPr>
            <a:normAutofit fontScale="92500" lnSpcReduction="20000"/>
          </a:bodyPr>
          <a:lstStyle/>
          <a:p>
            <a:pPr>
              <a:buNone/>
            </a:pPr>
            <a:r>
              <a:rPr lang="en-US" sz="1800" b="1" dirty="0"/>
              <a:t>The features carry a real signal</a:t>
            </a:r>
          </a:p>
          <a:p>
            <a:pPr marL="171450" indent="-171450">
              <a:lnSpc>
                <a:spcPts val="1900"/>
              </a:lnSpc>
              <a:spcAft>
                <a:spcPts val="300"/>
              </a:spcAft>
              <a:buFont typeface="Arial"/>
              <a:buChar char="•"/>
            </a:pPr>
            <a:r>
              <a:rPr lang="en-US" sz="1500" dirty="0"/>
              <a:t>Terrain separates classes: lower, steeper, south-facing pixels are more likely to have burned</a:t>
            </a:r>
          </a:p>
          <a:p>
            <a:pPr marL="171450" indent="-171450">
              <a:lnSpc>
                <a:spcPts val="1900"/>
              </a:lnSpc>
              <a:spcAft>
                <a:spcPts val="500"/>
              </a:spcAft>
              <a:buFont typeface="Arial"/>
              <a:buChar char="•"/>
            </a:pPr>
            <a:r>
              <a:rPr lang="en-US" sz="1500" dirty="0"/>
              <a:t>Vegetation is the strongest single discriminator: scrub and Mediterranean classes burn far above their base rate</a:t>
            </a:r>
          </a:p>
          <a:p>
            <a:pPr>
              <a:buNone/>
            </a:pPr>
            <a:r>
              <a:rPr lang="en-US" sz="1800" b="1" dirty="0"/>
              <a:t>But no single feature is enough</a:t>
            </a:r>
          </a:p>
          <a:p>
            <a:pPr marL="171450" indent="-171450">
              <a:lnSpc>
                <a:spcPts val="1900"/>
              </a:lnSpc>
              <a:spcAft>
                <a:spcPts val="300"/>
              </a:spcAft>
              <a:buFont typeface="Arial"/>
              <a:buChar char="•"/>
            </a:pPr>
            <a:r>
              <a:rPr lang="en-US" sz="1500" dirty="0"/>
              <a:t>Distributions overlap heavily for each individual predictor</a:t>
            </a:r>
          </a:p>
          <a:p>
            <a:pPr marL="171450" indent="-171450">
              <a:lnSpc>
                <a:spcPts val="1900"/>
              </a:lnSpc>
              <a:spcAft>
                <a:spcPts val="500"/>
              </a:spcAft>
              <a:buFont typeface="Arial"/>
              <a:buChar char="•"/>
            </a:pPr>
            <a:r>
              <a:rPr lang="en-US" sz="1500" dirty="0"/>
              <a:t>A model needs to combine terrain </a:t>
            </a:r>
            <a:r>
              <a:rPr lang="en-US" sz="1500" b="1" dirty="0"/>
              <a:t>and</a:t>
            </a:r>
            <a:r>
              <a:rPr lang="en-US" sz="1500" dirty="0"/>
              <a:t> vegetation rather than threshold any one feature</a:t>
            </a:r>
          </a:p>
          <a:p>
            <a:pPr>
              <a:buNone/>
            </a:pPr>
            <a:r>
              <a:rPr lang="en-US" sz="1800" b="1" dirty="0"/>
              <a:t>Caveats to keep in mind</a:t>
            </a:r>
          </a:p>
          <a:p>
            <a:pPr marL="171450" indent="-171450">
              <a:lnSpc>
                <a:spcPts val="1900"/>
              </a:lnSpc>
              <a:spcAft>
                <a:spcPts val="300"/>
              </a:spcAft>
              <a:buFont typeface="Arial"/>
              <a:buChar char="•"/>
            </a:pPr>
            <a:r>
              <a:rPr lang="en-US" sz="1500" dirty="0"/>
              <a:t>Contrasts are vs sampled pseudo-absences, not the true landscape</a:t>
            </a:r>
          </a:p>
          <a:p>
            <a:pPr marL="171450" indent="-171450">
              <a:lnSpc>
                <a:spcPts val="1900"/>
              </a:lnSpc>
              <a:buFont typeface="Arial"/>
              <a:buChar char="•"/>
            </a:pPr>
            <a:r>
              <a:rPr lang="en-US" sz="1500" dirty="0"/>
              <a:t>Spatial autocorrelation means nearby pixels are not independent — random splits will look optimistic</a:t>
            </a:r>
          </a:p>
        </p:txBody>
      </p:sp>
    </p:spTree>
    <p:extLst>
      <p:ext uri="{BB962C8B-B14F-4D97-AF65-F5344CB8AC3E}">
        <p14:creationId xmlns:p14="http://schemas.microsoft.com/office/powerpoint/2010/main" val="157726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57163"/>
            <a:ext cx="10167938" cy="831850"/>
          </a:xfrm>
        </p:spPr>
        <p:txBody>
          <a:bodyPr vert="horz" lIns="68580" tIns="34290" rIns="68580" bIns="34290" rtlCol="0">
            <a:normAutofit/>
          </a:bodyPr>
          <a:lstStyle/>
          <a:p>
            <a:r>
              <a:rPr lang="en-US" dirty="0">
                <a:effectLst>
                  <a:outerShdw blurRad="38100" dist="38100" dir="2700000" algn="tl">
                    <a:srgbClr val="000000">
                      <a:alpha val="43137"/>
                    </a:srgbClr>
                  </a:outerShdw>
                </a:effectLst>
              </a:rPr>
              <a:t>Pseudo-absences </a:t>
            </a:r>
            <a:r>
              <a:rPr lang="en-GB" dirty="0"/>
              <a:t>and Class Imbalance</a:t>
            </a:r>
            <a:endParaRPr lang="en-US" dirty="0">
              <a:effectLst>
                <a:outerShdw blurRad="38100" dist="38100" dir="2700000" algn="tl">
                  <a:srgbClr val="000000">
                    <a:alpha val="43137"/>
                  </a:srgbClr>
                </a:outerShdw>
              </a:effectLst>
            </a:endParaRPr>
          </a:p>
        </p:txBody>
      </p:sp>
      <p:sp>
        <p:nvSpPr>
          <p:cNvPr id="7" name="Content Placeholder 6">
            <a:extLst>
              <a:ext uri="{FF2B5EF4-FFF2-40B4-BE49-F238E27FC236}">
                <a16:creationId xmlns:a16="http://schemas.microsoft.com/office/drawing/2014/main" id="{CD70D0FA-591F-E300-7666-6BFB76220781}"/>
              </a:ext>
            </a:extLst>
          </p:cNvPr>
          <p:cNvSpPr>
            <a:spLocks noGrp="1"/>
          </p:cNvSpPr>
          <p:nvPr>
            <p:ph idx="4294967295"/>
          </p:nvPr>
        </p:nvSpPr>
        <p:spPr>
          <a:xfrm>
            <a:off x="0" y="989013"/>
            <a:ext cx="5486400" cy="5988050"/>
          </a:xfrm>
        </p:spPr>
        <p:txBody>
          <a:bodyPr>
            <a:noAutofit/>
          </a:bodyPr>
          <a:lstStyle/>
          <a:p>
            <a:pPr marL="0" indent="0">
              <a:buNone/>
            </a:pPr>
            <a:r>
              <a:rPr lang="en-GB" sz="2000" dirty="0"/>
              <a:t>Pseudo-absences are necessary when you have p</a:t>
            </a:r>
            <a:r>
              <a:rPr lang="en-GB" sz="2000" b="1" dirty="0"/>
              <a:t>resence-only data</a:t>
            </a:r>
            <a:r>
              <a:rPr lang="en-GB" sz="2000" dirty="0"/>
              <a:t>,</a:t>
            </a:r>
            <a:r>
              <a:rPr lang="en-GB" sz="2000" b="1" dirty="0"/>
              <a:t> </a:t>
            </a:r>
            <a:r>
              <a:rPr lang="en-GB" sz="2000" dirty="0"/>
              <a:t>meaning:</a:t>
            </a:r>
          </a:p>
          <a:p>
            <a:r>
              <a:rPr lang="en-GB" sz="2000" dirty="0"/>
              <a:t>we know where the event occurred</a:t>
            </a:r>
          </a:p>
          <a:p>
            <a:r>
              <a:rPr lang="en-GB" sz="2000" dirty="0"/>
              <a:t>but </a:t>
            </a:r>
            <a:r>
              <a:rPr lang="en-GB" sz="2000" b="1" dirty="0"/>
              <a:t>true absences</a:t>
            </a:r>
            <a:r>
              <a:rPr lang="en-GB" sz="2000" dirty="0"/>
              <a:t> are unknown</a:t>
            </a:r>
          </a:p>
          <a:p>
            <a:pPr marL="0" indent="0">
              <a:spcBef>
                <a:spcPts val="0"/>
              </a:spcBef>
              <a:buNone/>
            </a:pPr>
            <a:endParaRPr lang="en-GB" sz="2000" dirty="0"/>
          </a:p>
          <a:p>
            <a:pPr marL="0" indent="0">
              <a:spcBef>
                <a:spcPts val="0"/>
              </a:spcBef>
              <a:buNone/>
            </a:pPr>
            <a:r>
              <a:rPr lang="en-GB" sz="2000" dirty="0"/>
              <a:t>Treating all unknown areas as absences would lead to:</a:t>
            </a:r>
          </a:p>
          <a:p>
            <a:pPr>
              <a:spcBef>
                <a:spcPts val="0"/>
              </a:spcBef>
            </a:pPr>
            <a:r>
              <a:rPr lang="en-GB" sz="2000" dirty="0"/>
              <a:t>Severe class imbalance</a:t>
            </a:r>
          </a:p>
          <a:p>
            <a:pPr>
              <a:spcBef>
                <a:spcPts val="0"/>
              </a:spcBef>
            </a:pPr>
            <a:r>
              <a:rPr lang="en-GB" sz="2000" dirty="0"/>
              <a:t>Bias toward easy background areas</a:t>
            </a:r>
          </a:p>
          <a:p>
            <a:pPr>
              <a:spcBef>
                <a:spcPts val="0"/>
              </a:spcBef>
            </a:pPr>
            <a:r>
              <a:rPr lang="en-GB" sz="2000" dirty="0"/>
              <a:t>Poor model generalization</a:t>
            </a:r>
          </a:p>
          <a:p>
            <a:pPr marL="0" indent="0">
              <a:spcBef>
                <a:spcPts val="0"/>
              </a:spcBef>
              <a:buNone/>
            </a:pPr>
            <a:endParaRPr lang="en-GB" sz="2000" dirty="0"/>
          </a:p>
          <a:p>
            <a:pPr marL="0" indent="0">
              <a:spcBef>
                <a:spcPts val="0"/>
              </a:spcBef>
              <a:buNone/>
            </a:pPr>
            <a:r>
              <a:rPr lang="en-GB" sz="2000" dirty="0"/>
              <a:t>Pseudo-absences are randomly generated from locations where the event is assumed not to occur.</a:t>
            </a:r>
          </a:p>
          <a:p>
            <a:pPr marL="0" indent="0">
              <a:spcBef>
                <a:spcPts val="0"/>
              </a:spcBef>
              <a:buNone/>
            </a:pPr>
            <a:endParaRPr lang="en-GB" sz="2000" dirty="0"/>
          </a:p>
          <a:p>
            <a:pPr marL="0" indent="0">
              <a:buNone/>
            </a:pPr>
            <a:r>
              <a:rPr lang="en-GB" sz="2000" dirty="0"/>
              <a:t>Pseudo-absences are often sampled in similar number to presences to reduce class imbalance (50% presences, 50% pseudo absences)</a:t>
            </a:r>
          </a:p>
        </p:txBody>
      </p:sp>
      <p:pic>
        <p:nvPicPr>
          <p:cNvPr id="5" name="Picture 4">
            <a:extLst>
              <a:ext uri="{FF2B5EF4-FFF2-40B4-BE49-F238E27FC236}">
                <a16:creationId xmlns:a16="http://schemas.microsoft.com/office/drawing/2014/main" id="{EF43924F-F0BC-D455-271C-FC70FF655431}"/>
              </a:ext>
            </a:extLst>
          </p:cNvPr>
          <p:cNvPicPr>
            <a:picLocks noChangeAspect="1"/>
          </p:cNvPicPr>
          <p:nvPr/>
        </p:nvPicPr>
        <p:blipFill>
          <a:blip r:embed="rId3"/>
          <a:stretch>
            <a:fillRect/>
          </a:stretch>
        </p:blipFill>
        <p:spPr>
          <a:xfrm>
            <a:off x="5905457" y="988907"/>
            <a:ext cx="5785800" cy="3448193"/>
          </a:xfrm>
          <a:prstGeom prst="rect">
            <a:avLst/>
          </a:prstGeom>
        </p:spPr>
      </p:pic>
      <p:sp>
        <p:nvSpPr>
          <p:cNvPr id="9" name="TextBox 8">
            <a:extLst>
              <a:ext uri="{FF2B5EF4-FFF2-40B4-BE49-F238E27FC236}">
                <a16:creationId xmlns:a16="http://schemas.microsoft.com/office/drawing/2014/main" id="{3995F96B-DA79-D201-0DBE-ABB47ED85CE3}"/>
              </a:ext>
            </a:extLst>
          </p:cNvPr>
          <p:cNvSpPr txBox="1"/>
          <p:nvPr/>
        </p:nvSpPr>
        <p:spPr>
          <a:xfrm>
            <a:off x="6330001" y="4806875"/>
            <a:ext cx="5230628" cy="923330"/>
          </a:xfrm>
          <a:prstGeom prst="rect">
            <a:avLst/>
          </a:prstGeom>
          <a:noFill/>
        </p:spPr>
        <p:txBody>
          <a:bodyPr wrap="square">
            <a:spAutoFit/>
          </a:bodyPr>
          <a:lstStyle/>
          <a:p>
            <a:r>
              <a:rPr lang="en-GB" i="1" dirty="0"/>
              <a:t>Pseudo-absences provide a practical way to represent the absence class when true absences are unknown</a:t>
            </a:r>
          </a:p>
        </p:txBody>
      </p:sp>
    </p:spTree>
    <p:extLst>
      <p:ext uri="{BB962C8B-B14F-4D97-AF65-F5344CB8AC3E}">
        <p14:creationId xmlns:p14="http://schemas.microsoft.com/office/powerpoint/2010/main" val="3929915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DA159-674F-E502-7B6A-8052B5104AFF}"/>
              </a:ext>
            </a:extLst>
          </p:cNvPr>
          <p:cNvSpPr>
            <a:spLocks noGrp="1"/>
          </p:cNvSpPr>
          <p:nvPr>
            <p:ph type="title" idx="4294967295"/>
          </p:nvPr>
        </p:nvSpPr>
        <p:spPr>
          <a:xfrm>
            <a:off x="0" y="365125"/>
            <a:ext cx="10515600" cy="1325563"/>
          </a:xfrm>
        </p:spPr>
        <p:txBody>
          <a:bodyPr/>
          <a:lstStyle/>
          <a:p>
            <a:r>
              <a:rPr lang="it-IT" b="1"/>
              <a:t>Pseudo-absences, in code</a:t>
            </a:r>
          </a:p>
        </p:txBody>
      </p:sp>
      <p:sp>
        <p:nvSpPr>
          <p:cNvPr id="3" name="CodeBg">
            <a:extLst>
              <a:ext uri="{FF2B5EF4-FFF2-40B4-BE49-F238E27FC236}">
                <a16:creationId xmlns:a16="http://schemas.microsoft.com/office/drawing/2014/main" id="{C2C0DB5F-B926-524C-9390-202272D88F39}"/>
              </a:ext>
            </a:extLst>
          </p:cNvPr>
          <p:cNvSpPr/>
          <p:nvPr/>
        </p:nvSpPr>
        <p:spPr>
          <a:xfrm>
            <a:off x="381000" y="1778000"/>
            <a:ext cx="6858000" cy="4699000"/>
          </a:xfrm>
          <a:prstGeom prst="rect">
            <a:avLst/>
          </a:prstGeom>
          <a:solidFill>
            <a:srgbClr val="1E1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4" name="CodeText">
            <a:extLst>
              <a:ext uri="{FF2B5EF4-FFF2-40B4-BE49-F238E27FC236}">
                <a16:creationId xmlns:a16="http://schemas.microsoft.com/office/drawing/2014/main" id="{DBCF41B5-A759-2D4B-9449-609F8696EBCD}"/>
              </a:ext>
            </a:extLst>
          </p:cNvPr>
          <p:cNvSpPr txBox="1"/>
          <p:nvPr/>
        </p:nvSpPr>
        <p:spPr>
          <a:xfrm>
            <a:off x="533400" y="1905000"/>
            <a:ext cx="6553200" cy="4008149"/>
          </a:xfrm>
          <a:prstGeom prst="rect">
            <a:avLst/>
          </a:prstGeom>
          <a:noFill/>
          <a:ln>
            <a:noFill/>
          </a:ln>
        </p:spPr>
        <p:txBody>
          <a:bodyPr vertOverflow="overflow" vert="horz" wrap="square" rtlCol="0" anchor="t">
            <a:spAutoFit/>
          </a:bodyPr>
          <a:lstStyle/>
          <a:p>
            <a:pPr marL="0" indent="0" algn="l">
              <a:lnSpc>
                <a:spcPts val="1700"/>
              </a:lnSpc>
              <a:buNone/>
            </a:pPr>
            <a:r>
              <a:rPr lang="en-US" sz="1400" dirty="0">
                <a:solidFill>
                  <a:srgbClr val="6A9955"/>
                </a:solidFill>
                <a:latin typeface="Consolas"/>
                <a:cs typeface="Consolas"/>
              </a:rPr>
              <a:t># Why pseudo-absences? Fire is rare (1–5% of pixels).</a:t>
            </a:r>
          </a:p>
          <a:p>
            <a:pPr marL="0" indent="0" algn="l">
              <a:lnSpc>
                <a:spcPts val="1700"/>
              </a:lnSpc>
              <a:buNone/>
            </a:pPr>
            <a:r>
              <a:rPr lang="en-US" sz="1400" dirty="0">
                <a:solidFill>
                  <a:srgbClr val="6A9955"/>
                </a:solidFill>
                <a:latin typeface="Consolas"/>
                <a:cs typeface="Consolas"/>
              </a:rPr>
              <a:t># A 1:1 burned : sampled-unburned ratio prevents the</a:t>
            </a:r>
          </a:p>
          <a:p>
            <a:pPr marL="0" indent="0" algn="l">
              <a:lnSpc>
                <a:spcPts val="1700"/>
              </a:lnSpc>
              <a:buNone/>
            </a:pPr>
            <a:r>
              <a:rPr lang="en-US" sz="1400" dirty="0">
                <a:solidFill>
                  <a:srgbClr val="6A9955"/>
                </a:solidFill>
                <a:latin typeface="Consolas"/>
                <a:cs typeface="Consolas"/>
              </a:rPr>
              <a:t># model from learning the trivial 'predict unburned' rule.</a:t>
            </a:r>
          </a:p>
          <a:p>
            <a:pPr>
              <a:lnSpc>
                <a:spcPts val="1700"/>
              </a:lnSpc>
              <a:buNone/>
            </a:pPr>
            <a:endParaRPr lang="en-US" sz="1400"/>
          </a:p>
          <a:p>
            <a:pPr marL="0" indent="0" algn="l">
              <a:lnSpc>
                <a:spcPts val="1700"/>
              </a:lnSpc>
              <a:buNone/>
            </a:pPr>
            <a:r>
              <a:rPr lang="en-US" sz="1400" dirty="0">
                <a:solidFill>
                  <a:srgbClr val="D4D4D4"/>
                </a:solidFill>
                <a:latin typeface="Consolas"/>
                <a:cs typeface="Consolas"/>
              </a:rPr>
              <a:t>burned = train_period_df.loc[train_period_df[</a:t>
            </a:r>
            <a:r>
              <a:rPr lang="en-US" sz="1400" dirty="0">
                <a:solidFill>
                  <a:srgbClr val="CE9178"/>
                </a:solidFill>
                <a:latin typeface="Consolas"/>
                <a:cs typeface="Consolas"/>
              </a:rPr>
              <a:t>"target"</a:t>
            </a:r>
            <a:r>
              <a:rPr lang="en-US" sz="1400" dirty="0">
                <a:solidFill>
                  <a:srgbClr val="D4D4D4"/>
                </a:solidFill>
                <a:latin typeface="Consolas"/>
                <a:cs typeface="Consolas"/>
              </a:rPr>
              <a:t>] == </a:t>
            </a:r>
            <a:r>
              <a:rPr lang="en-US" sz="1400" dirty="0">
                <a:solidFill>
                  <a:srgbClr val="B5CEA8"/>
                </a:solidFill>
                <a:latin typeface="Consolas"/>
                <a:cs typeface="Consolas"/>
              </a:rPr>
              <a:t>1</a:t>
            </a:r>
            <a:r>
              <a:rPr lang="en-US" sz="1400" dirty="0">
                <a:solidFill>
                  <a:srgbClr val="D4D4D4"/>
                </a:solidFill>
                <a:latin typeface="Consolas"/>
                <a:cs typeface="Consolas"/>
              </a:rPr>
              <a:t>]</a:t>
            </a:r>
          </a:p>
          <a:p>
            <a:pPr marL="0" indent="0" algn="l">
              <a:lnSpc>
                <a:spcPts val="1700"/>
              </a:lnSpc>
              <a:buNone/>
            </a:pPr>
            <a:r>
              <a:rPr lang="en-US" sz="1400" dirty="0">
                <a:solidFill>
                  <a:srgbClr val="D4D4D4"/>
                </a:solidFill>
                <a:latin typeface="Consolas"/>
                <a:cs typeface="Consolas"/>
              </a:rPr>
              <a:t>unburned = train_period_df.loc[train_period_df[</a:t>
            </a:r>
            <a:r>
              <a:rPr lang="en-US" sz="1400" dirty="0">
                <a:solidFill>
                  <a:srgbClr val="CE9178"/>
                </a:solidFill>
                <a:latin typeface="Consolas"/>
                <a:cs typeface="Consolas"/>
              </a:rPr>
              <a:t>"target"</a:t>
            </a:r>
            <a:r>
              <a:rPr lang="en-US" sz="1400" dirty="0">
                <a:solidFill>
                  <a:srgbClr val="D4D4D4"/>
                </a:solidFill>
                <a:latin typeface="Consolas"/>
                <a:cs typeface="Consolas"/>
              </a:rPr>
              <a:t>] == </a:t>
            </a:r>
            <a:r>
              <a:rPr lang="en-US" sz="1400" dirty="0">
                <a:solidFill>
                  <a:srgbClr val="B5CEA8"/>
                </a:solidFill>
                <a:latin typeface="Consolas"/>
                <a:cs typeface="Consolas"/>
              </a:rPr>
              <a:t>0</a:t>
            </a:r>
            <a:r>
              <a:rPr lang="en-US" sz="1400" dirty="0">
                <a:solidFill>
                  <a:srgbClr val="D4D4D4"/>
                </a:solidFill>
                <a:latin typeface="Consolas"/>
                <a:cs typeface="Consolas"/>
              </a:rPr>
              <a:t>].sample(</a:t>
            </a:r>
          </a:p>
          <a:p>
            <a:pPr marL="0" indent="0" algn="l">
              <a:lnSpc>
                <a:spcPts val="1700"/>
              </a:lnSpc>
              <a:buNone/>
            </a:pPr>
            <a:r>
              <a:rPr lang="en-US" sz="1400" dirty="0">
                <a:solidFill>
                  <a:srgbClr val="D4D4D4"/>
                </a:solidFill>
                <a:latin typeface="Consolas"/>
                <a:cs typeface="Consolas"/>
              </a:rPr>
              <a:t>    n=</a:t>
            </a:r>
            <a:r>
              <a:rPr lang="en-US" sz="1400" dirty="0">
                <a:solidFill>
                  <a:srgbClr val="DCDCAA"/>
                </a:solidFill>
                <a:latin typeface="Consolas"/>
                <a:cs typeface="Consolas"/>
              </a:rPr>
              <a:t>len</a:t>
            </a:r>
            <a:r>
              <a:rPr lang="en-US" sz="1400" dirty="0">
                <a:solidFill>
                  <a:srgbClr val="D4D4D4"/>
                </a:solidFill>
                <a:latin typeface="Consolas"/>
                <a:cs typeface="Consolas"/>
              </a:rPr>
              <a:t>(burned),</a:t>
            </a:r>
          </a:p>
          <a:p>
            <a:pPr marL="0" indent="0" algn="l">
              <a:lnSpc>
                <a:spcPts val="1700"/>
              </a:lnSpc>
              <a:buNone/>
            </a:pPr>
            <a:r>
              <a:rPr lang="en-US" sz="1400" dirty="0">
                <a:solidFill>
                  <a:srgbClr val="D4D4D4"/>
                </a:solidFill>
                <a:latin typeface="Consolas"/>
                <a:cs typeface="Consolas"/>
              </a:rPr>
              <a:t>    random_state=RANDOM_STATE,</a:t>
            </a:r>
          </a:p>
          <a:p>
            <a:pPr marL="0" indent="0" algn="l">
              <a:lnSpc>
                <a:spcPts val="1700"/>
              </a:lnSpc>
              <a:buNone/>
            </a:pPr>
            <a:r>
              <a:rPr lang="en-US" sz="1400" dirty="0">
                <a:solidFill>
                  <a:srgbClr val="D4D4D4"/>
                </a:solidFill>
                <a:latin typeface="Consolas"/>
                <a:cs typeface="Consolas"/>
              </a:rPr>
              <a:t>)</a:t>
            </a:r>
          </a:p>
          <a:p>
            <a:pPr>
              <a:lnSpc>
                <a:spcPts val="1700"/>
              </a:lnSpc>
              <a:buNone/>
            </a:pPr>
            <a:endParaRPr lang="en-US" sz="1400"/>
          </a:p>
          <a:p>
            <a:pPr marL="0" indent="0" algn="l">
              <a:lnSpc>
                <a:spcPts val="1700"/>
              </a:lnSpc>
              <a:buNone/>
            </a:pPr>
            <a:r>
              <a:rPr lang="en-US" sz="1400" dirty="0">
                <a:solidFill>
                  <a:srgbClr val="6A9955"/>
                </a:solidFill>
                <a:latin typeface="Consolas"/>
                <a:cs typeface="Consolas"/>
              </a:rPr>
              <a:t># Shuffle so burned and unburned are interleaved.</a:t>
            </a:r>
          </a:p>
          <a:p>
            <a:pPr marL="0" indent="0" algn="l">
              <a:lnSpc>
                <a:spcPts val="1700"/>
              </a:lnSpc>
              <a:buNone/>
            </a:pPr>
            <a:r>
              <a:rPr lang="en-US" sz="1400" dirty="0">
                <a:solidFill>
                  <a:srgbClr val="D4D4D4"/>
                </a:solidFill>
                <a:latin typeface="Consolas"/>
                <a:cs typeface="Consolas"/>
              </a:rPr>
              <a:t>train_pool = pd.concat([burned, unburned], ignore_index=</a:t>
            </a:r>
            <a:r>
              <a:rPr lang="en-US" sz="1400" dirty="0">
                <a:solidFill>
                  <a:srgbClr val="569CD6"/>
                </a:solidFill>
                <a:latin typeface="Consolas"/>
                <a:cs typeface="Consolas"/>
              </a:rPr>
              <a:t>True</a:t>
            </a:r>
            <a:r>
              <a:rPr lang="en-US" sz="1400" dirty="0">
                <a:solidFill>
                  <a:srgbClr val="D4D4D4"/>
                </a:solidFill>
                <a:latin typeface="Consolas"/>
                <a:cs typeface="Consolas"/>
              </a:rPr>
              <a:t>)\</a:t>
            </a:r>
          </a:p>
          <a:p>
            <a:pPr marL="0" indent="0" algn="l">
              <a:lnSpc>
                <a:spcPts val="1700"/>
              </a:lnSpc>
              <a:buNone/>
            </a:pPr>
            <a:r>
              <a:rPr lang="en-US" sz="1400" dirty="0">
                <a:solidFill>
                  <a:srgbClr val="D4D4D4"/>
                </a:solidFill>
                <a:latin typeface="Consolas"/>
                <a:cs typeface="Consolas"/>
              </a:rPr>
              <a:t>    .sample(frac=</a:t>
            </a:r>
            <a:r>
              <a:rPr lang="en-US" sz="1400" dirty="0">
                <a:solidFill>
                  <a:srgbClr val="B5CEA8"/>
                </a:solidFill>
                <a:latin typeface="Consolas"/>
                <a:cs typeface="Consolas"/>
              </a:rPr>
              <a:t>1</a:t>
            </a:r>
            <a:r>
              <a:rPr lang="en-US" sz="1400" dirty="0">
                <a:solidFill>
                  <a:srgbClr val="D4D4D4"/>
                </a:solidFill>
                <a:latin typeface="Consolas"/>
                <a:cs typeface="Consolas"/>
              </a:rPr>
              <a:t>, random_state=RANDOM_STATE)\</a:t>
            </a:r>
          </a:p>
          <a:p>
            <a:pPr marL="0" indent="0" algn="l">
              <a:lnSpc>
                <a:spcPts val="1700"/>
              </a:lnSpc>
              <a:buNone/>
            </a:pPr>
            <a:r>
              <a:rPr lang="en-US" sz="1400" dirty="0">
                <a:solidFill>
                  <a:srgbClr val="D4D4D4"/>
                </a:solidFill>
                <a:latin typeface="Consolas"/>
                <a:cs typeface="Consolas"/>
              </a:rPr>
              <a:t>    .reset_index(drop=</a:t>
            </a:r>
            <a:r>
              <a:rPr lang="en-US" sz="1400" dirty="0">
                <a:solidFill>
                  <a:srgbClr val="569CD6"/>
                </a:solidFill>
                <a:latin typeface="Consolas"/>
                <a:cs typeface="Consolas"/>
              </a:rPr>
              <a:t>True</a:t>
            </a:r>
            <a:r>
              <a:rPr lang="en-US" sz="1400" dirty="0">
                <a:solidFill>
                  <a:srgbClr val="D4D4D4"/>
                </a:solidFill>
                <a:latin typeface="Consolas"/>
                <a:cs typeface="Consolas"/>
              </a:rPr>
              <a:t>)</a:t>
            </a:r>
          </a:p>
          <a:p>
            <a:pPr>
              <a:lnSpc>
                <a:spcPts val="1700"/>
              </a:lnSpc>
              <a:buNone/>
            </a:pPr>
            <a:endParaRPr lang="en-US" sz="1400"/>
          </a:p>
          <a:p>
            <a:pPr marL="0" indent="0" algn="l">
              <a:lnSpc>
                <a:spcPts val="1700"/>
              </a:lnSpc>
              <a:buNone/>
            </a:pPr>
            <a:r>
              <a:rPr lang="en-US" sz="1400" dirty="0">
                <a:solidFill>
                  <a:srgbClr val="6A9955"/>
                </a:solidFill>
                <a:latin typeface="Consolas"/>
                <a:cs typeface="Consolas"/>
              </a:rPr>
              <a:t># Hold-out: KEEP real imbalance — do not balance.</a:t>
            </a:r>
          </a:p>
          <a:p>
            <a:pPr marL="0" indent="0" algn="l">
              <a:lnSpc>
                <a:spcPts val="1700"/>
              </a:lnSpc>
              <a:buNone/>
            </a:pPr>
            <a:r>
              <a:rPr lang="en-US" sz="1400" dirty="0">
                <a:solidFill>
                  <a:srgbClr val="D4D4D4"/>
                </a:solidFill>
                <a:latin typeface="Consolas"/>
                <a:cs typeface="Consolas"/>
              </a:rPr>
              <a:t>test_df = </a:t>
            </a:r>
            <a:r>
              <a:rPr lang="en-US" sz="1400" dirty="0">
                <a:solidFill>
                  <a:srgbClr val="DCDCAA"/>
                </a:solidFill>
                <a:latin typeface="Consolas"/>
                <a:cs typeface="Consolas"/>
              </a:rPr>
              <a:t>add_period_labels</a:t>
            </a:r>
            <a:r>
              <a:rPr lang="en-US" sz="1400" dirty="0">
                <a:solidFill>
                  <a:srgbClr val="D4D4D4"/>
                </a:solidFill>
                <a:latin typeface="Consolas"/>
                <a:cs typeface="Consolas"/>
              </a:rPr>
              <a:t>(features, test_burned_mask, ...)</a:t>
            </a:r>
          </a:p>
        </p:txBody>
      </p:sp>
      <p:sp>
        <p:nvSpPr>
          <p:cNvPr id="5" name="Caption">
            <a:extLst>
              <a:ext uri="{FF2B5EF4-FFF2-40B4-BE49-F238E27FC236}">
                <a16:creationId xmlns:a16="http://schemas.microsoft.com/office/drawing/2014/main" id="{E0B54423-5C47-5B4F-8867-7EB7BAFBF672}"/>
              </a:ext>
            </a:extLst>
          </p:cNvPr>
          <p:cNvSpPr txBox="1"/>
          <p:nvPr/>
        </p:nvSpPr>
        <p:spPr>
          <a:xfrm>
            <a:off x="7493000" y="1778000"/>
            <a:ext cx="4318000" cy="2277611"/>
          </a:xfrm>
          <a:prstGeom prst="rect">
            <a:avLst/>
          </a:prstGeom>
          <a:noFill/>
          <a:ln>
            <a:noFill/>
          </a:ln>
        </p:spPr>
        <p:txBody>
          <a:bodyPr vertOverflow="overflow" vert="horz" wrap="square" rtlCol="0" anchor="t">
            <a:spAutoFit/>
          </a:bodyPr>
          <a:lstStyle/>
          <a:p>
            <a:pPr marL="0" indent="0" algn="l">
              <a:lnSpc>
                <a:spcPts val="2200"/>
              </a:lnSpc>
              <a:spcAft>
                <a:spcPts val="600"/>
              </a:spcAft>
              <a:buNone/>
            </a:pPr>
            <a:r>
              <a:rPr lang="en-US" sz="1800" b="1" dirty="0">
                <a:solidFill>
                  <a:srgbClr val="1A1A1A"/>
                </a:solidFill>
              </a:rPr>
              <a:t>Balance for training, not for testing</a:t>
            </a:r>
          </a:p>
          <a:p>
            <a:pPr marL="171450" indent="-171450" algn="l">
              <a:lnSpc>
                <a:spcPts val="1900"/>
              </a:lnSpc>
              <a:spcAft>
                <a:spcPts val="500"/>
              </a:spcAft>
              <a:buFont typeface="Arial"/>
              <a:buChar char="•"/>
            </a:pPr>
            <a:r>
              <a:rPr lang="en-US" sz="1500" b="1" dirty="0"/>
              <a:t>1:1 ratio</a:t>
            </a:r>
            <a:r>
              <a:rPr lang="en-US" sz="1500" dirty="0"/>
              <a:t> — forces the model to learn discriminative features, not the base rate.</a:t>
            </a:r>
          </a:p>
          <a:p>
            <a:pPr marL="171450" indent="-171450" algn="l">
              <a:lnSpc>
                <a:spcPts val="1900"/>
              </a:lnSpc>
              <a:spcAft>
                <a:spcPts val="500"/>
              </a:spcAft>
              <a:buFont typeface="Arial"/>
              <a:buChar char="•"/>
            </a:pPr>
            <a:r>
              <a:rPr lang="en-US" sz="1500" b="1" dirty="0"/>
              <a:t>Result</a:t>
            </a:r>
            <a:r>
              <a:rPr lang="en-US" sz="1500" dirty="0"/>
              <a:t> — scores are a relative ranking, not calibrated probabilities.</a:t>
            </a:r>
          </a:p>
          <a:p>
            <a:pPr marL="171450" indent="-171450" algn="l">
              <a:lnSpc>
                <a:spcPts val="1900"/>
              </a:lnSpc>
              <a:spcAft>
                <a:spcPts val="500"/>
              </a:spcAft>
              <a:buFont typeface="Arial"/>
              <a:buChar char="•"/>
            </a:pPr>
            <a:r>
              <a:rPr lang="en-US" sz="1500" b="1" dirty="0"/>
              <a:t>Hold-out stays imbalanced</a:t>
            </a:r>
            <a:r>
              <a:rPr lang="en-US" sz="1500" dirty="0"/>
              <a:t> — 5,806 burned out of 398,697 pixels (1.5%) — mirrors operational reality.</a:t>
            </a:r>
          </a:p>
        </p:txBody>
      </p:sp>
    </p:spTree>
    <p:extLst>
      <p:ext uri="{BB962C8B-B14F-4D97-AF65-F5344CB8AC3E}">
        <p14:creationId xmlns:p14="http://schemas.microsoft.com/office/powerpoint/2010/main" val="692847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A6FE6C-E2DA-F015-8DF9-9356C5F823B7}"/>
              </a:ext>
            </a:extLst>
          </p:cNvPr>
          <p:cNvSpPr txBox="1"/>
          <p:nvPr/>
        </p:nvSpPr>
        <p:spPr>
          <a:xfrm>
            <a:off x="342454" y="834381"/>
            <a:ext cx="6062392" cy="2308324"/>
          </a:xfrm>
          <a:prstGeom prst="rect">
            <a:avLst/>
          </a:prstGeom>
          <a:noFill/>
        </p:spPr>
        <p:txBody>
          <a:bodyPr wrap="square">
            <a:spAutoFit/>
          </a:bodyPr>
          <a:lstStyle/>
          <a:p>
            <a:pPr>
              <a:buNone/>
            </a:pPr>
            <a:r>
              <a:rPr lang="en-GB" b="1" dirty="0"/>
              <a:t>Why hyperparameter tuning matters</a:t>
            </a:r>
          </a:p>
          <a:p>
            <a:pPr>
              <a:buNone/>
            </a:pPr>
            <a:r>
              <a:rPr lang="en-GB" dirty="0"/>
              <a:t>Random Forest performance strongly depends on the choice of hyperparameters.</a:t>
            </a:r>
            <a:br>
              <a:rPr lang="en-GB" dirty="0"/>
            </a:br>
            <a:r>
              <a:rPr lang="en-GB" dirty="0"/>
              <a:t>Hyperparameter tuning aims to identify the model configuration that generalizes best to unseen data, avoiding both </a:t>
            </a:r>
            <a:r>
              <a:rPr lang="en-GB" b="1" dirty="0"/>
              <a:t>Underfitting</a:t>
            </a:r>
            <a:r>
              <a:rPr lang="en-GB" dirty="0"/>
              <a:t> and </a:t>
            </a:r>
            <a:r>
              <a:rPr lang="en-GB" b="1" dirty="0"/>
              <a:t>Overfitting</a:t>
            </a:r>
            <a:r>
              <a:rPr lang="en-GB" dirty="0"/>
              <a:t> </a:t>
            </a:r>
          </a:p>
          <a:p>
            <a:pPr>
              <a:buNone/>
            </a:pPr>
            <a:r>
              <a:rPr lang="en-GB" dirty="0"/>
              <a:t>The tuning process is performed on a </a:t>
            </a:r>
            <a:r>
              <a:rPr lang="en-GB" b="1" dirty="0"/>
              <a:t>validation dataset</a:t>
            </a:r>
            <a:r>
              <a:rPr lang="en-GB" dirty="0"/>
              <a:t>, separate from the final hold-out test period.</a:t>
            </a:r>
          </a:p>
        </p:txBody>
      </p:sp>
      <p:sp>
        <p:nvSpPr>
          <p:cNvPr id="6" name="TextBox 5">
            <a:extLst>
              <a:ext uri="{FF2B5EF4-FFF2-40B4-BE49-F238E27FC236}">
                <a16:creationId xmlns:a16="http://schemas.microsoft.com/office/drawing/2014/main" id="{67E73EC4-5ED2-69CD-5A75-868CAA78A97D}"/>
              </a:ext>
            </a:extLst>
          </p:cNvPr>
          <p:cNvSpPr txBox="1"/>
          <p:nvPr/>
        </p:nvSpPr>
        <p:spPr>
          <a:xfrm>
            <a:off x="6841080" y="103045"/>
            <a:ext cx="5058342" cy="646331"/>
          </a:xfrm>
          <a:prstGeom prst="rect">
            <a:avLst/>
          </a:prstGeom>
          <a:noFill/>
        </p:spPr>
        <p:txBody>
          <a:bodyPr wrap="square">
            <a:spAutoFit/>
          </a:bodyPr>
          <a:lstStyle/>
          <a:p>
            <a:pPr>
              <a:buNone/>
            </a:pPr>
            <a:r>
              <a:rPr lang="en-GB" dirty="0"/>
              <a:t>Validation strategy used in this workflow: </a:t>
            </a:r>
            <a:r>
              <a:rPr lang="en-GB" b="1" dirty="0"/>
              <a:t>temporal split</a:t>
            </a:r>
            <a:endParaRPr lang="en-GB" dirty="0"/>
          </a:p>
        </p:txBody>
      </p:sp>
      <p:pic>
        <p:nvPicPr>
          <p:cNvPr id="7" name="Picture 6">
            <a:extLst>
              <a:ext uri="{FF2B5EF4-FFF2-40B4-BE49-F238E27FC236}">
                <a16:creationId xmlns:a16="http://schemas.microsoft.com/office/drawing/2014/main" id="{00AD3A52-7CEA-7FDB-5FE1-22C0D6C1EC51}"/>
              </a:ext>
            </a:extLst>
          </p:cNvPr>
          <p:cNvPicPr>
            <a:picLocks noChangeAspect="1"/>
          </p:cNvPicPr>
          <p:nvPr/>
        </p:nvPicPr>
        <p:blipFill>
          <a:blip r:embed="rId3"/>
          <a:srcRect r="2296" b="22587"/>
          <a:stretch>
            <a:fillRect/>
          </a:stretch>
        </p:blipFill>
        <p:spPr>
          <a:xfrm>
            <a:off x="6841080" y="749376"/>
            <a:ext cx="5187436" cy="2425284"/>
          </a:xfrm>
          <a:prstGeom prst="rect">
            <a:avLst/>
          </a:prstGeom>
        </p:spPr>
      </p:pic>
      <p:pic>
        <p:nvPicPr>
          <p:cNvPr id="8" name="Picture 7">
            <a:extLst>
              <a:ext uri="{FF2B5EF4-FFF2-40B4-BE49-F238E27FC236}">
                <a16:creationId xmlns:a16="http://schemas.microsoft.com/office/drawing/2014/main" id="{66EC07EC-D831-DCD9-4986-13DF0A3384B1}"/>
              </a:ext>
            </a:extLst>
          </p:cNvPr>
          <p:cNvPicPr>
            <a:picLocks noChangeAspect="1"/>
          </p:cNvPicPr>
          <p:nvPr/>
        </p:nvPicPr>
        <p:blipFill>
          <a:blip r:embed="rId4"/>
          <a:stretch>
            <a:fillRect/>
          </a:stretch>
        </p:blipFill>
        <p:spPr>
          <a:xfrm>
            <a:off x="447502" y="3490070"/>
            <a:ext cx="5412971" cy="3298136"/>
          </a:xfrm>
          <a:prstGeom prst="rect">
            <a:avLst/>
          </a:prstGeom>
        </p:spPr>
      </p:pic>
      <p:pic>
        <p:nvPicPr>
          <p:cNvPr id="9" name="Picture 8">
            <a:extLst>
              <a:ext uri="{FF2B5EF4-FFF2-40B4-BE49-F238E27FC236}">
                <a16:creationId xmlns:a16="http://schemas.microsoft.com/office/drawing/2014/main" id="{C8A66A8D-E548-AA34-A0B2-6501E9A67CE4}"/>
              </a:ext>
            </a:extLst>
          </p:cNvPr>
          <p:cNvPicPr>
            <a:picLocks noChangeAspect="1"/>
          </p:cNvPicPr>
          <p:nvPr/>
        </p:nvPicPr>
        <p:blipFill>
          <a:blip r:embed="rId5"/>
          <a:stretch>
            <a:fillRect/>
          </a:stretch>
        </p:blipFill>
        <p:spPr>
          <a:xfrm>
            <a:off x="7323513" y="3429000"/>
            <a:ext cx="3492584" cy="3300527"/>
          </a:xfrm>
          <a:prstGeom prst="rect">
            <a:avLst/>
          </a:prstGeom>
        </p:spPr>
      </p:pic>
      <p:sp>
        <p:nvSpPr>
          <p:cNvPr id="11" name="TextBox 10">
            <a:extLst>
              <a:ext uri="{FF2B5EF4-FFF2-40B4-BE49-F238E27FC236}">
                <a16:creationId xmlns:a16="http://schemas.microsoft.com/office/drawing/2014/main" id="{60FDFBD6-C0F1-3529-3260-6DD2B787F54D}"/>
              </a:ext>
            </a:extLst>
          </p:cNvPr>
          <p:cNvSpPr txBox="1"/>
          <p:nvPr/>
        </p:nvSpPr>
        <p:spPr>
          <a:xfrm>
            <a:off x="163484" y="150936"/>
            <a:ext cx="6548502" cy="523220"/>
          </a:xfrm>
          <a:prstGeom prst="rect">
            <a:avLst/>
          </a:prstGeom>
          <a:noFill/>
        </p:spPr>
        <p:txBody>
          <a:bodyPr wrap="square">
            <a:spAutoFit/>
          </a:bodyPr>
          <a:lstStyle/>
          <a:p>
            <a:pPr>
              <a:buNone/>
            </a:pPr>
            <a:r>
              <a:rPr lang="en-GB" sz="2800" b="1" dirty="0"/>
              <a:t>Random Forest Hyperparameter Tuning</a:t>
            </a:r>
          </a:p>
        </p:txBody>
      </p:sp>
      <p:sp>
        <p:nvSpPr>
          <p:cNvPr id="12" name="Right Arrow 11">
            <a:extLst>
              <a:ext uri="{FF2B5EF4-FFF2-40B4-BE49-F238E27FC236}">
                <a16:creationId xmlns:a16="http://schemas.microsoft.com/office/drawing/2014/main" id="{CF8063F0-234E-ED2C-D689-E124EBABE77F}"/>
              </a:ext>
            </a:extLst>
          </p:cNvPr>
          <p:cNvSpPr/>
          <p:nvPr/>
        </p:nvSpPr>
        <p:spPr>
          <a:xfrm>
            <a:off x="6001789" y="4638502"/>
            <a:ext cx="1296786" cy="7398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418152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3C527-4FD2-936E-AEAC-BD360B6BF3CE}"/>
              </a:ext>
            </a:extLst>
          </p:cNvPr>
          <p:cNvSpPr>
            <a:spLocks noGrp="1"/>
          </p:cNvSpPr>
          <p:nvPr>
            <p:ph type="title" idx="4294967295"/>
          </p:nvPr>
        </p:nvSpPr>
        <p:spPr>
          <a:xfrm>
            <a:off x="0" y="365125"/>
            <a:ext cx="10515600" cy="1325563"/>
          </a:xfrm>
        </p:spPr>
        <p:txBody>
          <a:bodyPr/>
          <a:lstStyle/>
          <a:p>
            <a:r>
              <a:rPr lang="it-IT" b="1"/>
              <a:t>Hyperparameter tuning, in code</a:t>
            </a:r>
          </a:p>
        </p:txBody>
      </p:sp>
      <p:sp>
        <p:nvSpPr>
          <p:cNvPr id="3" name="CodeBg">
            <a:extLst>
              <a:ext uri="{FF2B5EF4-FFF2-40B4-BE49-F238E27FC236}">
                <a16:creationId xmlns:a16="http://schemas.microsoft.com/office/drawing/2014/main" id="{79D2EF01-2FDD-0C49-B458-0FC6A9635876}"/>
              </a:ext>
            </a:extLst>
          </p:cNvPr>
          <p:cNvSpPr/>
          <p:nvPr/>
        </p:nvSpPr>
        <p:spPr>
          <a:xfrm>
            <a:off x="381000" y="1778000"/>
            <a:ext cx="6858000" cy="4699000"/>
          </a:xfrm>
          <a:prstGeom prst="rect">
            <a:avLst/>
          </a:prstGeom>
          <a:solidFill>
            <a:srgbClr val="1E1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4" name="CodeText">
            <a:extLst>
              <a:ext uri="{FF2B5EF4-FFF2-40B4-BE49-F238E27FC236}">
                <a16:creationId xmlns:a16="http://schemas.microsoft.com/office/drawing/2014/main" id="{436C6357-F58B-0845-AB04-D31DEE70EA30}"/>
              </a:ext>
            </a:extLst>
          </p:cNvPr>
          <p:cNvSpPr txBox="1"/>
          <p:nvPr/>
        </p:nvSpPr>
        <p:spPr>
          <a:xfrm>
            <a:off x="533400" y="1905000"/>
            <a:ext cx="6553200" cy="4008149"/>
          </a:xfrm>
          <a:prstGeom prst="rect">
            <a:avLst/>
          </a:prstGeom>
          <a:noFill/>
          <a:ln>
            <a:noFill/>
          </a:ln>
        </p:spPr>
        <p:txBody>
          <a:bodyPr vertOverflow="overflow" vert="horz" wrap="square" rtlCol="0" anchor="t">
            <a:spAutoFit/>
          </a:bodyPr>
          <a:lstStyle/>
          <a:p>
            <a:pPr marL="0" indent="0" algn="l">
              <a:lnSpc>
                <a:spcPts val="1700"/>
              </a:lnSpc>
              <a:buNone/>
            </a:pPr>
            <a:r>
              <a:rPr lang="en-US" sz="1400" dirty="0">
                <a:solidFill>
                  <a:srgbClr val="D4D4D4"/>
                </a:solidFill>
                <a:latin typeface="Consolas"/>
                <a:cs typeface="Consolas"/>
              </a:rPr>
              <a:t>param_grid = {</a:t>
            </a:r>
          </a:p>
          <a:p>
            <a:pPr marL="0" indent="0" algn="l">
              <a:lnSpc>
                <a:spcPts val="1700"/>
              </a:lnSpc>
              <a:buNone/>
            </a:pPr>
            <a:r>
              <a:rPr lang="en-US" sz="1400" dirty="0">
                <a:solidFill>
                  <a:srgbClr val="CE9178"/>
                </a:solidFill>
                <a:latin typeface="Consolas"/>
                <a:cs typeface="Consolas"/>
              </a:rPr>
              <a:t>    "n_estimators"</a:t>
            </a:r>
            <a:r>
              <a:rPr lang="en-US" sz="1400" dirty="0">
                <a:solidFill>
                  <a:srgbClr val="D4D4D4"/>
                </a:solidFill>
                <a:latin typeface="Consolas"/>
                <a:cs typeface="Consolas"/>
              </a:rPr>
              <a:t>:     [</a:t>
            </a:r>
            <a:r>
              <a:rPr lang="en-US" sz="1400" dirty="0">
                <a:solidFill>
                  <a:srgbClr val="B5CEA8"/>
                </a:solidFill>
                <a:latin typeface="Consolas"/>
                <a:cs typeface="Consolas"/>
              </a:rPr>
              <a:t>150</a:t>
            </a:r>
            <a:r>
              <a:rPr lang="en-US" sz="1400" dirty="0">
                <a:solidFill>
                  <a:srgbClr val="D4D4D4"/>
                </a:solidFill>
                <a:latin typeface="Consolas"/>
                <a:cs typeface="Consolas"/>
              </a:rPr>
              <a:t>, </a:t>
            </a:r>
            <a:r>
              <a:rPr lang="en-US" sz="1400" dirty="0">
                <a:solidFill>
                  <a:srgbClr val="B5CEA8"/>
                </a:solidFill>
                <a:latin typeface="Consolas"/>
                <a:cs typeface="Consolas"/>
              </a:rPr>
              <a:t>300</a:t>
            </a:r>
            <a:r>
              <a:rPr lang="en-US" sz="1400" dirty="0">
                <a:solidFill>
                  <a:srgbClr val="D4D4D4"/>
                </a:solidFill>
                <a:latin typeface="Consolas"/>
                <a:cs typeface="Consolas"/>
              </a:rPr>
              <a:t>],</a:t>
            </a:r>
          </a:p>
          <a:p>
            <a:pPr marL="0" indent="0" algn="l">
              <a:lnSpc>
                <a:spcPts val="1700"/>
              </a:lnSpc>
              <a:buNone/>
            </a:pPr>
            <a:r>
              <a:rPr lang="en-US" sz="1400" dirty="0">
                <a:solidFill>
                  <a:srgbClr val="CE9178"/>
                </a:solidFill>
                <a:latin typeface="Consolas"/>
                <a:cs typeface="Consolas"/>
              </a:rPr>
              <a:t>    "max_features"</a:t>
            </a:r>
            <a:r>
              <a:rPr lang="en-US" sz="1400" dirty="0">
                <a:solidFill>
                  <a:srgbClr val="D4D4D4"/>
                </a:solidFill>
                <a:latin typeface="Consolas"/>
                <a:cs typeface="Consolas"/>
              </a:rPr>
              <a:t>:     [</a:t>
            </a:r>
            <a:r>
              <a:rPr lang="en-US" sz="1400" dirty="0">
                <a:solidFill>
                  <a:srgbClr val="CE9178"/>
                </a:solidFill>
                <a:latin typeface="Consolas"/>
                <a:cs typeface="Consolas"/>
              </a:rPr>
              <a:t>"sqrt"</a:t>
            </a:r>
            <a:r>
              <a:rPr lang="en-US" sz="1400" dirty="0">
                <a:solidFill>
                  <a:srgbClr val="D4D4D4"/>
                </a:solidFill>
                <a:latin typeface="Consolas"/>
                <a:cs typeface="Consolas"/>
              </a:rPr>
              <a:t>, </a:t>
            </a:r>
            <a:r>
              <a:rPr lang="en-US" sz="1400" dirty="0">
                <a:solidFill>
                  <a:srgbClr val="B5CEA8"/>
                </a:solidFill>
                <a:latin typeface="Consolas"/>
                <a:cs typeface="Consolas"/>
              </a:rPr>
              <a:t>0.5</a:t>
            </a:r>
            <a:r>
              <a:rPr lang="en-US" sz="1400" dirty="0">
                <a:solidFill>
                  <a:srgbClr val="D4D4D4"/>
                </a:solidFill>
                <a:latin typeface="Consolas"/>
                <a:cs typeface="Consolas"/>
              </a:rPr>
              <a:t>],</a:t>
            </a:r>
          </a:p>
          <a:p>
            <a:pPr marL="0" indent="0" algn="l">
              <a:lnSpc>
                <a:spcPts val="1700"/>
              </a:lnSpc>
              <a:buNone/>
            </a:pPr>
            <a:r>
              <a:rPr lang="en-US" sz="1400" dirty="0">
                <a:solidFill>
                  <a:srgbClr val="CE9178"/>
                </a:solidFill>
                <a:latin typeface="Consolas"/>
                <a:cs typeface="Consolas"/>
              </a:rPr>
              <a:t>    "min_samples_leaf"</a:t>
            </a:r>
            <a:r>
              <a:rPr lang="en-US" sz="1400" dirty="0">
                <a:solidFill>
                  <a:srgbClr val="D4D4D4"/>
                </a:solidFill>
                <a:latin typeface="Consolas"/>
                <a:cs typeface="Consolas"/>
              </a:rPr>
              <a:t>: [</a:t>
            </a:r>
            <a:r>
              <a:rPr lang="en-US" sz="1400" dirty="0">
                <a:solidFill>
                  <a:srgbClr val="B5CEA8"/>
                </a:solidFill>
                <a:latin typeface="Consolas"/>
                <a:cs typeface="Consolas"/>
              </a:rPr>
              <a:t>1</a:t>
            </a:r>
            <a:r>
              <a:rPr lang="en-US" sz="1400" dirty="0">
                <a:solidFill>
                  <a:srgbClr val="D4D4D4"/>
                </a:solidFill>
                <a:latin typeface="Consolas"/>
                <a:cs typeface="Consolas"/>
              </a:rPr>
              <a:t>, </a:t>
            </a:r>
            <a:r>
              <a:rPr lang="en-US" sz="1400" dirty="0">
                <a:solidFill>
                  <a:srgbClr val="B5CEA8"/>
                </a:solidFill>
                <a:latin typeface="Consolas"/>
                <a:cs typeface="Consolas"/>
              </a:rPr>
              <a:t>3</a:t>
            </a:r>
            <a:r>
              <a:rPr lang="en-US" sz="1400" dirty="0">
                <a:solidFill>
                  <a:srgbClr val="D4D4D4"/>
                </a:solidFill>
                <a:latin typeface="Consolas"/>
                <a:cs typeface="Consolas"/>
              </a:rPr>
              <a:t>, </a:t>
            </a:r>
            <a:r>
              <a:rPr lang="en-US" sz="1400" dirty="0">
                <a:solidFill>
                  <a:srgbClr val="B5CEA8"/>
                </a:solidFill>
                <a:latin typeface="Consolas"/>
                <a:cs typeface="Consolas"/>
              </a:rPr>
              <a:t>5</a:t>
            </a:r>
            <a:r>
              <a:rPr lang="en-US" sz="1400" dirty="0">
                <a:solidFill>
                  <a:srgbClr val="D4D4D4"/>
                </a:solidFill>
                <a:latin typeface="Consolas"/>
                <a:cs typeface="Consolas"/>
              </a:rPr>
              <a:t>],</a:t>
            </a:r>
          </a:p>
          <a:p>
            <a:pPr marL="0" indent="0" algn="l">
              <a:lnSpc>
                <a:spcPts val="1700"/>
              </a:lnSpc>
              <a:buNone/>
            </a:pPr>
            <a:r>
              <a:rPr lang="en-US" sz="1400" dirty="0">
                <a:solidFill>
                  <a:srgbClr val="CE9178"/>
                </a:solidFill>
                <a:latin typeface="Consolas"/>
                <a:cs typeface="Consolas"/>
              </a:rPr>
              <a:t>    "max_depth"</a:t>
            </a:r>
            <a:r>
              <a:rPr lang="en-US" sz="1400" dirty="0">
                <a:solidFill>
                  <a:srgbClr val="D4D4D4"/>
                </a:solidFill>
                <a:latin typeface="Consolas"/>
                <a:cs typeface="Consolas"/>
              </a:rPr>
              <a:t>:        [</a:t>
            </a:r>
            <a:r>
              <a:rPr lang="en-US" sz="1400" dirty="0">
                <a:solidFill>
                  <a:srgbClr val="569CD6"/>
                </a:solidFill>
                <a:latin typeface="Consolas"/>
                <a:cs typeface="Consolas"/>
              </a:rPr>
              <a:t>None</a:t>
            </a:r>
            <a:r>
              <a:rPr lang="en-US" sz="1400" dirty="0">
                <a:solidFill>
                  <a:srgbClr val="D4D4D4"/>
                </a:solidFill>
                <a:latin typeface="Consolas"/>
                <a:cs typeface="Consolas"/>
              </a:rPr>
              <a:t>, </a:t>
            </a:r>
            <a:r>
              <a:rPr lang="en-US" sz="1400" dirty="0">
                <a:solidFill>
                  <a:srgbClr val="B5CEA8"/>
                </a:solidFill>
                <a:latin typeface="Consolas"/>
                <a:cs typeface="Consolas"/>
              </a:rPr>
              <a:t>15</a:t>
            </a:r>
            <a:r>
              <a:rPr lang="en-US" sz="1400" dirty="0">
                <a:solidFill>
                  <a:srgbClr val="D4D4D4"/>
                </a:solidFill>
                <a:latin typeface="Consolas"/>
                <a:cs typeface="Consolas"/>
              </a:rPr>
              <a:t>],</a:t>
            </a:r>
          </a:p>
          <a:p>
            <a:pPr marL="0" indent="0" algn="l">
              <a:lnSpc>
                <a:spcPts val="1700"/>
              </a:lnSpc>
              <a:buNone/>
            </a:pPr>
            <a:r>
              <a:rPr lang="en-US" sz="1400" dirty="0">
                <a:solidFill>
                  <a:srgbClr val="D4D4D4"/>
                </a:solidFill>
                <a:latin typeface="Consolas"/>
                <a:cs typeface="Consolas"/>
              </a:rPr>
              <a:t>}</a:t>
            </a:r>
          </a:p>
          <a:p>
            <a:pPr>
              <a:lnSpc>
                <a:spcPts val="1700"/>
              </a:lnSpc>
              <a:buNone/>
            </a:pPr>
            <a:endParaRPr lang="en-US" sz="1400"/>
          </a:p>
          <a:p>
            <a:pPr marL="0" indent="0" algn="l">
              <a:lnSpc>
                <a:spcPts val="1700"/>
              </a:lnSpc>
              <a:buNone/>
            </a:pPr>
            <a:r>
              <a:rPr lang="en-US" sz="1400" dirty="0">
                <a:solidFill>
                  <a:srgbClr val="6A9955"/>
                </a:solidFill>
                <a:latin typeface="Consolas"/>
                <a:cs typeface="Consolas"/>
              </a:rPr>
              <a:t># Reuse the fixed validation split — no k-fold reshuffle.</a:t>
            </a:r>
          </a:p>
          <a:p>
            <a:pPr marL="0" indent="0" algn="l">
              <a:lnSpc>
                <a:spcPts val="1700"/>
              </a:lnSpc>
              <a:buNone/>
            </a:pPr>
            <a:r>
              <a:rPr lang="en-US" sz="1400" dirty="0">
                <a:solidFill>
                  <a:srgbClr val="6A9955"/>
                </a:solidFill>
                <a:latin typeface="Consolas"/>
                <a:cs typeface="Consolas"/>
              </a:rPr>
              <a:t># Nearby pixels share terrain + fire history → k-fold leaks.</a:t>
            </a:r>
          </a:p>
          <a:p>
            <a:pPr marL="0" indent="0" algn="l">
              <a:lnSpc>
                <a:spcPts val="1700"/>
              </a:lnSpc>
              <a:buNone/>
            </a:pPr>
            <a:r>
              <a:rPr lang="en-US" sz="1400" dirty="0">
                <a:solidFill>
                  <a:srgbClr val="D4D4D4"/>
                </a:solidFill>
                <a:latin typeface="Consolas"/>
                <a:cs typeface="Consolas"/>
              </a:rPr>
              <a:t>fold = [</a:t>
            </a:r>
            <a:r>
              <a:rPr lang="en-US" sz="1400" dirty="0">
                <a:solidFill>
                  <a:srgbClr val="B5CEA8"/>
                </a:solidFill>
                <a:latin typeface="Consolas"/>
                <a:cs typeface="Consolas"/>
              </a:rPr>
              <a:t>-1</a:t>
            </a:r>
            <a:r>
              <a:rPr lang="en-US" sz="1400" dirty="0">
                <a:solidFill>
                  <a:srgbClr val="D4D4D4"/>
                </a:solidFill>
                <a:latin typeface="Consolas"/>
                <a:cs typeface="Consolas"/>
              </a:rPr>
              <a:t>]*</a:t>
            </a:r>
            <a:r>
              <a:rPr lang="en-US" sz="1400" dirty="0">
                <a:solidFill>
                  <a:srgbClr val="DCDCAA"/>
                </a:solidFill>
                <a:latin typeface="Consolas"/>
                <a:cs typeface="Consolas"/>
              </a:rPr>
              <a:t>len</a:t>
            </a:r>
            <a:r>
              <a:rPr lang="en-US" sz="1400" dirty="0">
                <a:solidFill>
                  <a:srgbClr val="D4D4D4"/>
                </a:solidFill>
                <a:latin typeface="Consolas"/>
                <a:cs typeface="Consolas"/>
              </a:rPr>
              <a:t>(X_train) + [</a:t>
            </a:r>
            <a:r>
              <a:rPr lang="en-US" sz="1400" dirty="0">
                <a:solidFill>
                  <a:srgbClr val="B5CEA8"/>
                </a:solidFill>
                <a:latin typeface="Consolas"/>
                <a:cs typeface="Consolas"/>
              </a:rPr>
              <a:t>0</a:t>
            </a:r>
            <a:r>
              <a:rPr lang="en-US" sz="1400" dirty="0">
                <a:solidFill>
                  <a:srgbClr val="D4D4D4"/>
                </a:solidFill>
                <a:latin typeface="Consolas"/>
                <a:cs typeface="Consolas"/>
              </a:rPr>
              <a:t>]*</a:t>
            </a:r>
            <a:r>
              <a:rPr lang="en-US" sz="1400" dirty="0">
                <a:solidFill>
                  <a:srgbClr val="DCDCAA"/>
                </a:solidFill>
                <a:latin typeface="Consolas"/>
                <a:cs typeface="Consolas"/>
              </a:rPr>
              <a:t>len</a:t>
            </a:r>
            <a:r>
              <a:rPr lang="en-US" sz="1400" dirty="0">
                <a:solidFill>
                  <a:srgbClr val="D4D4D4"/>
                </a:solidFill>
                <a:latin typeface="Consolas"/>
                <a:cs typeface="Consolas"/>
              </a:rPr>
              <a:t>(X_valid)</a:t>
            </a:r>
          </a:p>
          <a:p>
            <a:pPr marL="0" indent="0" algn="l">
              <a:lnSpc>
                <a:spcPts val="1700"/>
              </a:lnSpc>
              <a:buNone/>
            </a:pPr>
            <a:r>
              <a:rPr lang="en-US" sz="1400" dirty="0">
                <a:solidFill>
                  <a:srgbClr val="D4D4D4"/>
                </a:solidFill>
                <a:latin typeface="Consolas"/>
                <a:cs typeface="Consolas"/>
              </a:rPr>
              <a:t>split = </a:t>
            </a:r>
            <a:r>
              <a:rPr lang="en-US" sz="1400" dirty="0">
                <a:solidFill>
                  <a:srgbClr val="DCDCAA"/>
                </a:solidFill>
                <a:latin typeface="Consolas"/>
                <a:cs typeface="Consolas"/>
              </a:rPr>
              <a:t>PredefinedSplit</a:t>
            </a:r>
            <a:r>
              <a:rPr lang="en-US" sz="1400" dirty="0">
                <a:solidFill>
                  <a:srgbClr val="D4D4D4"/>
                </a:solidFill>
                <a:latin typeface="Consolas"/>
                <a:cs typeface="Consolas"/>
              </a:rPr>
              <a:t>(test_fold=fold)</a:t>
            </a:r>
          </a:p>
          <a:p>
            <a:pPr>
              <a:lnSpc>
                <a:spcPts val="1700"/>
              </a:lnSpc>
              <a:buNone/>
            </a:pPr>
            <a:endParaRPr lang="en-US" sz="1400"/>
          </a:p>
          <a:p>
            <a:pPr marL="0" indent="0" algn="l">
              <a:lnSpc>
                <a:spcPts val="1700"/>
              </a:lnSpc>
              <a:buNone/>
            </a:pPr>
            <a:r>
              <a:rPr lang="en-US" sz="1400" dirty="0">
                <a:solidFill>
                  <a:srgbClr val="D4D4D4"/>
                </a:solidFill>
                <a:latin typeface="Consolas"/>
                <a:cs typeface="Consolas"/>
              </a:rPr>
              <a:t>search = </a:t>
            </a:r>
            <a:r>
              <a:rPr lang="en-US" sz="1400" dirty="0">
                <a:solidFill>
                  <a:srgbClr val="DCDCAA"/>
                </a:solidFill>
                <a:latin typeface="Consolas"/>
                <a:cs typeface="Consolas"/>
              </a:rPr>
              <a:t>GridSearchCV</a:t>
            </a:r>
            <a:r>
              <a:rPr lang="en-US" sz="1400" dirty="0">
                <a:solidFill>
                  <a:srgbClr val="D4D4D4"/>
                </a:solidFill>
                <a:latin typeface="Consolas"/>
                <a:cs typeface="Consolas"/>
              </a:rPr>
              <a:t>(</a:t>
            </a:r>
          </a:p>
          <a:p>
            <a:pPr marL="0" indent="0" algn="l">
              <a:lnSpc>
                <a:spcPts val="1700"/>
              </a:lnSpc>
              <a:buNone/>
            </a:pPr>
            <a:r>
              <a:rPr lang="en-US" sz="1400" dirty="0">
                <a:solidFill>
                  <a:srgbClr val="D4D4D4"/>
                </a:solidFill>
                <a:latin typeface="Consolas"/>
                <a:cs typeface="Consolas"/>
              </a:rPr>
              <a:t>    </a:t>
            </a:r>
            <a:r>
              <a:rPr lang="en-US" sz="1400" dirty="0">
                <a:solidFill>
                  <a:srgbClr val="DCDCAA"/>
                </a:solidFill>
                <a:latin typeface="Consolas"/>
                <a:cs typeface="Consolas"/>
              </a:rPr>
              <a:t>RandomForestClassifier</a:t>
            </a:r>
            <a:r>
              <a:rPr lang="en-US" sz="1400" dirty="0">
                <a:solidFill>
                  <a:srgbClr val="D4D4D4"/>
                </a:solidFill>
                <a:latin typeface="Consolas"/>
                <a:cs typeface="Consolas"/>
              </a:rPr>
              <a:t>(random_state=</a:t>
            </a:r>
            <a:r>
              <a:rPr lang="en-US" sz="1400" dirty="0">
                <a:solidFill>
                  <a:srgbClr val="B5CEA8"/>
                </a:solidFill>
                <a:latin typeface="Consolas"/>
                <a:cs typeface="Consolas"/>
              </a:rPr>
              <a:t>42</a:t>
            </a:r>
            <a:r>
              <a:rPr lang="en-US" sz="1400" dirty="0">
                <a:solidFill>
                  <a:srgbClr val="D4D4D4"/>
                </a:solidFill>
                <a:latin typeface="Consolas"/>
                <a:cs typeface="Consolas"/>
              </a:rPr>
              <a:t>, n_jobs=</a:t>
            </a:r>
            <a:r>
              <a:rPr lang="en-US" sz="1400" dirty="0">
                <a:solidFill>
                  <a:srgbClr val="B5CEA8"/>
                </a:solidFill>
                <a:latin typeface="Consolas"/>
                <a:cs typeface="Consolas"/>
              </a:rPr>
              <a:t>-1</a:t>
            </a:r>
            <a:r>
              <a:rPr lang="en-US" sz="1400" dirty="0">
                <a:solidFill>
                  <a:srgbClr val="D4D4D4"/>
                </a:solidFill>
                <a:latin typeface="Consolas"/>
                <a:cs typeface="Consolas"/>
              </a:rPr>
              <a:t>),</a:t>
            </a:r>
          </a:p>
          <a:p>
            <a:pPr marL="0" indent="0" algn="l">
              <a:lnSpc>
                <a:spcPts val="1700"/>
              </a:lnSpc>
              <a:buNone/>
            </a:pPr>
            <a:r>
              <a:rPr lang="en-US" sz="1400" dirty="0">
                <a:solidFill>
                  <a:srgbClr val="D4D4D4"/>
                </a:solidFill>
                <a:latin typeface="Consolas"/>
                <a:cs typeface="Consolas"/>
              </a:rPr>
              <a:t>    param_grid=param_grid,</a:t>
            </a:r>
          </a:p>
          <a:p>
            <a:pPr marL="0" indent="0" algn="l">
              <a:lnSpc>
                <a:spcPts val="1700"/>
              </a:lnSpc>
              <a:buNone/>
            </a:pPr>
            <a:r>
              <a:rPr lang="en-US" sz="1400" dirty="0">
                <a:solidFill>
                  <a:srgbClr val="D4D4D4"/>
                </a:solidFill>
                <a:latin typeface="Consolas"/>
                <a:cs typeface="Consolas"/>
              </a:rPr>
              <a:t>    scoring=</a:t>
            </a:r>
            <a:r>
              <a:rPr lang="en-US" sz="1400" dirty="0">
                <a:solidFill>
                  <a:srgbClr val="CE9178"/>
                </a:solidFill>
                <a:latin typeface="Consolas"/>
                <a:cs typeface="Consolas"/>
              </a:rPr>
              <a:t>"roc_auc"</a:t>
            </a:r>
            <a:r>
              <a:rPr lang="en-US" sz="1400" dirty="0">
                <a:solidFill>
                  <a:srgbClr val="D4D4D4"/>
                </a:solidFill>
                <a:latin typeface="Consolas"/>
                <a:cs typeface="Consolas"/>
              </a:rPr>
              <a:t>, cv=split,</a:t>
            </a:r>
          </a:p>
          <a:p>
            <a:pPr marL="0" indent="0" algn="l">
              <a:lnSpc>
                <a:spcPts val="1700"/>
              </a:lnSpc>
              <a:buNone/>
            </a:pPr>
            <a:r>
              <a:rPr lang="en-US" sz="1400" dirty="0">
                <a:solidFill>
                  <a:srgbClr val="D4D4D4"/>
                </a:solidFill>
                <a:latin typeface="Consolas"/>
                <a:cs typeface="Consolas"/>
              </a:rPr>
              <a:t>)</a:t>
            </a:r>
          </a:p>
          <a:p>
            <a:pPr marL="0" indent="0" algn="l">
              <a:lnSpc>
                <a:spcPts val="1700"/>
              </a:lnSpc>
              <a:buNone/>
            </a:pPr>
            <a:r>
              <a:rPr lang="en-US" sz="1400" dirty="0">
                <a:solidFill>
                  <a:srgbClr val="D4D4D4"/>
                </a:solidFill>
                <a:latin typeface="Consolas"/>
                <a:cs typeface="Consolas"/>
              </a:rPr>
              <a:t>search.</a:t>
            </a:r>
            <a:r>
              <a:rPr lang="en-US" sz="1400" dirty="0">
                <a:solidFill>
                  <a:srgbClr val="DCDCAA"/>
                </a:solidFill>
                <a:latin typeface="Consolas"/>
                <a:cs typeface="Consolas"/>
              </a:rPr>
              <a:t>fit</a:t>
            </a:r>
            <a:r>
              <a:rPr lang="en-US" sz="1400" dirty="0">
                <a:solidFill>
                  <a:srgbClr val="D4D4D4"/>
                </a:solidFill>
                <a:latin typeface="Consolas"/>
                <a:cs typeface="Consolas"/>
              </a:rPr>
              <a:t>(X_tune, y_tune)</a:t>
            </a:r>
          </a:p>
        </p:txBody>
      </p:sp>
      <p:sp>
        <p:nvSpPr>
          <p:cNvPr id="5" name="Caption">
            <a:extLst>
              <a:ext uri="{FF2B5EF4-FFF2-40B4-BE49-F238E27FC236}">
                <a16:creationId xmlns:a16="http://schemas.microsoft.com/office/drawing/2014/main" id="{70B59A76-9565-1643-85DF-51F3CC759C0A}"/>
              </a:ext>
            </a:extLst>
          </p:cNvPr>
          <p:cNvSpPr txBox="1"/>
          <p:nvPr/>
        </p:nvSpPr>
        <p:spPr>
          <a:xfrm>
            <a:off x="7493000" y="1778000"/>
            <a:ext cx="4318000" cy="2277611"/>
          </a:xfrm>
          <a:prstGeom prst="rect">
            <a:avLst/>
          </a:prstGeom>
          <a:noFill/>
          <a:ln>
            <a:noFill/>
          </a:ln>
        </p:spPr>
        <p:txBody>
          <a:bodyPr vertOverflow="overflow" vert="horz" wrap="square" rtlCol="0" anchor="t">
            <a:spAutoFit/>
          </a:bodyPr>
          <a:lstStyle/>
          <a:p>
            <a:pPr marL="0" indent="0" algn="l">
              <a:lnSpc>
                <a:spcPts val="2200"/>
              </a:lnSpc>
              <a:spcAft>
                <a:spcPts val="600"/>
              </a:spcAft>
              <a:buNone/>
            </a:pPr>
            <a:r>
              <a:rPr lang="en-US" sz="1800" b="1" dirty="0">
                <a:solidFill>
                  <a:srgbClr val="1A1A1A"/>
                </a:solidFill>
              </a:rPr>
              <a:t>Grid search with a fixed fold</a:t>
            </a:r>
          </a:p>
          <a:p>
            <a:pPr marL="171450" indent="-171450" algn="l">
              <a:lnSpc>
                <a:spcPts val="1900"/>
              </a:lnSpc>
              <a:spcAft>
                <a:spcPts val="500"/>
              </a:spcAft>
              <a:buFont typeface="Arial"/>
              <a:buChar char="•"/>
            </a:pPr>
            <a:r>
              <a:rPr lang="en-US" sz="1500" b="1" dirty="0"/>
              <a:t>24 combinations</a:t>
            </a:r>
            <a:r>
              <a:rPr lang="en-US" sz="1500" dirty="0"/>
              <a:t> evaluated against ROC-AUC on the held-out validation rows.</a:t>
            </a:r>
          </a:p>
          <a:p>
            <a:pPr marL="171450" indent="-171450" algn="l">
              <a:lnSpc>
                <a:spcPts val="1900"/>
              </a:lnSpc>
              <a:spcAft>
                <a:spcPts val="500"/>
              </a:spcAft>
              <a:buFont typeface="Arial"/>
              <a:buChar char="•"/>
            </a:pPr>
            <a:r>
              <a:rPr lang="en-US" sz="1500" b="1" dirty="0"/>
              <a:t>PredefinedSplit</a:t>
            </a:r>
            <a:r>
              <a:rPr lang="en-US" sz="1500" dirty="0"/>
              <a:t> — we are using a predefined split for simplicity. We should consider spatial autocorrelation. The results could be inflated.</a:t>
            </a:r>
          </a:p>
          <a:p>
            <a:pPr marL="171450" indent="-171450" algn="l">
              <a:lnSpc>
                <a:spcPts val="1900"/>
              </a:lnSpc>
              <a:spcAft>
                <a:spcPts val="500"/>
              </a:spcAft>
              <a:buFont typeface="Arial"/>
              <a:buChar char="•"/>
            </a:pPr>
            <a:r>
              <a:rPr lang="en-US" sz="1500" b="1" dirty="0"/>
              <a:t>Winner</a:t>
            </a:r>
            <a:r>
              <a:rPr lang="en-US" sz="1500" dirty="0"/>
              <a:t> — 300 trees, sqrt features, no depth cap. Validation AUC 0.842.</a:t>
            </a:r>
          </a:p>
        </p:txBody>
      </p:sp>
    </p:spTree>
    <p:extLst>
      <p:ext uri="{BB962C8B-B14F-4D97-AF65-F5344CB8AC3E}">
        <p14:creationId xmlns:p14="http://schemas.microsoft.com/office/powerpoint/2010/main" val="55672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D086-8BBD-5A1D-0768-C037DE99740E}"/>
              </a:ext>
            </a:extLst>
          </p:cNvPr>
          <p:cNvSpPr>
            <a:spLocks noGrp="1"/>
          </p:cNvSpPr>
          <p:nvPr>
            <p:ph type="title" idx="4294967295"/>
          </p:nvPr>
        </p:nvSpPr>
        <p:spPr>
          <a:xfrm>
            <a:off x="0" y="365125"/>
            <a:ext cx="10515600" cy="1325563"/>
          </a:xfrm>
        </p:spPr>
        <p:txBody>
          <a:bodyPr/>
          <a:lstStyle/>
          <a:p>
            <a:r>
              <a:rPr lang="it-IT"/>
              <a:t>Training the final model</a:t>
            </a:r>
          </a:p>
        </p:txBody>
      </p:sp>
      <p:sp>
        <p:nvSpPr>
          <p:cNvPr id="3" name="Content Placeholder 2">
            <a:extLst>
              <a:ext uri="{FF2B5EF4-FFF2-40B4-BE49-F238E27FC236}">
                <a16:creationId xmlns:a16="http://schemas.microsoft.com/office/drawing/2014/main" id="{071B5ABF-98A0-0767-1E18-647FE326AF21}"/>
              </a:ext>
            </a:extLst>
          </p:cNvPr>
          <p:cNvSpPr>
            <a:spLocks noGrp="1"/>
          </p:cNvSpPr>
          <p:nvPr>
            <p:ph idx="4294967295"/>
          </p:nvPr>
        </p:nvSpPr>
        <p:spPr>
          <a:xfrm>
            <a:off x="0" y="1825625"/>
            <a:ext cx="10515600" cy="4351338"/>
          </a:xfrm>
        </p:spPr>
        <p:txBody>
          <a:bodyPr/>
          <a:lstStyle/>
          <a:p>
            <a:pPr>
              <a:buNone/>
            </a:pPr>
            <a:r>
              <a:rPr lang="en-US" sz="1800" b="1" dirty="0"/>
              <a:t>Two models, two purposes</a:t>
            </a:r>
          </a:p>
          <a:p>
            <a:pPr marL="171450" indent="-171450">
              <a:lnSpc>
                <a:spcPts val="1900"/>
              </a:lnSpc>
              <a:spcAft>
                <a:spcPts val="500"/>
              </a:spcAft>
              <a:buFont typeface="Arial"/>
              <a:buChar char="•"/>
            </a:pPr>
            <a:r>
              <a:rPr lang="en-US" sz="1500" b="1" dirty="0"/>
              <a:t>validation_model</a:t>
            </a:r>
            <a:r>
              <a:rPr lang="en-US" sz="1500" dirty="0"/>
              <a:t> — fit on the 80% training split only, so the validation rows stay untouched and give honest tuning metrics.</a:t>
            </a:r>
          </a:p>
          <a:p>
            <a:pPr marL="171450" indent="-171450">
              <a:lnSpc>
                <a:spcPts val="1900"/>
              </a:lnSpc>
              <a:spcAft>
                <a:spcPts val="500"/>
              </a:spcAft>
              <a:buFont typeface="Arial"/>
              <a:buChar char="•"/>
            </a:pPr>
            <a:r>
              <a:rPr lang="en-US" sz="1500" b="1" dirty="0"/>
              <a:t>rf_model</a:t>
            </a:r>
            <a:r>
              <a:rPr lang="en-US" sz="1500" dirty="0"/>
              <a:t> — refit on the full balanced 1997–2015 pool; used for the 2016–2022 hold-out and the susceptibility map.</a:t>
            </a:r>
          </a:p>
          <a:p>
            <a:pPr>
              <a:lnSpc>
                <a:spcPts val="1900"/>
              </a:lnSpc>
              <a:spcBef>
                <a:spcPts val="400"/>
              </a:spcBef>
              <a:spcAft>
                <a:spcPts val="300"/>
              </a:spcAft>
              <a:buNone/>
            </a:pPr>
            <a:r>
              <a:rPr lang="en-US" sz="1800" b="1" dirty="0"/>
              <a:t>Selected hyperparameters</a:t>
            </a:r>
          </a:p>
          <a:p>
            <a:pPr marL="171450" indent="-171450">
              <a:lnSpc>
                <a:spcPts val="1900"/>
              </a:lnSpc>
              <a:spcAft>
                <a:spcPts val="500"/>
              </a:spcAft>
              <a:buFont typeface="Arial"/>
              <a:buChar char="•"/>
            </a:pPr>
            <a:r>
              <a:rPr lang="en-US" sz="1500" dirty="0"/>
              <a:t>n_estimators=300, max_features="sqrt", min_samples_leaf=1, max_depth=None.</a:t>
            </a:r>
          </a:p>
        </p:txBody>
      </p:sp>
    </p:spTree>
    <p:extLst>
      <p:ext uri="{BB962C8B-B14F-4D97-AF65-F5344CB8AC3E}">
        <p14:creationId xmlns:p14="http://schemas.microsoft.com/office/powerpoint/2010/main" val="4144133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7E3D6-787E-9CCF-6301-1627393409E0}"/>
              </a:ext>
            </a:extLst>
          </p:cNvPr>
          <p:cNvSpPr>
            <a:spLocks noGrp="1"/>
          </p:cNvSpPr>
          <p:nvPr>
            <p:ph type="title" idx="4294967295"/>
          </p:nvPr>
        </p:nvSpPr>
        <p:spPr>
          <a:xfrm>
            <a:off x="0" y="365125"/>
            <a:ext cx="10515600" cy="1325563"/>
          </a:xfrm>
        </p:spPr>
        <p:txBody>
          <a:bodyPr/>
          <a:lstStyle/>
          <a:p>
            <a:r>
              <a:rPr lang="it-IT"/>
              <a:t>Peeking inside one tree</a:t>
            </a:r>
          </a:p>
        </p:txBody>
      </p:sp>
      <p:sp>
        <p:nvSpPr>
          <p:cNvPr id="3" name="Content Placeholder 2">
            <a:extLst>
              <a:ext uri="{FF2B5EF4-FFF2-40B4-BE49-F238E27FC236}">
                <a16:creationId xmlns:a16="http://schemas.microsoft.com/office/drawing/2014/main" id="{DF95AE7B-9B2E-E16F-4E17-8AFFBA2C9C0B}"/>
              </a:ext>
            </a:extLst>
          </p:cNvPr>
          <p:cNvSpPr>
            <a:spLocks noGrp="1"/>
          </p:cNvSpPr>
          <p:nvPr>
            <p:ph idx="4294967295"/>
          </p:nvPr>
        </p:nvSpPr>
        <p:spPr>
          <a:xfrm>
            <a:off x="0" y="5461000"/>
            <a:ext cx="10515600" cy="1016000"/>
          </a:xfrm>
        </p:spPr>
        <p:txBody>
          <a:bodyPr/>
          <a:lstStyle/>
          <a:p>
            <a:pPr marL="171450" indent="-171450" algn="l">
              <a:lnSpc>
                <a:spcPts val="1700"/>
              </a:lnSpc>
              <a:spcAft>
                <a:spcPts val="300"/>
              </a:spcAft>
              <a:buFont typeface="Arial"/>
              <a:buChar char="•"/>
            </a:pPr>
            <a:r>
              <a:rPr lang="en-US" sz="1400" dirty="0"/>
              <a:t>Root split is </a:t>
            </a:r>
            <a:r>
              <a:rPr lang="en-US" sz="1400" b="1" dirty="0"/>
              <a:t>aspect_northness</a:t>
            </a:r>
            <a:r>
              <a:rPr lang="en-US" sz="1400" dirty="0"/>
              <a:t> — south-facing slopes (left branch) skew "burned"; north-facing (right) skew "unburned".</a:t>
            </a:r>
          </a:p>
          <a:p>
            <a:pPr marL="171450" indent="-171450" algn="l">
              <a:lnSpc>
                <a:spcPts val="1700"/>
              </a:lnSpc>
              <a:spcAft>
                <a:spcPts val="300"/>
              </a:spcAft>
              <a:buFont typeface="Arial"/>
              <a:buChar char="•"/>
            </a:pPr>
            <a:r>
              <a:rPr lang="en-US" sz="1400" dirty="0"/>
              <a:t>Vegetation one-hots dominate deeper splits — confirms the EDA signal. One tree is noisy; the forest averages 300 of these for a stable score.</a:t>
            </a:r>
          </a:p>
        </p:txBody>
      </p:sp>
      <p:pic>
        <p:nvPicPr>
          <p:cNvPr id="4" name="Picture 3">
            <a:extLst>
              <a:ext uri="{FF2B5EF4-FFF2-40B4-BE49-F238E27FC236}">
                <a16:creationId xmlns:a16="http://schemas.microsoft.com/office/drawing/2014/main" id="{DC7E36D4-F52A-334A-C2EE-D3F1896C2EF0}"/>
              </a:ext>
            </a:extLst>
          </p:cNvPr>
          <p:cNvPicPr>
            <a:picLocks noChangeAspect="1"/>
          </p:cNvPicPr>
          <p:nvPr/>
        </p:nvPicPr>
        <p:blipFill>
          <a:blip r:embed="rId2"/>
          <a:stretch>
            <a:fillRect/>
          </a:stretch>
        </p:blipFill>
        <p:spPr>
          <a:xfrm>
            <a:off x="1016000" y="1714500"/>
            <a:ext cx="10160000" cy="3594100"/>
          </a:xfrm>
          <a:prstGeom prst="rect">
            <a:avLst/>
          </a:prstGeom>
        </p:spPr>
      </p:pic>
    </p:spTree>
    <p:extLst>
      <p:ext uri="{BB962C8B-B14F-4D97-AF65-F5344CB8AC3E}">
        <p14:creationId xmlns:p14="http://schemas.microsoft.com/office/powerpoint/2010/main" val="2503513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DD4E3-9CA4-9C98-4DCD-7BDA49B0DFE4}"/>
              </a:ext>
            </a:extLst>
          </p:cNvPr>
          <p:cNvSpPr>
            <a:spLocks noGrp="1"/>
          </p:cNvSpPr>
          <p:nvPr>
            <p:ph type="title" idx="4294967295"/>
          </p:nvPr>
        </p:nvSpPr>
        <p:spPr>
          <a:xfrm>
            <a:off x="0" y="187325"/>
            <a:ext cx="10515600" cy="1325563"/>
          </a:xfrm>
        </p:spPr>
        <p:txBody>
          <a:bodyPr/>
          <a:lstStyle/>
          <a:p>
            <a:r>
              <a:rPr lang="en-GB" dirty="0"/>
              <a:t>Confusion matrix</a:t>
            </a:r>
          </a:p>
        </p:txBody>
      </p:sp>
      <p:sp>
        <p:nvSpPr>
          <p:cNvPr id="3" name="Content Placeholder 2">
            <a:extLst>
              <a:ext uri="{FF2B5EF4-FFF2-40B4-BE49-F238E27FC236}">
                <a16:creationId xmlns:a16="http://schemas.microsoft.com/office/drawing/2014/main" id="{8322233F-AEE8-872E-4D83-4FB31BA8DFFD}"/>
              </a:ext>
            </a:extLst>
          </p:cNvPr>
          <p:cNvSpPr>
            <a:spLocks noGrp="1"/>
          </p:cNvSpPr>
          <p:nvPr>
            <p:ph idx="4294967295"/>
          </p:nvPr>
        </p:nvSpPr>
        <p:spPr>
          <a:xfrm>
            <a:off x="0" y="1512888"/>
            <a:ext cx="5181600" cy="4648200"/>
          </a:xfrm>
        </p:spPr>
        <p:txBody>
          <a:bodyPr>
            <a:normAutofit/>
          </a:bodyPr>
          <a:lstStyle/>
          <a:p>
            <a:pPr marL="0" indent="0">
              <a:buNone/>
            </a:pPr>
            <a:r>
              <a:rPr lang="en-US" sz="1600" dirty="0"/>
              <a:t>A </a:t>
            </a:r>
            <a:r>
              <a:rPr lang="en-US" sz="1600" b="1" dirty="0"/>
              <a:t>confusion matrix</a:t>
            </a:r>
            <a:r>
              <a:rPr lang="en-US" sz="1600" dirty="0"/>
              <a:t> compares predicted vs actual labels: each row is the true class, each column is the predicted class.</a:t>
            </a:r>
          </a:p>
          <a:p>
            <a:pPr marL="171450" indent="-171450">
              <a:spcBef>
                <a:spcPts val="400"/>
              </a:spcBef>
              <a:buFont typeface="Arial"/>
              <a:buChar char="•"/>
            </a:pPr>
            <a:r>
              <a:rPr lang="en-US" sz="1500" b="1" dirty="0"/>
              <a:t>Sensitivity (Recall, TPR): </a:t>
            </a:r>
            <a:r>
              <a:rPr lang="en-US" sz="1500" dirty="0"/>
              <a:t>TP / (TP + FN) — share of burned pixels correctly flagged.</a:t>
            </a:r>
          </a:p>
          <a:p>
            <a:pPr marL="171450" indent="-171450">
              <a:spcBef>
                <a:spcPts val="200"/>
              </a:spcBef>
              <a:buFont typeface="Arial"/>
              <a:buChar char="•"/>
            </a:pPr>
            <a:r>
              <a:rPr lang="en-US" sz="1500" b="1" dirty="0"/>
              <a:t>Specificity (TNR): </a:t>
            </a:r>
            <a:r>
              <a:rPr lang="en-US" sz="1500" dirty="0"/>
              <a:t>TN / (TN + FP) — share of unburned correctly left alone.</a:t>
            </a:r>
          </a:p>
          <a:p>
            <a:pPr marL="171450" indent="-171450">
              <a:spcBef>
                <a:spcPts val="200"/>
              </a:spcBef>
              <a:buFont typeface="Arial"/>
              <a:buChar char="•"/>
            </a:pPr>
            <a:r>
              <a:rPr lang="en-US" sz="1500" b="1" dirty="0"/>
              <a:t>FPR: </a:t>
            </a:r>
            <a:r>
              <a:rPr lang="en-US" sz="1500" dirty="0"/>
              <a:t>FP / (TN + FP) — false-alarm rate (= 1 − Specificity).</a:t>
            </a:r>
          </a:p>
          <a:p>
            <a:pPr marL="171450" indent="-171450">
              <a:spcBef>
                <a:spcPts val="200"/>
              </a:spcBef>
              <a:buFont typeface="Arial"/>
              <a:buChar char="•"/>
            </a:pPr>
            <a:r>
              <a:rPr lang="en-US" sz="1500" b="1" dirty="0"/>
              <a:t>Precision: </a:t>
            </a:r>
            <a:r>
              <a:rPr lang="en-US" sz="1500" dirty="0"/>
              <a:t>TP / (TP + FP) — of flagged pixels, how many really burned.</a:t>
            </a:r>
          </a:p>
          <a:p>
            <a:pPr marL="171450" indent="-171450">
              <a:spcBef>
                <a:spcPts val="200"/>
              </a:spcBef>
              <a:buFont typeface="Arial"/>
              <a:buChar char="•"/>
            </a:pPr>
            <a:r>
              <a:rPr lang="en-US" sz="1500" b="1" dirty="0"/>
              <a:t>F1: </a:t>
            </a:r>
            <a:r>
              <a:rPr lang="en-US" sz="1500" dirty="0"/>
              <a:t>harmonic mean of Precision and Recall.</a:t>
            </a:r>
          </a:p>
          <a:p>
            <a:pPr marL="0" indent="0">
              <a:spcBef>
                <a:spcPts val="600"/>
              </a:spcBef>
              <a:buNone/>
            </a:pPr>
            <a:r>
              <a:rPr lang="en-US" sz="1400" i="1" dirty="0">
                <a:solidFill>
                  <a:srgbClr val="B45309"/>
                </a:solidFill>
              </a:rPr>
              <a:t>⚠ Under rare-event imbalance (fire ≈ 1.5%), accuracy is misleading — a model that predicts “unburned” everywhere scores 98.5%.</a:t>
            </a:r>
          </a:p>
        </p:txBody>
      </p:sp>
      <p:pic>
        <p:nvPicPr>
          <p:cNvPr id="7" name="Picture 6">
            <a:extLst>
              <a:ext uri="{FF2B5EF4-FFF2-40B4-BE49-F238E27FC236}">
                <a16:creationId xmlns:a16="http://schemas.microsoft.com/office/drawing/2014/main" id="{BD21790A-B6E2-F418-2471-68462EC202B3}"/>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a:off x="5788781" y="1690688"/>
            <a:ext cx="6155890" cy="4063849"/>
          </a:xfrm>
          <a:prstGeom prst="rect">
            <a:avLst/>
          </a:prstGeom>
        </p:spPr>
      </p:pic>
    </p:spTree>
    <p:extLst>
      <p:ext uri="{BB962C8B-B14F-4D97-AF65-F5344CB8AC3E}">
        <p14:creationId xmlns:p14="http://schemas.microsoft.com/office/powerpoint/2010/main" val="2295494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74F56-80DE-FDC8-B5E1-412FBD633AC5}"/>
              </a:ext>
            </a:extLst>
          </p:cNvPr>
          <p:cNvSpPr>
            <a:spLocks noGrp="1"/>
          </p:cNvSpPr>
          <p:nvPr>
            <p:ph type="title" idx="4294967295"/>
          </p:nvPr>
        </p:nvSpPr>
        <p:spPr>
          <a:xfrm>
            <a:off x="0" y="365125"/>
            <a:ext cx="10515600" cy="1325563"/>
          </a:xfrm>
        </p:spPr>
        <p:txBody>
          <a:bodyPr>
            <a:normAutofit/>
          </a:bodyPr>
          <a:lstStyle/>
          <a:p>
            <a:r>
              <a:rPr lang="it-IT" sz="2800" b="1"/>
              <a:t>Balanced confusion matrix, in code</a:t>
            </a:r>
          </a:p>
        </p:txBody>
      </p:sp>
      <p:sp>
        <p:nvSpPr>
          <p:cNvPr id="3" name="CodeBg">
            <a:extLst>
              <a:ext uri="{FF2B5EF4-FFF2-40B4-BE49-F238E27FC236}">
                <a16:creationId xmlns:a16="http://schemas.microsoft.com/office/drawing/2014/main" id="{3A4BF2F3-B5E1-A543-A5BD-A20DD37F1C0B}"/>
              </a:ext>
            </a:extLst>
          </p:cNvPr>
          <p:cNvSpPr/>
          <p:nvPr/>
        </p:nvSpPr>
        <p:spPr>
          <a:xfrm>
            <a:off x="381000" y="1778000"/>
            <a:ext cx="6858000" cy="4699000"/>
          </a:xfrm>
          <a:prstGeom prst="rect">
            <a:avLst/>
          </a:prstGeom>
          <a:solidFill>
            <a:srgbClr val="1E1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4" name="CodeText">
            <a:extLst>
              <a:ext uri="{FF2B5EF4-FFF2-40B4-BE49-F238E27FC236}">
                <a16:creationId xmlns:a16="http://schemas.microsoft.com/office/drawing/2014/main" id="{73DE9141-0A55-1A47-B061-567E82C03065}"/>
              </a:ext>
            </a:extLst>
          </p:cNvPr>
          <p:cNvSpPr txBox="1"/>
          <p:nvPr/>
        </p:nvSpPr>
        <p:spPr>
          <a:xfrm>
            <a:off x="533400" y="1905000"/>
            <a:ext cx="6553200" cy="4445000"/>
          </a:xfrm>
          <a:prstGeom prst="rect">
            <a:avLst/>
          </a:prstGeom>
          <a:noFill/>
          <a:ln>
            <a:noFill/>
          </a:ln>
        </p:spPr>
        <p:txBody>
          <a:bodyPr vertOverflow="overflow" vert="horz" wrap="square" rtlCol="0" anchor="t">
            <a:noAutofit/>
          </a:bodyPr>
          <a:lstStyle/>
          <a:p>
            <a:pPr marL="0" indent="0">
              <a:lnSpc>
                <a:spcPts val="1700"/>
              </a:lnSpc>
              <a:buNone/>
            </a:pPr>
            <a:r>
              <a:rPr lang="en-US" sz="1400" dirty="0">
                <a:solidFill>
                  <a:srgbClr val="6A9955"/>
                </a:solidFill>
                <a:latin typeface="Consolas"/>
              </a:rPr>
              <a:t># Subsample unburned to match burned count</a:t>
            </a:r>
          </a:p>
          <a:p>
            <a:pPr marL="0" indent="0">
              <a:lnSpc>
                <a:spcPts val="1700"/>
              </a:lnSpc>
              <a:buNone/>
            </a:pPr>
            <a:r>
              <a:rPr lang="en-US" sz="1400" dirty="0">
                <a:solidFill>
                  <a:srgbClr val="D4D4D4"/>
                </a:solidFill>
                <a:latin typeface="Consolas"/>
              </a:rPr>
              <a:t>burned = test_scores[test_scores[</a:t>
            </a:r>
            <a:r>
              <a:rPr lang="en-US" sz="1400" dirty="0">
                <a:solidFill>
                  <a:srgbClr val="CE9178"/>
                </a:solidFill>
                <a:latin typeface="Consolas"/>
              </a:rPr>
              <a:t>"target"</a:t>
            </a:r>
            <a:r>
              <a:rPr lang="en-US" sz="1400" dirty="0">
                <a:solidFill>
                  <a:srgbClr val="D4D4D4"/>
                </a:solidFill>
                <a:latin typeface="Consolas"/>
              </a:rPr>
              <a:t>] == </a:t>
            </a:r>
            <a:r>
              <a:rPr lang="en-US" sz="1400" dirty="0">
                <a:solidFill>
                  <a:srgbClr val="B5CEA8"/>
                </a:solidFill>
                <a:latin typeface="Consolas"/>
              </a:rPr>
              <a:t>1</a:t>
            </a:r>
            <a:r>
              <a:rPr lang="en-US" sz="1400" dirty="0">
                <a:solidFill>
                  <a:srgbClr val="D4D4D4"/>
                </a:solidFill>
                <a:latin typeface="Consolas"/>
              </a:rPr>
              <a:t>]</a:t>
            </a:r>
          </a:p>
          <a:p>
            <a:pPr marL="0" indent="0">
              <a:lnSpc>
                <a:spcPts val="1700"/>
              </a:lnSpc>
              <a:buNone/>
            </a:pPr>
            <a:r>
              <a:rPr lang="en-US" sz="1400" dirty="0">
                <a:solidFill>
                  <a:srgbClr val="D4D4D4"/>
                </a:solidFill>
                <a:latin typeface="Consolas"/>
              </a:rPr>
              <a:t>unburned = test_scores[test_scores[</a:t>
            </a:r>
            <a:r>
              <a:rPr lang="en-US" sz="1400" dirty="0">
                <a:solidFill>
                  <a:srgbClr val="CE9178"/>
                </a:solidFill>
                <a:latin typeface="Consolas"/>
              </a:rPr>
              <a:t>"target"</a:t>
            </a:r>
            <a:r>
              <a:rPr lang="en-US" sz="1400" dirty="0">
                <a:solidFill>
                  <a:srgbClr val="D4D4D4"/>
                </a:solidFill>
                <a:latin typeface="Consolas"/>
              </a:rPr>
              <a:t>] == </a:t>
            </a:r>
            <a:r>
              <a:rPr lang="en-US" sz="1400" dirty="0">
                <a:solidFill>
                  <a:srgbClr val="B5CEA8"/>
                </a:solidFill>
                <a:latin typeface="Consolas"/>
              </a:rPr>
              <a:t>0</a:t>
            </a:r>
            <a:r>
              <a:rPr lang="en-US" sz="1400" dirty="0">
                <a:solidFill>
                  <a:srgbClr val="D4D4D4"/>
                </a:solidFill>
                <a:latin typeface="Consolas"/>
              </a:rPr>
              <a:t>].sample(</a:t>
            </a:r>
          </a:p>
          <a:p>
            <a:pPr marL="0" indent="0">
              <a:lnSpc>
                <a:spcPts val="1700"/>
              </a:lnSpc>
              <a:buNone/>
            </a:pPr>
            <a:r>
              <a:rPr lang="en-US" sz="1400" dirty="0">
                <a:solidFill>
                  <a:srgbClr val="D4D4D4"/>
                </a:solidFill>
                <a:latin typeface="Consolas"/>
              </a:rPr>
              <a:t>    n=</a:t>
            </a:r>
            <a:r>
              <a:rPr lang="en-US" sz="1400" dirty="0">
                <a:solidFill>
                  <a:srgbClr val="DCDCAA"/>
                </a:solidFill>
                <a:latin typeface="Consolas"/>
              </a:rPr>
              <a:t>len</a:t>
            </a:r>
            <a:r>
              <a:rPr lang="en-US" sz="1400" dirty="0">
                <a:solidFill>
                  <a:srgbClr val="D4D4D4"/>
                </a:solidFill>
                <a:latin typeface="Consolas"/>
              </a:rPr>
              <a:t>(burned), random_state=</a:t>
            </a:r>
            <a:r>
              <a:rPr lang="en-US" sz="1400" dirty="0">
                <a:solidFill>
                  <a:srgbClr val="B5CEA8"/>
                </a:solidFill>
                <a:latin typeface="Consolas"/>
              </a:rPr>
              <a:t>42</a:t>
            </a:r>
            <a:r>
              <a:rPr lang="en-US" sz="1400" dirty="0">
                <a:solidFill>
                  <a:srgbClr val="D4D4D4"/>
                </a:solidFill>
                <a:latin typeface="Consolas"/>
              </a:rPr>
              <a:t>)</a:t>
            </a:r>
          </a:p>
          <a:p>
            <a:pPr marL="0" indent="0">
              <a:lnSpc>
                <a:spcPts val="1700"/>
              </a:lnSpc>
              <a:buNone/>
            </a:pPr>
            <a:r>
              <a:rPr lang="en-US" sz="1400" dirty="0">
                <a:solidFill>
                  <a:srgbClr val="D4D4D4"/>
                </a:solidFill>
                <a:latin typeface="Consolas"/>
              </a:rPr>
              <a:t>balanced = pd.concat([burned, unburned])</a:t>
            </a:r>
          </a:p>
          <a:p>
            <a:pPr marL="0" indent="0">
              <a:lnSpc>
                <a:spcPts val="1700"/>
              </a:lnSpc>
              <a:buNone/>
            </a:pPr>
            <a:r>
              <a:rPr lang="en-US" sz="1400" dirty="0">
                <a:solidFill>
                  <a:srgbClr val="D4D4D4"/>
                </a:solidFill>
                <a:latin typeface="Consolas"/>
              </a:rPr>
              <a:t> </a:t>
            </a:r>
          </a:p>
          <a:p>
            <a:pPr marL="0" indent="0">
              <a:lnSpc>
                <a:spcPts val="1700"/>
              </a:lnSpc>
              <a:buNone/>
            </a:pPr>
            <a:r>
              <a:rPr lang="en-US" sz="1400" dirty="0">
                <a:solidFill>
                  <a:srgbClr val="6A9955"/>
                </a:solidFill>
                <a:latin typeface="Consolas"/>
              </a:rPr>
              <a:t># Predict at 0.50 threshold</a:t>
            </a:r>
          </a:p>
          <a:p>
            <a:pPr marL="0" indent="0">
              <a:lnSpc>
                <a:spcPts val="1700"/>
              </a:lnSpc>
              <a:buNone/>
            </a:pPr>
            <a:r>
              <a:rPr lang="en-US" sz="1400" dirty="0">
                <a:solidFill>
                  <a:srgbClr val="D4D4D4"/>
                </a:solidFill>
                <a:latin typeface="Consolas"/>
              </a:rPr>
              <a:t>y_pred = balanced[</a:t>
            </a:r>
            <a:r>
              <a:rPr lang="en-US" sz="1400" dirty="0">
                <a:solidFill>
                  <a:srgbClr val="CE9178"/>
                </a:solidFill>
                <a:latin typeface="Consolas"/>
              </a:rPr>
              <a:t>"score"</a:t>
            </a:r>
            <a:r>
              <a:rPr lang="en-US" sz="1400" dirty="0">
                <a:solidFill>
                  <a:srgbClr val="D4D4D4"/>
                </a:solidFill>
                <a:latin typeface="Consolas"/>
              </a:rPr>
              <a:t>] &gt;= </a:t>
            </a:r>
            <a:r>
              <a:rPr lang="en-US" sz="1400" dirty="0">
                <a:solidFill>
                  <a:srgbClr val="B5CEA8"/>
                </a:solidFill>
                <a:latin typeface="Consolas"/>
              </a:rPr>
              <a:t>0.50</a:t>
            </a:r>
          </a:p>
          <a:p>
            <a:pPr marL="0" indent="0">
              <a:lnSpc>
                <a:spcPts val="1700"/>
              </a:lnSpc>
              <a:buNone/>
            </a:pPr>
            <a:r>
              <a:rPr lang="en-US" sz="1400" dirty="0">
                <a:solidFill>
                  <a:srgbClr val="D4D4D4"/>
                </a:solidFill>
                <a:latin typeface="Consolas"/>
              </a:rPr>
              <a:t> </a:t>
            </a:r>
          </a:p>
          <a:p>
            <a:pPr marL="0" indent="0">
              <a:lnSpc>
                <a:spcPts val="1700"/>
              </a:lnSpc>
              <a:buNone/>
            </a:pPr>
            <a:r>
              <a:rPr lang="en-US" sz="1400" dirty="0">
                <a:solidFill>
                  <a:srgbClr val="DCDCAA"/>
                </a:solidFill>
                <a:latin typeface="Consolas"/>
              </a:rPr>
              <a:t>ConfusionMatrixDisplay</a:t>
            </a:r>
            <a:r>
              <a:rPr lang="en-US" sz="1400" dirty="0">
                <a:solidFill>
                  <a:srgbClr val="D4D4D4"/>
                </a:solidFill>
                <a:latin typeface="Consolas"/>
              </a:rPr>
              <a:t>.from_predictions(</a:t>
            </a:r>
          </a:p>
          <a:p>
            <a:pPr marL="0" indent="0">
              <a:lnSpc>
                <a:spcPts val="1700"/>
              </a:lnSpc>
              <a:buNone/>
            </a:pPr>
            <a:r>
              <a:rPr lang="en-US" sz="1400" dirty="0">
                <a:solidFill>
                  <a:srgbClr val="D4D4D4"/>
                </a:solidFill>
                <a:latin typeface="Consolas"/>
              </a:rPr>
              <a:t>    balanced[</a:t>
            </a:r>
            <a:r>
              <a:rPr lang="en-US" sz="1400" dirty="0">
                <a:solidFill>
                  <a:srgbClr val="CE9178"/>
                </a:solidFill>
                <a:latin typeface="Consolas"/>
              </a:rPr>
              <a:t>"target"</a:t>
            </a:r>
            <a:r>
              <a:rPr lang="en-US" sz="1400" dirty="0">
                <a:solidFill>
                  <a:srgbClr val="D4D4D4"/>
                </a:solidFill>
                <a:latin typeface="Consolas"/>
              </a:rPr>
              <a:t>], y_pred,</a:t>
            </a:r>
          </a:p>
          <a:p>
            <a:pPr marL="0" indent="0">
              <a:lnSpc>
                <a:spcPts val="1700"/>
              </a:lnSpc>
              <a:buNone/>
            </a:pPr>
            <a:r>
              <a:rPr lang="en-US" sz="1400" dirty="0">
                <a:solidFill>
                  <a:srgbClr val="D4D4D4"/>
                </a:solidFill>
                <a:latin typeface="Consolas"/>
              </a:rPr>
              <a:t>    display_labels=[</a:t>
            </a:r>
            <a:r>
              <a:rPr lang="en-US" sz="1400" dirty="0">
                <a:solidFill>
                  <a:srgbClr val="CE9178"/>
                </a:solidFill>
                <a:latin typeface="Consolas"/>
              </a:rPr>
              <a:t>"unburned"</a:t>
            </a:r>
            <a:r>
              <a:rPr lang="en-US" sz="1400" dirty="0">
                <a:solidFill>
                  <a:srgbClr val="D4D4D4"/>
                </a:solidFill>
                <a:latin typeface="Consolas"/>
              </a:rPr>
              <a:t>, </a:t>
            </a:r>
            <a:r>
              <a:rPr lang="en-US" sz="1400" dirty="0">
                <a:solidFill>
                  <a:srgbClr val="CE9178"/>
                </a:solidFill>
                <a:latin typeface="Consolas"/>
              </a:rPr>
              <a:t>"burned"</a:t>
            </a:r>
            <a:r>
              <a:rPr lang="en-US" sz="1400" dirty="0">
                <a:solidFill>
                  <a:srgbClr val="D4D4D4"/>
                </a:solidFill>
                <a:latin typeface="Consolas"/>
              </a:rPr>
              <a:t>])</a:t>
            </a:r>
          </a:p>
          <a:p>
            <a:pPr marL="0" indent="0">
              <a:lnSpc>
                <a:spcPts val="1700"/>
              </a:lnSpc>
              <a:buNone/>
            </a:pPr>
            <a:r>
              <a:rPr lang="en-US" sz="1400" dirty="0">
                <a:solidFill>
                  <a:srgbClr val="D4D4D4"/>
                </a:solidFill>
                <a:latin typeface="Consolas"/>
              </a:rPr>
              <a:t> </a:t>
            </a:r>
          </a:p>
          <a:p>
            <a:pPr marL="0" indent="0">
              <a:lnSpc>
                <a:spcPts val="1700"/>
              </a:lnSpc>
              <a:buNone/>
            </a:pPr>
            <a:r>
              <a:rPr lang="en-US" sz="1400" dirty="0">
                <a:solidFill>
                  <a:srgbClr val="6A9955"/>
                </a:solidFill>
                <a:latin typeface="Consolas"/>
              </a:rPr>
              <a:t># Results on the balanced sample</a:t>
            </a:r>
          </a:p>
          <a:p>
            <a:pPr marL="0" indent="0">
              <a:lnSpc>
                <a:spcPts val="1700"/>
              </a:lnSpc>
              <a:buNone/>
            </a:pPr>
            <a:r>
              <a:rPr lang="en-US" sz="1400" dirty="0">
                <a:solidFill>
                  <a:srgbClr val="6A9955"/>
                </a:solidFill>
                <a:latin typeface="Consolas"/>
              </a:rPr>
              <a:t># accuracy    = 0.721</a:t>
            </a:r>
          </a:p>
          <a:p>
            <a:pPr marL="0" indent="0">
              <a:lnSpc>
                <a:spcPts val="1700"/>
              </a:lnSpc>
              <a:buNone/>
            </a:pPr>
            <a:r>
              <a:rPr lang="en-US" sz="1400" dirty="0">
                <a:solidFill>
                  <a:srgbClr val="6A9955"/>
                </a:solidFill>
                <a:latin typeface="Consolas"/>
              </a:rPr>
              <a:t># sensitivity = 0.728  (TP / (TP+FN))</a:t>
            </a:r>
          </a:p>
          <a:p>
            <a:pPr marL="0" indent="0">
              <a:lnSpc>
                <a:spcPts val="1700"/>
              </a:lnSpc>
              <a:buNone/>
            </a:pPr>
            <a:r>
              <a:rPr lang="en-US" sz="1400" dirty="0">
                <a:solidFill>
                  <a:srgbClr val="6A9955"/>
                </a:solidFill>
                <a:latin typeface="Consolas"/>
              </a:rPr>
              <a:t># specificity = 0.714  (TN / (TN+FP))</a:t>
            </a:r>
          </a:p>
          <a:p>
            <a:pPr marL="0" indent="0">
              <a:lnSpc>
                <a:spcPts val="1700"/>
              </a:lnSpc>
              <a:buNone/>
            </a:pPr>
            <a:r>
              <a:rPr lang="en-US" sz="1400" dirty="0">
                <a:solidFill>
                  <a:srgbClr val="6A9955"/>
                </a:solidFill>
                <a:latin typeface="Consolas"/>
              </a:rPr>
              <a:t># F1          = 0.722</a:t>
            </a:r>
          </a:p>
        </p:txBody>
      </p:sp>
      <p:sp>
        <p:nvSpPr>
          <p:cNvPr id="5" name="Caption">
            <a:extLst>
              <a:ext uri="{FF2B5EF4-FFF2-40B4-BE49-F238E27FC236}">
                <a16:creationId xmlns:a16="http://schemas.microsoft.com/office/drawing/2014/main" id="{C1219AC8-4CE4-124B-859F-795183E20250}"/>
              </a:ext>
            </a:extLst>
          </p:cNvPr>
          <p:cNvSpPr txBox="1"/>
          <p:nvPr/>
        </p:nvSpPr>
        <p:spPr>
          <a:xfrm>
            <a:off x="7493000" y="1778000"/>
            <a:ext cx="4318000" cy="4699000"/>
          </a:xfrm>
          <a:prstGeom prst="rect">
            <a:avLst/>
          </a:prstGeom>
          <a:noFill/>
          <a:ln>
            <a:noFill/>
          </a:ln>
        </p:spPr>
        <p:txBody>
          <a:bodyPr vertOverflow="overflow" vert="horz" wrap="square" rtlCol="0" anchor="t">
            <a:noAutofit/>
          </a:bodyPr>
          <a:lstStyle/>
          <a:p>
            <a:pPr marL="0" indent="0">
              <a:lnSpc>
                <a:spcPts val="2200"/>
              </a:lnSpc>
              <a:spcAft>
                <a:spcPts val="700"/>
              </a:spcAft>
              <a:buNone/>
            </a:pPr>
            <a:r>
              <a:rPr lang="en-US" sz="1800" b="1" dirty="0">
                <a:solidFill>
                  <a:srgbClr val="222222"/>
                </a:solidFill>
              </a:rPr>
              <a:t>Why balance the test?</a:t>
            </a:r>
          </a:p>
          <a:p>
            <a:pPr marL="171450" indent="-171450">
              <a:lnSpc>
                <a:spcPts val="1900"/>
              </a:lnSpc>
              <a:spcAft>
                <a:spcPts val="500"/>
              </a:spcAft>
              <a:buFont typeface="Arial"/>
              <a:buChar char="•"/>
            </a:pPr>
            <a:r>
              <a:rPr lang="en-US" sz="1500" dirty="0">
                <a:solidFill>
                  <a:srgbClr val="333333"/>
                </a:solidFill>
              </a:rPr>
              <a:t>The real landscape is 98.5% unburned — a 50/50 confusion matrix is easier to read.</a:t>
            </a:r>
          </a:p>
          <a:p>
            <a:pPr marL="171450" indent="-171450">
              <a:lnSpc>
                <a:spcPts val="1900"/>
              </a:lnSpc>
              <a:spcAft>
                <a:spcPts val="500"/>
              </a:spcAft>
              <a:buFont typeface="Arial"/>
              <a:buChar char="•"/>
            </a:pPr>
            <a:r>
              <a:rPr lang="en-US" sz="1500" dirty="0">
                <a:solidFill>
                  <a:srgbClr val="333333"/>
                </a:solidFill>
              </a:rPr>
              <a:t>Both sensitivity (0.73) and specificity (0.71) clear chance: the model has learned real signal.</a:t>
            </a:r>
          </a:p>
          <a:p>
            <a:pPr>
              <a:lnSpc>
                <a:spcPts val="800"/>
              </a:lnSpc>
              <a:buNone/>
            </a:pPr>
            <a:endParaRPr lang="en-US" sz="1000"/>
          </a:p>
          <a:p>
            <a:pPr marL="0" indent="0">
              <a:lnSpc>
                <a:spcPts val="2200"/>
              </a:lnSpc>
              <a:spcAft>
                <a:spcPts val="700"/>
              </a:spcAft>
              <a:buNone/>
            </a:pPr>
            <a:r>
              <a:rPr lang="en-US" sz="1800" b="1" dirty="0">
                <a:solidFill>
                  <a:srgbClr val="222222"/>
                </a:solidFill>
              </a:rPr>
              <a:t>Caveat</a:t>
            </a:r>
          </a:p>
          <a:p>
            <a:pPr marL="171450" indent="-171450">
              <a:lnSpc>
                <a:spcPts val="1900"/>
              </a:lnSpc>
              <a:spcAft>
                <a:spcPts val="500"/>
              </a:spcAft>
              <a:buFont typeface="Arial"/>
              <a:buChar char="•"/>
            </a:pPr>
            <a:r>
              <a:rPr lang="en-US" sz="1500" dirty="0">
                <a:solidFill>
                  <a:srgbClr val="333333"/>
                </a:solidFill>
              </a:rPr>
              <a:t>These rates do not represent operational precision — for that, use ROC-AUC and recall@top%.</a:t>
            </a:r>
          </a:p>
        </p:txBody>
      </p:sp>
    </p:spTree>
    <p:extLst>
      <p:ext uri="{BB962C8B-B14F-4D97-AF65-F5344CB8AC3E}">
        <p14:creationId xmlns:p14="http://schemas.microsoft.com/office/powerpoint/2010/main" val="15715788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8406-95F5-21AF-7FA9-C027ADCB4AEF}"/>
              </a:ext>
            </a:extLst>
          </p:cNvPr>
          <p:cNvSpPr>
            <a:spLocks noGrp="1"/>
          </p:cNvSpPr>
          <p:nvPr>
            <p:ph type="title" idx="4294967295"/>
          </p:nvPr>
        </p:nvSpPr>
        <p:spPr>
          <a:xfrm>
            <a:off x="2133600" y="0"/>
            <a:ext cx="10058400" cy="1450975"/>
          </a:xfrm>
        </p:spPr>
        <p:txBody>
          <a:bodyPr>
            <a:normAutofit/>
          </a:bodyPr>
          <a:lstStyle/>
          <a:p>
            <a:r>
              <a:rPr lang="en-GB"/>
              <a:t>Evaluation metrics</a:t>
            </a:r>
          </a:p>
        </p:txBody>
      </p:sp>
      <p:sp>
        <p:nvSpPr>
          <p:cNvPr id="3" name="Content Placeholder 2">
            <a:extLst>
              <a:ext uri="{FF2B5EF4-FFF2-40B4-BE49-F238E27FC236}">
                <a16:creationId xmlns:a16="http://schemas.microsoft.com/office/drawing/2014/main" id="{723FD341-3DA3-C6BD-1A7D-A9FE8320A6F9}"/>
              </a:ext>
            </a:extLst>
          </p:cNvPr>
          <p:cNvSpPr>
            <a:spLocks noGrp="1"/>
          </p:cNvSpPr>
          <p:nvPr>
            <p:ph idx="4294967295"/>
          </p:nvPr>
        </p:nvSpPr>
        <p:spPr>
          <a:xfrm>
            <a:off x="0" y="1450975"/>
            <a:ext cx="7377113" cy="4632325"/>
          </a:xfrm>
        </p:spPr>
        <p:txBody>
          <a:bodyPr>
            <a:noAutofit/>
          </a:bodyPr>
          <a:lstStyle/>
          <a:p>
            <a:pPr marL="0" indent="0">
              <a:spcBef>
                <a:spcPts val="400"/>
              </a:spcBef>
              <a:buNone/>
            </a:pPr>
            <a:r>
              <a:rPr lang="en-US" sz="1800" b="1" dirty="0"/>
              <a:t>ROC-AUC</a:t>
            </a:r>
            <a:r>
              <a:rPr lang="en-US" sz="1800" dirty="0"/>
              <a:t> — threshold-free ranking quality</a:t>
            </a:r>
          </a:p>
          <a:p>
            <a:pPr marL="171450" indent="-171450">
              <a:spcBef>
                <a:spcPts val="200"/>
              </a:spcBef>
              <a:buFont typeface="Arial"/>
              <a:buChar char="•"/>
            </a:pPr>
            <a:r>
              <a:rPr lang="en-US" sz="1500" dirty="0"/>
              <a:t>P(random burned scores &gt; random unburned). 1.0 = perfect, 0.5 = chance.</a:t>
            </a:r>
          </a:p>
          <a:p>
            <a:pPr marL="171450" indent="-171450">
              <a:spcBef>
                <a:spcPts val="200"/>
              </a:spcBef>
              <a:buFont typeface="Arial"/>
              <a:buChar char="•"/>
            </a:pPr>
            <a:r>
              <a:rPr lang="en-US" sz="1500" dirty="0"/>
              <a:t>Plots TPR vs FPR across all thresholds — no cutoff needed.</a:t>
            </a:r>
          </a:p>
          <a:p>
            <a:pPr marL="0" indent="0">
              <a:spcBef>
                <a:spcPts val="600"/>
              </a:spcBef>
              <a:buNone/>
            </a:pPr>
            <a:r>
              <a:rPr lang="en-US" sz="1800" b="1" dirty="0"/>
              <a:t>Recall@TopK%</a:t>
            </a:r>
            <a:r>
              <a:rPr lang="en-US" sz="1800" dirty="0"/>
              <a:t> — operational metric</a:t>
            </a:r>
          </a:p>
          <a:p>
            <a:pPr marL="171450" indent="-171450">
              <a:spcBef>
                <a:spcPts val="200"/>
              </a:spcBef>
              <a:buFont typeface="Arial"/>
              <a:buChar char="•"/>
            </a:pPr>
            <a:r>
              <a:rPr lang="en-US" sz="1500" dirty="0"/>
              <a:t>If we prioritize the top K% of the landscape by score, what share of future fires does that zone capture?</a:t>
            </a:r>
          </a:p>
          <a:p>
            <a:pPr marL="171450" indent="-171450">
              <a:spcBef>
                <a:spcPts val="200"/>
              </a:spcBef>
              <a:buFont typeface="Arial"/>
              <a:buChar char="•"/>
            </a:pPr>
            <a:r>
              <a:rPr lang="en-US" sz="1500" dirty="0"/>
              <a:t>Speaks directly to budget-constrained decisions.</a:t>
            </a:r>
          </a:p>
          <a:p>
            <a:pPr marL="0" indent="0">
              <a:spcBef>
                <a:spcPts val="600"/>
              </a:spcBef>
              <a:buNone/>
            </a:pPr>
            <a:r>
              <a:rPr lang="en-US" sz="1400" i="1" dirty="0">
                <a:solidFill>
                  <a:srgbClr val="B45309"/>
                </a:solidFill>
              </a:rPr>
              <a:t>⚠ Accuracy is unsafe under 1.5% prevalence; ranking metrics are the right tool for susceptibility.</a:t>
            </a:r>
          </a:p>
        </p:txBody>
      </p:sp>
      <p:pic>
        <p:nvPicPr>
          <p:cNvPr id="1026" name="Picture 2">
            <a:extLst>
              <a:ext uri="{FF2B5EF4-FFF2-40B4-BE49-F238E27FC236}">
                <a16:creationId xmlns:a16="http://schemas.microsoft.com/office/drawing/2014/main" id="{37B88FB6-B08F-2BBE-C0B0-5D5331A4405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67770" y="2264034"/>
            <a:ext cx="3673265" cy="3357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581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DE07-675D-885F-78FF-9B59AAD63F1E}"/>
              </a:ext>
            </a:extLst>
          </p:cNvPr>
          <p:cNvSpPr>
            <a:spLocks noGrp="1"/>
          </p:cNvSpPr>
          <p:nvPr>
            <p:ph type="title" idx="4294967295"/>
          </p:nvPr>
        </p:nvSpPr>
        <p:spPr>
          <a:xfrm>
            <a:off x="0" y="365125"/>
            <a:ext cx="10515600" cy="1325563"/>
          </a:xfrm>
        </p:spPr>
        <p:txBody>
          <a:bodyPr>
            <a:normAutofit/>
          </a:bodyPr>
          <a:lstStyle/>
          <a:p>
            <a:r>
              <a:rPr lang="it-IT" sz="2800" b="1"/>
              <a:t>ROC curve + score distributions, in code</a:t>
            </a:r>
          </a:p>
        </p:txBody>
      </p:sp>
      <p:sp>
        <p:nvSpPr>
          <p:cNvPr id="3" name="CodeBg">
            <a:extLst>
              <a:ext uri="{FF2B5EF4-FFF2-40B4-BE49-F238E27FC236}">
                <a16:creationId xmlns:a16="http://schemas.microsoft.com/office/drawing/2014/main" id="{C112183E-3E8C-2C43-8534-8B3C775DF755}"/>
              </a:ext>
            </a:extLst>
          </p:cNvPr>
          <p:cNvSpPr/>
          <p:nvPr/>
        </p:nvSpPr>
        <p:spPr>
          <a:xfrm>
            <a:off x="381000" y="1778000"/>
            <a:ext cx="6858000" cy="4699000"/>
          </a:xfrm>
          <a:prstGeom prst="rect">
            <a:avLst/>
          </a:prstGeom>
          <a:solidFill>
            <a:srgbClr val="1E1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4" name="CodeText">
            <a:extLst>
              <a:ext uri="{FF2B5EF4-FFF2-40B4-BE49-F238E27FC236}">
                <a16:creationId xmlns:a16="http://schemas.microsoft.com/office/drawing/2014/main" id="{519D8348-91D6-E04D-8DDC-277E055D624B}"/>
              </a:ext>
            </a:extLst>
          </p:cNvPr>
          <p:cNvSpPr txBox="1"/>
          <p:nvPr/>
        </p:nvSpPr>
        <p:spPr>
          <a:xfrm>
            <a:off x="533400" y="1905000"/>
            <a:ext cx="6553200" cy="4445000"/>
          </a:xfrm>
          <a:prstGeom prst="rect">
            <a:avLst/>
          </a:prstGeom>
          <a:noFill/>
          <a:ln>
            <a:noFill/>
          </a:ln>
        </p:spPr>
        <p:txBody>
          <a:bodyPr vertOverflow="overflow" vert="horz" wrap="square" rtlCol="0" anchor="t">
            <a:noAutofit/>
          </a:bodyPr>
          <a:lstStyle/>
          <a:p>
            <a:pPr marL="0" indent="0">
              <a:lnSpc>
                <a:spcPts val="1700"/>
              </a:lnSpc>
              <a:buNone/>
            </a:pPr>
            <a:r>
              <a:rPr lang="en-US" sz="1400" dirty="0">
                <a:solidFill>
                  <a:srgbClr val="6A9955"/>
                </a:solidFill>
                <a:latin typeface="Consolas"/>
              </a:rPr>
              <a:t># Score the hold-out</a:t>
            </a:r>
          </a:p>
          <a:p>
            <a:pPr marL="0" indent="0">
              <a:lnSpc>
                <a:spcPts val="1700"/>
              </a:lnSpc>
              <a:buNone/>
            </a:pPr>
            <a:r>
              <a:rPr lang="en-US" sz="1400" dirty="0">
                <a:solidFill>
                  <a:srgbClr val="D4D4D4"/>
                </a:solidFill>
                <a:latin typeface="Consolas"/>
              </a:rPr>
              <a:t>scores = rf_model.predict_proba(X_test)[:, </a:t>
            </a:r>
            <a:r>
              <a:rPr lang="en-US" sz="1400" dirty="0">
                <a:solidFill>
                  <a:srgbClr val="B5CEA8"/>
                </a:solidFill>
                <a:latin typeface="Consolas"/>
              </a:rPr>
              <a:t>1</a:t>
            </a:r>
            <a:r>
              <a:rPr lang="en-US" sz="1400" dirty="0">
                <a:solidFill>
                  <a:srgbClr val="D4D4D4"/>
                </a:solidFill>
                <a:latin typeface="Consolas"/>
              </a:rPr>
              <a:t>]</a:t>
            </a:r>
          </a:p>
          <a:p>
            <a:pPr marL="0" indent="0">
              <a:lnSpc>
                <a:spcPts val="1700"/>
              </a:lnSpc>
              <a:buNone/>
            </a:pPr>
            <a:r>
              <a:rPr lang="en-US" sz="1400" dirty="0">
                <a:solidFill>
                  <a:srgbClr val="D4D4D4"/>
                </a:solidFill>
                <a:latin typeface="Consolas"/>
              </a:rPr>
              <a:t> </a:t>
            </a:r>
          </a:p>
          <a:p>
            <a:pPr marL="0" indent="0">
              <a:lnSpc>
                <a:spcPts val="1700"/>
              </a:lnSpc>
              <a:buNone/>
            </a:pPr>
            <a:r>
              <a:rPr lang="en-US" sz="1400" dirty="0">
                <a:solidFill>
                  <a:srgbClr val="6A9955"/>
                </a:solidFill>
                <a:latin typeface="Consolas"/>
              </a:rPr>
              <a:t># ROC curve from estimator</a:t>
            </a:r>
          </a:p>
          <a:p>
            <a:pPr marL="0" indent="0">
              <a:lnSpc>
                <a:spcPts val="1700"/>
              </a:lnSpc>
              <a:buNone/>
            </a:pPr>
            <a:r>
              <a:rPr lang="en-US" sz="1400" dirty="0">
                <a:solidFill>
                  <a:srgbClr val="D4D4D4"/>
                </a:solidFill>
                <a:latin typeface="Consolas"/>
              </a:rPr>
              <a:t>fig, ax = plt.subplots(figsize=(</a:t>
            </a:r>
            <a:r>
              <a:rPr lang="en-US" sz="1400" dirty="0">
                <a:solidFill>
                  <a:srgbClr val="B5CEA8"/>
                </a:solidFill>
                <a:latin typeface="Consolas"/>
              </a:rPr>
              <a:t>6</a:t>
            </a:r>
            <a:r>
              <a:rPr lang="en-US" sz="1400" dirty="0">
                <a:solidFill>
                  <a:srgbClr val="D4D4D4"/>
                </a:solidFill>
                <a:latin typeface="Consolas"/>
              </a:rPr>
              <a:t>, </a:t>
            </a:r>
            <a:r>
              <a:rPr lang="en-US" sz="1400" dirty="0">
                <a:solidFill>
                  <a:srgbClr val="B5CEA8"/>
                </a:solidFill>
                <a:latin typeface="Consolas"/>
              </a:rPr>
              <a:t>4.5</a:t>
            </a:r>
            <a:r>
              <a:rPr lang="en-US" sz="1400" dirty="0">
                <a:solidFill>
                  <a:srgbClr val="D4D4D4"/>
                </a:solidFill>
                <a:latin typeface="Consolas"/>
              </a:rPr>
              <a:t>))</a:t>
            </a:r>
          </a:p>
          <a:p>
            <a:pPr marL="0" indent="0">
              <a:lnSpc>
                <a:spcPts val="1700"/>
              </a:lnSpc>
              <a:buNone/>
            </a:pPr>
            <a:r>
              <a:rPr lang="en-US" sz="1400" dirty="0">
                <a:solidFill>
                  <a:srgbClr val="DCDCAA"/>
                </a:solidFill>
                <a:latin typeface="Consolas"/>
              </a:rPr>
              <a:t>RocCurveDisplay</a:t>
            </a:r>
            <a:r>
              <a:rPr lang="en-US" sz="1400" dirty="0">
                <a:solidFill>
                  <a:srgbClr val="D4D4D4"/>
                </a:solidFill>
                <a:latin typeface="Consolas"/>
              </a:rPr>
              <a:t>.from_estimator(</a:t>
            </a:r>
          </a:p>
          <a:p>
            <a:pPr marL="0" indent="0">
              <a:lnSpc>
                <a:spcPts val="1700"/>
              </a:lnSpc>
              <a:buNone/>
            </a:pPr>
            <a:r>
              <a:rPr lang="en-US" sz="1400" dirty="0">
                <a:solidFill>
                  <a:srgbClr val="D4D4D4"/>
                </a:solidFill>
                <a:latin typeface="Consolas"/>
              </a:rPr>
              <a:t>    rf_model, X_test, y_test, name=</a:t>
            </a:r>
            <a:r>
              <a:rPr lang="en-US" sz="1400" dirty="0">
                <a:solidFill>
                  <a:srgbClr val="CE9178"/>
                </a:solidFill>
                <a:latin typeface="Consolas"/>
              </a:rPr>
              <a:t>"Random Forest"</a:t>
            </a:r>
            <a:r>
              <a:rPr lang="en-US" sz="1400" dirty="0">
                <a:solidFill>
                  <a:srgbClr val="D4D4D4"/>
                </a:solidFill>
                <a:latin typeface="Consolas"/>
              </a:rPr>
              <a:t>, ax=ax)</a:t>
            </a:r>
          </a:p>
          <a:p>
            <a:pPr marL="0" indent="0">
              <a:lnSpc>
                <a:spcPts val="1700"/>
              </a:lnSpc>
              <a:buNone/>
            </a:pPr>
            <a:r>
              <a:rPr lang="en-US" sz="1400" dirty="0">
                <a:solidFill>
                  <a:srgbClr val="D4D4D4"/>
                </a:solidFill>
                <a:latin typeface="Consolas"/>
              </a:rPr>
              <a:t>ax.plot([</a:t>
            </a:r>
            <a:r>
              <a:rPr lang="en-US" sz="1400" dirty="0">
                <a:solidFill>
                  <a:srgbClr val="B5CEA8"/>
                </a:solidFill>
                <a:latin typeface="Consolas"/>
              </a:rPr>
              <a:t>0</a:t>
            </a:r>
            <a:r>
              <a:rPr lang="en-US" sz="1400" dirty="0">
                <a:solidFill>
                  <a:srgbClr val="D4D4D4"/>
                </a:solidFill>
                <a:latin typeface="Consolas"/>
              </a:rPr>
              <a:t>, </a:t>
            </a:r>
            <a:r>
              <a:rPr lang="en-US" sz="1400" dirty="0">
                <a:solidFill>
                  <a:srgbClr val="B5CEA8"/>
                </a:solidFill>
                <a:latin typeface="Consolas"/>
              </a:rPr>
              <a:t>1</a:t>
            </a:r>
            <a:r>
              <a:rPr lang="en-US" sz="1400" dirty="0">
                <a:solidFill>
                  <a:srgbClr val="D4D4D4"/>
                </a:solidFill>
                <a:latin typeface="Consolas"/>
              </a:rPr>
              <a:t>], [</a:t>
            </a:r>
            <a:r>
              <a:rPr lang="en-US" sz="1400" dirty="0">
                <a:solidFill>
                  <a:srgbClr val="B5CEA8"/>
                </a:solidFill>
                <a:latin typeface="Consolas"/>
              </a:rPr>
              <a:t>0</a:t>
            </a:r>
            <a:r>
              <a:rPr lang="en-US" sz="1400" dirty="0">
                <a:solidFill>
                  <a:srgbClr val="D4D4D4"/>
                </a:solidFill>
                <a:latin typeface="Consolas"/>
              </a:rPr>
              <a:t>, </a:t>
            </a:r>
            <a:r>
              <a:rPr lang="en-US" sz="1400" dirty="0">
                <a:solidFill>
                  <a:srgbClr val="B5CEA8"/>
                </a:solidFill>
                <a:latin typeface="Consolas"/>
              </a:rPr>
              <a:t>1</a:t>
            </a:r>
            <a:r>
              <a:rPr lang="en-US" sz="1400" dirty="0">
                <a:solidFill>
                  <a:srgbClr val="D4D4D4"/>
                </a:solidFill>
                <a:latin typeface="Consolas"/>
              </a:rPr>
              <a:t>], linestyle=</a:t>
            </a:r>
            <a:r>
              <a:rPr lang="en-US" sz="1400" dirty="0">
                <a:solidFill>
                  <a:srgbClr val="CE9178"/>
                </a:solidFill>
                <a:latin typeface="Consolas"/>
              </a:rPr>
              <a:t>"--"</a:t>
            </a:r>
            <a:r>
              <a:rPr lang="en-US" sz="1400" dirty="0">
                <a:solidFill>
                  <a:srgbClr val="D4D4D4"/>
                </a:solidFill>
                <a:latin typeface="Consolas"/>
              </a:rPr>
              <a:t>)</a:t>
            </a:r>
          </a:p>
          <a:p>
            <a:pPr marL="0" indent="0">
              <a:lnSpc>
                <a:spcPts val="1700"/>
              </a:lnSpc>
              <a:buNone/>
            </a:pPr>
            <a:r>
              <a:rPr lang="en-US" sz="1400" dirty="0">
                <a:solidFill>
                  <a:srgbClr val="D4D4D4"/>
                </a:solidFill>
                <a:latin typeface="Consolas"/>
              </a:rPr>
              <a:t> </a:t>
            </a:r>
          </a:p>
          <a:p>
            <a:pPr marL="0" indent="0">
              <a:lnSpc>
                <a:spcPts val="1700"/>
              </a:lnSpc>
              <a:buNone/>
            </a:pPr>
            <a:r>
              <a:rPr lang="en-US" sz="1400" dirty="0">
                <a:solidFill>
                  <a:srgbClr val="6A9955"/>
                </a:solidFill>
                <a:latin typeface="Consolas"/>
              </a:rPr>
              <a:t># Score histograms by class</a:t>
            </a:r>
          </a:p>
          <a:p>
            <a:pPr marL="0" indent="0">
              <a:lnSpc>
                <a:spcPts val="1700"/>
              </a:lnSpc>
              <a:buNone/>
            </a:pPr>
            <a:r>
              <a:rPr lang="en-US" sz="1400" dirty="0">
                <a:solidFill>
                  <a:srgbClr val="569CD6"/>
                </a:solidFill>
                <a:latin typeface="Consolas"/>
              </a:rPr>
              <a:t>for </a:t>
            </a:r>
            <a:r>
              <a:rPr lang="en-US" sz="1400" dirty="0">
                <a:solidFill>
                  <a:srgbClr val="D4D4D4"/>
                </a:solidFill>
                <a:latin typeface="Consolas"/>
              </a:rPr>
              <a:t>target, color </a:t>
            </a:r>
            <a:r>
              <a:rPr lang="en-US" sz="1400" dirty="0">
                <a:solidFill>
                  <a:srgbClr val="569CD6"/>
                </a:solidFill>
                <a:latin typeface="Consolas"/>
              </a:rPr>
              <a:t>in </a:t>
            </a:r>
            <a:r>
              <a:rPr lang="en-US" sz="1400" dirty="0">
                <a:solidFill>
                  <a:srgbClr val="D4D4D4"/>
                </a:solidFill>
                <a:latin typeface="Consolas"/>
              </a:rPr>
              <a:t>[(</a:t>
            </a:r>
            <a:r>
              <a:rPr lang="en-US" sz="1400" dirty="0">
                <a:solidFill>
                  <a:srgbClr val="B5CEA8"/>
                </a:solidFill>
                <a:latin typeface="Consolas"/>
              </a:rPr>
              <a:t>0</a:t>
            </a:r>
            <a:r>
              <a:rPr lang="en-US" sz="1400" dirty="0">
                <a:solidFill>
                  <a:srgbClr val="D4D4D4"/>
                </a:solidFill>
                <a:latin typeface="Consolas"/>
              </a:rPr>
              <a:t>, </a:t>
            </a:r>
            <a:r>
              <a:rPr lang="en-US" sz="1400" dirty="0">
                <a:solidFill>
                  <a:srgbClr val="CE9178"/>
                </a:solidFill>
                <a:latin typeface="Consolas"/>
              </a:rPr>
              <a:t>"#2563eb"</a:t>
            </a:r>
            <a:r>
              <a:rPr lang="en-US" sz="1400" dirty="0">
                <a:solidFill>
                  <a:srgbClr val="D4D4D4"/>
                </a:solidFill>
                <a:latin typeface="Consolas"/>
              </a:rPr>
              <a:t>),</a:t>
            </a:r>
          </a:p>
          <a:p>
            <a:pPr marL="0" indent="0">
              <a:lnSpc>
                <a:spcPts val="1700"/>
              </a:lnSpc>
              <a:buNone/>
            </a:pPr>
            <a:r>
              <a:rPr lang="en-US" sz="1400" dirty="0">
                <a:solidFill>
                  <a:srgbClr val="D4D4D4"/>
                </a:solidFill>
                <a:latin typeface="Consolas"/>
              </a:rPr>
              <a:t>                       (</a:t>
            </a:r>
            <a:r>
              <a:rPr lang="en-US" sz="1400" dirty="0">
                <a:solidFill>
                  <a:srgbClr val="B5CEA8"/>
                </a:solidFill>
                <a:latin typeface="Consolas"/>
              </a:rPr>
              <a:t>1</a:t>
            </a:r>
            <a:r>
              <a:rPr lang="en-US" sz="1400" dirty="0">
                <a:solidFill>
                  <a:srgbClr val="D4D4D4"/>
                </a:solidFill>
                <a:latin typeface="Consolas"/>
              </a:rPr>
              <a:t>, </a:t>
            </a:r>
            <a:r>
              <a:rPr lang="en-US" sz="1400" dirty="0">
                <a:solidFill>
                  <a:srgbClr val="CE9178"/>
                </a:solidFill>
                <a:latin typeface="Consolas"/>
              </a:rPr>
              <a:t>"#dc2626"</a:t>
            </a:r>
            <a:r>
              <a:rPr lang="en-US" sz="1400" dirty="0">
                <a:solidFill>
                  <a:srgbClr val="D4D4D4"/>
                </a:solidFill>
                <a:latin typeface="Consolas"/>
              </a:rPr>
              <a:t>)]:</a:t>
            </a:r>
          </a:p>
          <a:p>
            <a:pPr marL="0" indent="0">
              <a:lnSpc>
                <a:spcPts val="1700"/>
              </a:lnSpc>
              <a:buNone/>
            </a:pPr>
            <a:r>
              <a:rPr lang="en-US" sz="1400" dirty="0">
                <a:solidFill>
                  <a:srgbClr val="D4D4D4"/>
                </a:solidFill>
                <a:latin typeface="Consolas"/>
              </a:rPr>
              <a:t>    ax.hist(scores[y_test == target],</a:t>
            </a:r>
          </a:p>
          <a:p>
            <a:pPr marL="0" indent="0">
              <a:lnSpc>
                <a:spcPts val="1700"/>
              </a:lnSpc>
              <a:buNone/>
            </a:pPr>
            <a:r>
              <a:rPr lang="en-US" sz="1400" dirty="0">
                <a:solidFill>
                  <a:srgbClr val="D4D4D4"/>
                </a:solidFill>
                <a:latin typeface="Consolas"/>
              </a:rPr>
              <a:t>            bins=</a:t>
            </a:r>
            <a:r>
              <a:rPr lang="en-US" sz="1400" dirty="0">
                <a:solidFill>
                  <a:srgbClr val="B5CEA8"/>
                </a:solidFill>
                <a:latin typeface="Consolas"/>
              </a:rPr>
              <a:t>30</a:t>
            </a:r>
            <a:r>
              <a:rPr lang="en-US" sz="1400" dirty="0">
                <a:solidFill>
                  <a:srgbClr val="D4D4D4"/>
                </a:solidFill>
                <a:latin typeface="Consolas"/>
              </a:rPr>
              <a:t>, alpha=</a:t>
            </a:r>
            <a:r>
              <a:rPr lang="en-US" sz="1400" dirty="0">
                <a:solidFill>
                  <a:srgbClr val="B5CEA8"/>
                </a:solidFill>
                <a:latin typeface="Consolas"/>
              </a:rPr>
              <a:t>0.5</a:t>
            </a:r>
            <a:r>
              <a:rPr lang="en-US" sz="1400" dirty="0">
                <a:solidFill>
                  <a:srgbClr val="D4D4D4"/>
                </a:solidFill>
                <a:latin typeface="Consolas"/>
              </a:rPr>
              <a:t>, color=color)</a:t>
            </a:r>
          </a:p>
          <a:p>
            <a:pPr marL="0" indent="0">
              <a:lnSpc>
                <a:spcPts val="1700"/>
              </a:lnSpc>
              <a:buNone/>
            </a:pPr>
            <a:r>
              <a:rPr lang="en-US" sz="1400" dirty="0">
                <a:solidFill>
                  <a:srgbClr val="D4D4D4"/>
                </a:solidFill>
                <a:latin typeface="Consolas"/>
              </a:rPr>
              <a:t> </a:t>
            </a:r>
          </a:p>
          <a:p>
            <a:pPr marL="0" indent="0">
              <a:lnSpc>
                <a:spcPts val="1700"/>
              </a:lnSpc>
              <a:buNone/>
            </a:pPr>
            <a:r>
              <a:rPr lang="en-US" sz="1400" dirty="0">
                <a:solidFill>
                  <a:srgbClr val="6A9955"/>
                </a:solidFill>
                <a:latin typeface="Consolas"/>
              </a:rPr>
              <a:t># Hold-out ROC-AUC = 0.798</a:t>
            </a:r>
          </a:p>
        </p:txBody>
      </p:sp>
      <p:sp>
        <p:nvSpPr>
          <p:cNvPr id="5" name="Caption">
            <a:extLst>
              <a:ext uri="{FF2B5EF4-FFF2-40B4-BE49-F238E27FC236}">
                <a16:creationId xmlns:a16="http://schemas.microsoft.com/office/drawing/2014/main" id="{D2D34C9E-A2CA-EF42-9F8D-1635B07358BB}"/>
              </a:ext>
            </a:extLst>
          </p:cNvPr>
          <p:cNvSpPr txBox="1"/>
          <p:nvPr/>
        </p:nvSpPr>
        <p:spPr>
          <a:xfrm>
            <a:off x="7493000" y="1778000"/>
            <a:ext cx="4318000" cy="4699000"/>
          </a:xfrm>
          <a:prstGeom prst="rect">
            <a:avLst/>
          </a:prstGeom>
          <a:noFill/>
          <a:ln>
            <a:noFill/>
          </a:ln>
        </p:spPr>
        <p:txBody>
          <a:bodyPr vertOverflow="overflow" vert="horz" wrap="square" rtlCol="0" anchor="t">
            <a:noAutofit/>
          </a:bodyPr>
          <a:lstStyle/>
          <a:p>
            <a:pPr marL="0" indent="0">
              <a:lnSpc>
                <a:spcPts val="2200"/>
              </a:lnSpc>
              <a:spcAft>
                <a:spcPts val="700"/>
              </a:spcAft>
              <a:buNone/>
            </a:pPr>
            <a:r>
              <a:rPr lang="en-US" sz="1800" b="1" dirty="0">
                <a:solidFill>
                  <a:srgbClr val="222222"/>
                </a:solidFill>
              </a:rPr>
              <a:t>Two diagnostic plots</a:t>
            </a:r>
          </a:p>
          <a:p>
            <a:pPr marL="171450" indent="-171450">
              <a:lnSpc>
                <a:spcPts val="1900"/>
              </a:lnSpc>
              <a:spcAft>
                <a:spcPts val="500"/>
              </a:spcAft>
              <a:buFont typeface="Arial"/>
              <a:buChar char="•"/>
            </a:pPr>
            <a:r>
              <a:rPr lang="en-US" sz="1500" dirty="0">
                <a:solidFill>
                  <a:srgbClr val="333333"/>
                </a:solidFill>
              </a:rPr>
              <a:t>ROC curve: how well burned pixels rank above unburned ones across every threshold.</a:t>
            </a:r>
          </a:p>
          <a:p>
            <a:pPr marL="171450" indent="-171450">
              <a:lnSpc>
                <a:spcPts val="1900"/>
              </a:lnSpc>
              <a:spcAft>
                <a:spcPts val="500"/>
              </a:spcAft>
              <a:buFont typeface="Arial"/>
              <a:buChar char="•"/>
            </a:pPr>
            <a:r>
              <a:rPr lang="en-US" sz="1500" dirty="0">
                <a:solidFill>
                  <a:srgbClr val="333333"/>
                </a:solidFill>
              </a:rPr>
              <a:t>Score histograms: where each class lives along the susceptibility axis.</a:t>
            </a:r>
          </a:p>
          <a:p>
            <a:pPr>
              <a:lnSpc>
                <a:spcPts val="800"/>
              </a:lnSpc>
              <a:buNone/>
            </a:pPr>
            <a:endParaRPr lang="en-US" sz="1000" dirty="0"/>
          </a:p>
          <a:p>
            <a:pPr marL="0" indent="0">
              <a:lnSpc>
                <a:spcPts val="2200"/>
              </a:lnSpc>
              <a:spcAft>
                <a:spcPts val="700"/>
              </a:spcAft>
              <a:buNone/>
            </a:pPr>
            <a:r>
              <a:rPr lang="en-US" sz="1800" b="1" dirty="0">
                <a:solidFill>
                  <a:srgbClr val="222222"/>
                </a:solidFill>
              </a:rPr>
              <a:t>What to look for</a:t>
            </a:r>
          </a:p>
          <a:p>
            <a:pPr marL="171450" indent="-171450">
              <a:lnSpc>
                <a:spcPts val="1900"/>
              </a:lnSpc>
              <a:spcAft>
                <a:spcPts val="500"/>
              </a:spcAft>
              <a:buFont typeface="Arial"/>
              <a:buChar char="•"/>
            </a:pPr>
            <a:r>
              <a:rPr lang="en-US" sz="1500" dirty="0">
                <a:solidFill>
                  <a:srgbClr val="333333"/>
                </a:solidFill>
              </a:rPr>
              <a:t>ROC curve well above the diagonal — the model adds ranking value over chance.</a:t>
            </a:r>
          </a:p>
          <a:p>
            <a:pPr marL="171450" indent="-171450">
              <a:lnSpc>
                <a:spcPts val="1900"/>
              </a:lnSpc>
              <a:spcAft>
                <a:spcPts val="500"/>
              </a:spcAft>
              <a:buFont typeface="Arial"/>
              <a:buChar char="•"/>
            </a:pPr>
            <a:r>
              <a:rPr lang="en-US" sz="1500" dirty="0">
                <a:solidFill>
                  <a:srgbClr val="333333"/>
                </a:solidFill>
              </a:rPr>
              <a:t>Burned distribution shifted right of unburned — separation, not perfect overlap.</a:t>
            </a:r>
          </a:p>
        </p:txBody>
      </p:sp>
    </p:spTree>
    <p:extLst>
      <p:ext uri="{BB962C8B-B14F-4D97-AF65-F5344CB8AC3E}">
        <p14:creationId xmlns:p14="http://schemas.microsoft.com/office/powerpoint/2010/main" val="2494363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58E74-6598-72DC-89D3-8DDCCCB0F49C}"/>
              </a:ext>
            </a:extLst>
          </p:cNvPr>
          <p:cNvSpPr>
            <a:spLocks noGrp="1"/>
          </p:cNvSpPr>
          <p:nvPr>
            <p:ph type="title" idx="4294967295"/>
          </p:nvPr>
        </p:nvSpPr>
        <p:spPr>
          <a:xfrm>
            <a:off x="0" y="365125"/>
            <a:ext cx="10515600" cy="1325563"/>
          </a:xfrm>
        </p:spPr>
        <p:txBody>
          <a:bodyPr/>
          <a:lstStyle/>
          <a:p>
            <a:r>
              <a:rPr lang="it-IT" b="1"/>
              <a:t>Recall@Top%, in code</a:t>
            </a:r>
          </a:p>
        </p:txBody>
      </p:sp>
      <p:sp>
        <p:nvSpPr>
          <p:cNvPr id="3" name="CodeBg">
            <a:extLst>
              <a:ext uri="{FF2B5EF4-FFF2-40B4-BE49-F238E27FC236}">
                <a16:creationId xmlns:a16="http://schemas.microsoft.com/office/drawing/2014/main" id="{91220C18-52BA-FC41-86C7-E6C4874F2E8D}"/>
              </a:ext>
            </a:extLst>
          </p:cNvPr>
          <p:cNvSpPr/>
          <p:nvPr/>
        </p:nvSpPr>
        <p:spPr>
          <a:xfrm>
            <a:off x="381000" y="1778000"/>
            <a:ext cx="6858000" cy="4699000"/>
          </a:xfrm>
          <a:prstGeom prst="rect">
            <a:avLst/>
          </a:prstGeom>
          <a:solidFill>
            <a:srgbClr val="1E1E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4" name="CodeText">
            <a:extLst>
              <a:ext uri="{FF2B5EF4-FFF2-40B4-BE49-F238E27FC236}">
                <a16:creationId xmlns:a16="http://schemas.microsoft.com/office/drawing/2014/main" id="{615647D4-B0AC-3A44-9D3A-4B222CF80E7A}"/>
              </a:ext>
            </a:extLst>
          </p:cNvPr>
          <p:cNvSpPr txBox="1"/>
          <p:nvPr/>
        </p:nvSpPr>
        <p:spPr>
          <a:xfrm>
            <a:off x="533400" y="1905000"/>
            <a:ext cx="6553200" cy="3790140"/>
          </a:xfrm>
          <a:prstGeom prst="rect">
            <a:avLst/>
          </a:prstGeom>
          <a:noFill/>
          <a:ln>
            <a:noFill/>
          </a:ln>
        </p:spPr>
        <p:txBody>
          <a:bodyPr vertOverflow="overflow" vert="horz" wrap="square" rtlCol="0" anchor="t">
            <a:spAutoFit/>
          </a:bodyPr>
          <a:lstStyle/>
          <a:p>
            <a:pPr marL="0" indent="0" algn="l">
              <a:lnSpc>
                <a:spcPts val="1700"/>
              </a:lnSpc>
              <a:buNone/>
            </a:pPr>
            <a:r>
              <a:rPr lang="en-US" sz="1400" dirty="0">
                <a:solidFill>
                  <a:srgbClr val="6A9955"/>
                </a:solidFill>
                <a:latin typeface="Consolas"/>
                <a:cs typeface="Consolas"/>
              </a:rPr>
              <a:t># Operational question: if we map only the top K% of the</a:t>
            </a:r>
          </a:p>
          <a:p>
            <a:pPr marL="0" indent="0" algn="l">
              <a:lnSpc>
                <a:spcPts val="1700"/>
              </a:lnSpc>
              <a:buNone/>
            </a:pPr>
            <a:r>
              <a:rPr lang="en-US" sz="1400" dirty="0">
                <a:solidFill>
                  <a:srgbClr val="6A9955"/>
                </a:solidFill>
                <a:latin typeface="Consolas"/>
                <a:cs typeface="Consolas"/>
              </a:rPr>
              <a:t># landscape as high-susceptibility, what share of future</a:t>
            </a:r>
          </a:p>
          <a:p>
            <a:pPr marL="0" indent="0" algn="l">
              <a:lnSpc>
                <a:spcPts val="1700"/>
              </a:lnSpc>
              <a:buNone/>
            </a:pPr>
            <a:r>
              <a:rPr lang="en-US" sz="1400" dirty="0">
                <a:solidFill>
                  <a:srgbClr val="6A9955"/>
                </a:solidFill>
                <a:latin typeface="Consolas"/>
                <a:cs typeface="Consolas"/>
              </a:rPr>
              <a:t># burns falls inside that zone?</a:t>
            </a:r>
          </a:p>
          <a:p>
            <a:pPr>
              <a:lnSpc>
                <a:spcPts val="1700"/>
              </a:lnSpc>
              <a:buNone/>
            </a:pPr>
            <a:endParaRPr lang="en-US" sz="1400"/>
          </a:p>
          <a:p>
            <a:pPr marL="0" indent="0" algn="l">
              <a:lnSpc>
                <a:spcPts val="1700"/>
              </a:lnSpc>
              <a:buNone/>
            </a:pPr>
            <a:r>
              <a:rPr lang="en-US" sz="1400" dirty="0">
                <a:solidFill>
                  <a:srgbClr val="569CD6"/>
                </a:solidFill>
                <a:latin typeface="Consolas"/>
                <a:cs typeface="Consolas"/>
              </a:rPr>
              <a:t>def </a:t>
            </a:r>
            <a:r>
              <a:rPr lang="en-US" sz="1400" dirty="0">
                <a:solidFill>
                  <a:srgbClr val="DCDCAA"/>
                </a:solidFill>
                <a:latin typeface="Consolas"/>
                <a:cs typeface="Consolas"/>
              </a:rPr>
              <a:t>recall_at_top_percent</a:t>
            </a:r>
            <a:r>
              <a:rPr lang="en-US" sz="1400" dirty="0">
                <a:solidFill>
                  <a:srgbClr val="D4D4D4"/>
                </a:solidFill>
                <a:latin typeface="Consolas"/>
                <a:cs typeface="Consolas"/>
              </a:rPr>
              <a:t>(y_true, score, top_share):</a:t>
            </a:r>
          </a:p>
          <a:p>
            <a:pPr marL="0" indent="0" algn="l">
              <a:lnSpc>
                <a:spcPts val="1700"/>
              </a:lnSpc>
              <a:buNone/>
            </a:pPr>
            <a:r>
              <a:rPr lang="en-US" sz="1400" dirty="0">
                <a:solidFill>
                  <a:srgbClr val="D4D4D4"/>
                </a:solidFill>
                <a:latin typeface="Consolas"/>
                <a:cs typeface="Consolas"/>
              </a:rPr>
              <a:t>    threshold = np.</a:t>
            </a:r>
            <a:r>
              <a:rPr lang="en-US" sz="1400" dirty="0">
                <a:solidFill>
                  <a:srgbClr val="DCDCAA"/>
                </a:solidFill>
                <a:latin typeface="Consolas"/>
                <a:cs typeface="Consolas"/>
              </a:rPr>
              <a:t>quantile</a:t>
            </a:r>
            <a:r>
              <a:rPr lang="en-US" sz="1400" dirty="0">
                <a:solidFill>
                  <a:srgbClr val="D4D4D4"/>
                </a:solidFill>
                <a:latin typeface="Consolas"/>
                <a:cs typeface="Consolas"/>
              </a:rPr>
              <a:t>(score, </a:t>
            </a:r>
            <a:r>
              <a:rPr lang="en-US" sz="1400" dirty="0">
                <a:solidFill>
                  <a:srgbClr val="B5CEA8"/>
                </a:solidFill>
                <a:latin typeface="Consolas"/>
                <a:cs typeface="Consolas"/>
              </a:rPr>
              <a:t>1</a:t>
            </a:r>
            <a:r>
              <a:rPr lang="en-US" sz="1400" dirty="0">
                <a:solidFill>
                  <a:srgbClr val="D4D4D4"/>
                </a:solidFill>
                <a:latin typeface="Consolas"/>
                <a:cs typeface="Consolas"/>
              </a:rPr>
              <a:t> - top_share)</a:t>
            </a:r>
          </a:p>
          <a:p>
            <a:pPr marL="0" indent="0" algn="l">
              <a:lnSpc>
                <a:spcPts val="1700"/>
              </a:lnSpc>
              <a:buNone/>
            </a:pPr>
            <a:r>
              <a:rPr lang="en-US" sz="1400" dirty="0">
                <a:solidFill>
                  <a:srgbClr val="569CD6"/>
                </a:solidFill>
                <a:latin typeface="Consolas"/>
                <a:cs typeface="Consolas"/>
              </a:rPr>
              <a:t>    return </a:t>
            </a:r>
            <a:r>
              <a:rPr lang="en-US" sz="1400" dirty="0">
                <a:solidFill>
                  <a:srgbClr val="DCDCAA"/>
                </a:solidFill>
                <a:latin typeface="Consolas"/>
                <a:cs typeface="Consolas"/>
              </a:rPr>
              <a:t>recall_score</a:t>
            </a:r>
            <a:r>
              <a:rPr lang="en-US" sz="1400" dirty="0">
                <a:solidFill>
                  <a:srgbClr val="D4D4D4"/>
                </a:solidFill>
                <a:latin typeface="Consolas"/>
                <a:cs typeface="Consolas"/>
              </a:rPr>
              <a:t>(y_true, score &gt;= threshold)</a:t>
            </a:r>
          </a:p>
          <a:p>
            <a:pPr>
              <a:lnSpc>
                <a:spcPts val="1700"/>
              </a:lnSpc>
              <a:buNone/>
            </a:pPr>
            <a:endParaRPr lang="en-US" sz="1400"/>
          </a:p>
          <a:p>
            <a:pPr marL="0" indent="0" algn="l">
              <a:lnSpc>
                <a:spcPts val="1700"/>
              </a:lnSpc>
              <a:buNone/>
            </a:pPr>
            <a:r>
              <a:rPr lang="en-US" sz="1400" dirty="0">
                <a:solidFill>
                  <a:srgbClr val="6A9955"/>
                </a:solidFill>
                <a:latin typeface="Consolas"/>
                <a:cs typeface="Consolas"/>
              </a:rPr>
              <a:t># Score every pixel in the 2016–2022 hold-out (398,697 rows).</a:t>
            </a:r>
          </a:p>
          <a:p>
            <a:pPr marL="0" indent="0" algn="l">
              <a:lnSpc>
                <a:spcPts val="1700"/>
              </a:lnSpc>
              <a:buNone/>
            </a:pPr>
            <a:r>
              <a:rPr lang="en-US" sz="1400" dirty="0">
                <a:solidFill>
                  <a:srgbClr val="D4D4D4"/>
                </a:solidFill>
                <a:latin typeface="Consolas"/>
                <a:cs typeface="Consolas"/>
              </a:rPr>
              <a:t>test_scores = rf_model.</a:t>
            </a:r>
            <a:r>
              <a:rPr lang="en-US" sz="1400" dirty="0">
                <a:solidFill>
                  <a:srgbClr val="DCDCAA"/>
                </a:solidFill>
                <a:latin typeface="Consolas"/>
                <a:cs typeface="Consolas"/>
              </a:rPr>
              <a:t>predict_proba</a:t>
            </a:r>
            <a:r>
              <a:rPr lang="en-US" sz="1400" dirty="0">
                <a:solidFill>
                  <a:srgbClr val="D4D4D4"/>
                </a:solidFill>
                <a:latin typeface="Consolas"/>
                <a:cs typeface="Consolas"/>
              </a:rPr>
              <a:t>(X_test)[:, </a:t>
            </a:r>
            <a:r>
              <a:rPr lang="en-US" sz="1400" dirty="0">
                <a:solidFill>
                  <a:srgbClr val="B5CEA8"/>
                </a:solidFill>
                <a:latin typeface="Consolas"/>
                <a:cs typeface="Consolas"/>
              </a:rPr>
              <a:t>1</a:t>
            </a:r>
            <a:r>
              <a:rPr lang="en-US" sz="1400" dirty="0">
                <a:solidFill>
                  <a:srgbClr val="D4D4D4"/>
                </a:solidFill>
                <a:latin typeface="Consolas"/>
                <a:cs typeface="Consolas"/>
              </a:rPr>
              <a:t>]</a:t>
            </a:r>
          </a:p>
          <a:p>
            <a:pPr>
              <a:lnSpc>
                <a:spcPts val="1700"/>
              </a:lnSpc>
              <a:buNone/>
            </a:pPr>
            <a:endParaRPr lang="en-US" sz="1400"/>
          </a:p>
          <a:p>
            <a:pPr marL="0" indent="0" algn="l">
              <a:lnSpc>
                <a:spcPts val="1700"/>
              </a:lnSpc>
              <a:buNone/>
            </a:pPr>
            <a:r>
              <a:rPr lang="en-US" sz="1400" dirty="0">
                <a:solidFill>
                  <a:srgbClr val="569CD6"/>
                </a:solidFill>
                <a:latin typeface="Consolas"/>
                <a:cs typeface="Consolas"/>
              </a:rPr>
              <a:t>for </a:t>
            </a:r>
            <a:r>
              <a:rPr lang="en-US" sz="1400" dirty="0">
                <a:solidFill>
                  <a:srgbClr val="D4D4D4"/>
                </a:solidFill>
                <a:latin typeface="Consolas"/>
                <a:cs typeface="Consolas"/>
              </a:rPr>
              <a:t> k </a:t>
            </a:r>
            <a:r>
              <a:rPr lang="en-US" sz="1400" dirty="0">
                <a:solidFill>
                  <a:srgbClr val="569CD6"/>
                </a:solidFill>
                <a:latin typeface="Consolas"/>
                <a:cs typeface="Consolas"/>
              </a:rPr>
              <a:t>in</a:t>
            </a:r>
            <a:r>
              <a:rPr lang="en-US" sz="1400" dirty="0">
                <a:solidFill>
                  <a:srgbClr val="D4D4D4"/>
                </a:solidFill>
                <a:latin typeface="Consolas"/>
                <a:cs typeface="Consolas"/>
              </a:rPr>
              <a:t> [</a:t>
            </a:r>
            <a:r>
              <a:rPr lang="en-US" sz="1400" dirty="0">
                <a:solidFill>
                  <a:srgbClr val="B5CEA8"/>
                </a:solidFill>
                <a:latin typeface="Consolas"/>
                <a:cs typeface="Consolas"/>
              </a:rPr>
              <a:t>0.10</a:t>
            </a:r>
            <a:r>
              <a:rPr lang="en-US" sz="1400" dirty="0">
                <a:solidFill>
                  <a:srgbClr val="D4D4D4"/>
                </a:solidFill>
                <a:latin typeface="Consolas"/>
                <a:cs typeface="Consolas"/>
              </a:rPr>
              <a:t>, </a:t>
            </a:r>
            <a:r>
              <a:rPr lang="en-US" sz="1400" dirty="0">
                <a:solidFill>
                  <a:srgbClr val="B5CEA8"/>
                </a:solidFill>
                <a:latin typeface="Consolas"/>
                <a:cs typeface="Consolas"/>
              </a:rPr>
              <a:t>0.25</a:t>
            </a:r>
            <a:r>
              <a:rPr lang="en-US" sz="1400" dirty="0">
                <a:solidFill>
                  <a:srgbClr val="D4D4D4"/>
                </a:solidFill>
                <a:latin typeface="Consolas"/>
                <a:cs typeface="Consolas"/>
              </a:rPr>
              <a:t>, </a:t>
            </a:r>
            <a:r>
              <a:rPr lang="en-US" sz="1400" dirty="0">
                <a:solidFill>
                  <a:srgbClr val="B5CEA8"/>
                </a:solidFill>
                <a:latin typeface="Consolas"/>
                <a:cs typeface="Consolas"/>
              </a:rPr>
              <a:t>0.50</a:t>
            </a:r>
            <a:r>
              <a:rPr lang="en-US" sz="1400" dirty="0">
                <a:solidFill>
                  <a:srgbClr val="D4D4D4"/>
                </a:solidFill>
                <a:latin typeface="Consolas"/>
                <a:cs typeface="Consolas"/>
              </a:rPr>
              <a:t>]:</a:t>
            </a:r>
          </a:p>
          <a:p>
            <a:pPr marL="0" indent="0" algn="l">
              <a:lnSpc>
                <a:spcPts val="1700"/>
              </a:lnSpc>
              <a:buNone/>
            </a:pPr>
            <a:r>
              <a:rPr lang="en-US" sz="1400" dirty="0">
                <a:solidFill>
                  <a:srgbClr val="D4D4D4"/>
                </a:solidFill>
                <a:latin typeface="Consolas"/>
                <a:cs typeface="Consolas"/>
              </a:rPr>
              <a:t>    r = </a:t>
            </a:r>
            <a:r>
              <a:rPr lang="en-US" sz="1400" dirty="0">
                <a:solidFill>
                  <a:srgbClr val="DCDCAA"/>
                </a:solidFill>
                <a:latin typeface="Consolas"/>
                <a:cs typeface="Consolas"/>
              </a:rPr>
              <a:t>recall_at_top_percent</a:t>
            </a:r>
            <a:r>
              <a:rPr lang="en-US" sz="1400" dirty="0">
                <a:solidFill>
                  <a:srgbClr val="D4D4D4"/>
                </a:solidFill>
                <a:latin typeface="Consolas"/>
                <a:cs typeface="Consolas"/>
              </a:rPr>
              <a:t>(y_test, test_scores, k)</a:t>
            </a:r>
          </a:p>
          <a:p>
            <a:pPr marL="0" indent="0" algn="l">
              <a:lnSpc>
                <a:spcPts val="1700"/>
              </a:lnSpc>
              <a:buNone/>
            </a:pPr>
            <a:r>
              <a:rPr lang="en-US" sz="1400" dirty="0">
                <a:solidFill>
                  <a:srgbClr val="D4D4D4"/>
                </a:solidFill>
                <a:latin typeface="Consolas"/>
                <a:cs typeface="Consolas"/>
              </a:rPr>
              <a:t>    </a:t>
            </a:r>
            <a:r>
              <a:rPr lang="en-US" sz="1400" dirty="0">
                <a:solidFill>
                  <a:srgbClr val="DCDCAA"/>
                </a:solidFill>
                <a:latin typeface="Consolas"/>
                <a:cs typeface="Consolas"/>
              </a:rPr>
              <a:t>print</a:t>
            </a:r>
            <a:r>
              <a:rPr lang="en-US" sz="1400" dirty="0">
                <a:solidFill>
                  <a:srgbClr val="D4D4D4"/>
                </a:solidFill>
                <a:latin typeface="Consolas"/>
                <a:cs typeface="Consolas"/>
              </a:rPr>
              <a:t>(</a:t>
            </a:r>
            <a:r>
              <a:rPr lang="en-US" sz="1400" dirty="0">
                <a:solidFill>
                  <a:srgbClr val="CE9178"/>
                </a:solidFill>
                <a:latin typeface="Consolas"/>
                <a:cs typeface="Consolas"/>
              </a:rPr>
              <a:t>f"Top {k:.0%} → {r:.1%} of burns captured"</a:t>
            </a:r>
            <a:r>
              <a:rPr lang="en-US" sz="1400" dirty="0">
                <a:solidFill>
                  <a:srgbClr val="D4D4D4"/>
                </a:solidFill>
                <a:latin typeface="Consolas"/>
                <a:cs typeface="Consolas"/>
              </a:rPr>
              <a:t>)</a:t>
            </a:r>
          </a:p>
          <a:p>
            <a:pPr>
              <a:lnSpc>
                <a:spcPts val="1700"/>
              </a:lnSpc>
              <a:buNone/>
            </a:pPr>
            <a:endParaRPr lang="en-US" sz="1400"/>
          </a:p>
          <a:p>
            <a:pPr marL="0" indent="0" algn="l">
              <a:lnSpc>
                <a:spcPts val="1700"/>
              </a:lnSpc>
              <a:buNone/>
            </a:pPr>
            <a:r>
              <a:rPr lang="en-US" sz="1400" dirty="0">
                <a:solidFill>
                  <a:srgbClr val="6A9955"/>
                </a:solidFill>
                <a:latin typeface="Consolas"/>
                <a:cs typeface="Consolas"/>
              </a:rPr>
              <a:t># Top 10% → 49.5%  Top 25% → 69.8%  Top 50% → 86.5%</a:t>
            </a:r>
          </a:p>
          <a:p>
            <a:pPr marL="0" indent="0" algn="l">
              <a:lnSpc>
                <a:spcPts val="1700"/>
              </a:lnSpc>
              <a:buNone/>
            </a:pPr>
            <a:r>
              <a:rPr lang="en-US" sz="1400" dirty="0">
                <a:solidFill>
                  <a:srgbClr val="6A9955"/>
                </a:solidFill>
                <a:latin typeface="Consolas"/>
                <a:cs typeface="Consolas"/>
              </a:rPr>
              <a:t># Hold-out ROC-AUC = 0.798</a:t>
            </a:r>
          </a:p>
        </p:txBody>
      </p:sp>
      <p:sp>
        <p:nvSpPr>
          <p:cNvPr id="5" name="Caption">
            <a:extLst>
              <a:ext uri="{FF2B5EF4-FFF2-40B4-BE49-F238E27FC236}">
                <a16:creationId xmlns:a16="http://schemas.microsoft.com/office/drawing/2014/main" id="{586A5787-D476-2345-BE41-3E3D8A7600F1}"/>
              </a:ext>
            </a:extLst>
          </p:cNvPr>
          <p:cNvSpPr txBox="1"/>
          <p:nvPr/>
        </p:nvSpPr>
        <p:spPr>
          <a:xfrm>
            <a:off x="7493000" y="1778000"/>
            <a:ext cx="4318000" cy="2521268"/>
          </a:xfrm>
          <a:prstGeom prst="rect">
            <a:avLst/>
          </a:prstGeom>
          <a:noFill/>
          <a:ln>
            <a:noFill/>
          </a:ln>
        </p:spPr>
        <p:txBody>
          <a:bodyPr vertOverflow="overflow" vert="horz" wrap="square" rtlCol="0" anchor="t">
            <a:spAutoFit/>
          </a:bodyPr>
          <a:lstStyle/>
          <a:p>
            <a:pPr marL="0" indent="0" algn="l">
              <a:lnSpc>
                <a:spcPts val="2200"/>
              </a:lnSpc>
              <a:spcAft>
                <a:spcPts val="600"/>
              </a:spcAft>
              <a:buNone/>
            </a:pPr>
            <a:r>
              <a:rPr lang="en-US" sz="1800" b="1" dirty="0">
                <a:solidFill>
                  <a:srgbClr val="1A1A1A"/>
                </a:solidFill>
              </a:rPr>
              <a:t>Rank, don't classify</a:t>
            </a:r>
          </a:p>
          <a:p>
            <a:pPr marL="171450" indent="-171450" algn="l">
              <a:lnSpc>
                <a:spcPts val="1900"/>
              </a:lnSpc>
              <a:spcAft>
                <a:spcPts val="500"/>
              </a:spcAft>
              <a:buFont typeface="Arial"/>
              <a:buChar char="•"/>
            </a:pPr>
            <a:r>
              <a:rPr lang="en-US" sz="1500" b="1" dirty="0"/>
              <a:t>Top 10% of the map</a:t>
            </a:r>
            <a:r>
              <a:rPr lang="en-US" sz="1500" dirty="0"/>
              <a:t> captures roughly half of 2016–2022 burned pixels — a 5× lift over the landscape base rate.</a:t>
            </a:r>
          </a:p>
          <a:p>
            <a:pPr marL="171450" indent="-171450" algn="l">
              <a:lnSpc>
                <a:spcPts val="1900"/>
              </a:lnSpc>
              <a:spcAft>
                <a:spcPts val="500"/>
              </a:spcAft>
              <a:buFont typeface="Arial"/>
              <a:buChar char="•"/>
            </a:pPr>
            <a:r>
              <a:rPr lang="en-US" sz="1500" b="1" dirty="0"/>
              <a:t>Percentile thresholds</a:t>
            </a:r>
            <a:r>
              <a:rPr lang="en-US" sz="1500" dirty="0"/>
              <a:t> are portable across runs; raw score cutoffs are not.</a:t>
            </a:r>
          </a:p>
          <a:p>
            <a:pPr marL="171450" indent="-171450" algn="l">
              <a:lnSpc>
                <a:spcPts val="1900"/>
              </a:lnSpc>
              <a:spcAft>
                <a:spcPts val="500"/>
              </a:spcAft>
              <a:buFont typeface="Arial"/>
              <a:buChar char="•"/>
            </a:pPr>
            <a:r>
              <a:rPr lang="en-US" sz="1500" b="1" dirty="0"/>
              <a:t>ROC-AUC 0.798</a:t>
            </a:r>
            <a:r>
              <a:rPr lang="en-US" sz="1500" dirty="0"/>
              <a:t> — a useful ranker, not a perfect predictor. Weather and ignition aren't in the model.</a:t>
            </a:r>
          </a:p>
        </p:txBody>
      </p:sp>
    </p:spTree>
    <p:extLst>
      <p:ext uri="{BB962C8B-B14F-4D97-AF65-F5344CB8AC3E}">
        <p14:creationId xmlns:p14="http://schemas.microsoft.com/office/powerpoint/2010/main" val="20466669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72976-77C0-AB7A-01D7-558301F1FE6C}"/>
              </a:ext>
            </a:extLst>
          </p:cNvPr>
          <p:cNvSpPr>
            <a:spLocks noGrp="1"/>
          </p:cNvSpPr>
          <p:nvPr>
            <p:ph type="title" idx="4294967295"/>
          </p:nvPr>
        </p:nvSpPr>
        <p:spPr>
          <a:xfrm>
            <a:off x="0" y="298450"/>
            <a:ext cx="10461625" cy="730250"/>
          </a:xfrm>
        </p:spPr>
        <p:txBody>
          <a:bodyPr>
            <a:normAutofit fontScale="90000"/>
          </a:bodyPr>
          <a:lstStyle/>
          <a:p>
            <a:r>
              <a:rPr lang="it-IT" dirty="0" err="1"/>
              <a:t>Environmental</a:t>
            </a:r>
            <a:r>
              <a:rPr lang="it-IT" dirty="0"/>
              <a:t> ML </a:t>
            </a:r>
            <a:r>
              <a:rPr lang="it-IT" dirty="0" err="1"/>
              <a:t>Challanges</a:t>
            </a:r>
            <a:br>
              <a:rPr lang="it-IT" dirty="0"/>
            </a:br>
            <a:endParaRPr lang="it-IT" dirty="0"/>
          </a:p>
        </p:txBody>
      </p:sp>
      <p:pic>
        <p:nvPicPr>
          <p:cNvPr id="5" name="Picture 4">
            <a:extLst>
              <a:ext uri="{FF2B5EF4-FFF2-40B4-BE49-F238E27FC236}">
                <a16:creationId xmlns:a16="http://schemas.microsoft.com/office/drawing/2014/main" id="{8BE73EE0-3E76-45B9-3BF7-447462CA0F5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949" b="99367" l="1196" r="99522">
                        <a14:foregroundMark x1="27273" y1="59072" x2="72010" y2="56118"/>
                        <a14:foregroundMark x1="72010" y1="56118" x2="56220" y2="42827"/>
                        <a14:foregroundMark x1="77273" y1="50633" x2="39474" y2="32700"/>
                        <a14:foregroundMark x1="39474" y1="32700" x2="43541" y2="39451"/>
                        <a14:foregroundMark x1="88038" y1="57384" x2="65311" y2="96835"/>
                        <a14:foregroundMark x1="65311" y1="96835" x2="23445" y2="93249"/>
                        <a14:foregroundMark x1="23445" y1="93249" x2="48086" y2="57173"/>
                        <a14:foregroundMark x1="48086" y1="57173" x2="5502" y2="48945"/>
                        <a14:foregroundMark x1="5502" y1="48945" x2="43062" y2="28059"/>
                        <a14:foregroundMark x1="43062" y1="28059" x2="84689" y2="43671"/>
                        <a14:foregroundMark x1="84689" y1="43671" x2="44258" y2="31013"/>
                        <a14:foregroundMark x1="44258" y1="31013" x2="53349" y2="32700"/>
                        <a14:foregroundMark x1="83014" y1="55696" x2="83971" y2="50633"/>
                        <a14:foregroundMark x1="88038" y1="44726" x2="95694" y2="47257"/>
                        <a14:foregroundMark x1="43541" y1="30169" x2="45455" y2="28481"/>
                        <a14:foregroundMark x1="43541" y1="29325" x2="45455" y2="26793"/>
                        <a14:foregroundMark x1="45455" y1="28481" x2="87081" y2="40506"/>
                        <a14:foregroundMark x1="87081" y1="40506" x2="46411" y2="27637"/>
                        <a14:foregroundMark x1="46411" y1="27637" x2="44498" y2="27637"/>
                        <a14:foregroundMark x1="57177" y1="35232" x2="55263" y2="28481"/>
                        <a14:foregroundMark x1="86124" y1="41983" x2="88038" y2="53165"/>
                        <a14:foregroundMark x1="4067" y1="50633" x2="35167" y2="85865"/>
                        <a14:foregroundMark x1="35167" y1="85865" x2="80383" y2="81435"/>
                        <a14:foregroundMark x1="80383" y1="81435" x2="38038" y2="73840"/>
                        <a14:foregroundMark x1="38038" y1="73840" x2="27273" y2="68354"/>
                        <a14:foregroundMark x1="54306" y1="96414" x2="53349" y2="99789"/>
                        <a14:foregroundMark x1="61962" y1="93038" x2="88038" y2="78692"/>
                        <a14:foregroundMark x1="77273" y1="84599" x2="99522" y2="76160"/>
                        <a14:foregroundMark x1="16507" y1="68354" x2="1196" y2="80380"/>
                        <a14:foregroundMark x1="45455" y1="29325" x2="89713" y2="38819"/>
                        <a14:foregroundMark x1="89713" y1="38819" x2="96651" y2="43671"/>
                        <a14:foregroundMark x1="46411" y1="28481" x2="68660" y2="37764"/>
                        <a14:foregroundMark x1="49282" y1="27637" x2="68660" y2="33544"/>
                        <a14:foregroundMark x1="47368" y1="25949" x2="69617" y2="36920"/>
                        <a14:foregroundMark x1="52392" y1="26793" x2="62919" y2="29325"/>
                        <a14:backgroundMark x1="12679" y1="31013" x2="25359" y2="25949"/>
                      </a14:backgroundRemoval>
                    </a14:imgEffect>
                  </a14:imgLayer>
                </a14:imgProps>
              </a:ext>
            </a:extLst>
          </a:blip>
          <a:srcRect t="23570"/>
          <a:stretch>
            <a:fillRect/>
          </a:stretch>
        </p:blipFill>
        <p:spPr>
          <a:xfrm>
            <a:off x="87086" y="1889371"/>
            <a:ext cx="1129496" cy="978937"/>
          </a:xfrm>
          <a:prstGeom prst="rect">
            <a:avLst/>
          </a:prstGeom>
        </p:spPr>
      </p:pic>
      <p:pic>
        <p:nvPicPr>
          <p:cNvPr id="6" name="Picture 5">
            <a:extLst>
              <a:ext uri="{FF2B5EF4-FFF2-40B4-BE49-F238E27FC236}">
                <a16:creationId xmlns:a16="http://schemas.microsoft.com/office/drawing/2014/main" id="{8D1789B4-60D1-212F-2F63-CC08A0D30406}"/>
              </a:ext>
            </a:extLst>
          </p:cNvPr>
          <p:cNvPicPr>
            <a:picLocks noChangeAspect="1"/>
          </p:cNvPicPr>
          <p:nvPr/>
        </p:nvPicPr>
        <p:blipFill>
          <a:blip r:embed="rId4"/>
          <a:srcRect t="24163"/>
          <a:stretch>
            <a:fillRect/>
          </a:stretch>
        </p:blipFill>
        <p:spPr>
          <a:xfrm>
            <a:off x="4304016" y="1829992"/>
            <a:ext cx="1266922" cy="1471383"/>
          </a:xfrm>
          <a:prstGeom prst="rect">
            <a:avLst/>
          </a:prstGeom>
        </p:spPr>
      </p:pic>
      <p:pic>
        <p:nvPicPr>
          <p:cNvPr id="7" name="Picture 6">
            <a:extLst>
              <a:ext uri="{FF2B5EF4-FFF2-40B4-BE49-F238E27FC236}">
                <a16:creationId xmlns:a16="http://schemas.microsoft.com/office/drawing/2014/main" id="{2BD3062E-14AA-E0AD-8DD6-877902BAF8F9}"/>
              </a:ext>
            </a:extLst>
          </p:cNvPr>
          <p:cNvPicPr>
            <a:picLocks noChangeAspect="1"/>
          </p:cNvPicPr>
          <p:nvPr/>
        </p:nvPicPr>
        <p:blipFill>
          <a:blip r:embed="rId5"/>
          <a:srcRect t="26703"/>
          <a:stretch>
            <a:fillRect/>
          </a:stretch>
        </p:blipFill>
        <p:spPr>
          <a:xfrm>
            <a:off x="8172104" y="1783617"/>
            <a:ext cx="1212158" cy="1290991"/>
          </a:xfrm>
          <a:prstGeom prst="rect">
            <a:avLst/>
          </a:prstGeom>
        </p:spPr>
      </p:pic>
      <p:pic>
        <p:nvPicPr>
          <p:cNvPr id="8" name="Picture 7">
            <a:extLst>
              <a:ext uri="{FF2B5EF4-FFF2-40B4-BE49-F238E27FC236}">
                <a16:creationId xmlns:a16="http://schemas.microsoft.com/office/drawing/2014/main" id="{1A5ADC01-37AC-E873-4674-26EA7797A0A4}"/>
              </a:ext>
            </a:extLst>
          </p:cNvPr>
          <p:cNvPicPr>
            <a:picLocks noChangeAspect="1"/>
          </p:cNvPicPr>
          <p:nvPr/>
        </p:nvPicPr>
        <p:blipFill>
          <a:blip r:embed="rId6"/>
          <a:stretch>
            <a:fillRect/>
          </a:stretch>
        </p:blipFill>
        <p:spPr>
          <a:xfrm>
            <a:off x="226050" y="4318829"/>
            <a:ext cx="1033322" cy="978937"/>
          </a:xfrm>
          <a:prstGeom prst="rect">
            <a:avLst/>
          </a:prstGeom>
        </p:spPr>
      </p:pic>
      <p:pic>
        <p:nvPicPr>
          <p:cNvPr id="9" name="Picture 8">
            <a:extLst>
              <a:ext uri="{FF2B5EF4-FFF2-40B4-BE49-F238E27FC236}">
                <a16:creationId xmlns:a16="http://schemas.microsoft.com/office/drawing/2014/main" id="{9C036131-8F7E-598F-B7D4-2327A956E05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728" b="96845" l="811" r="95676">
                        <a14:foregroundMark x1="41081" y1="89563" x2="78649" y2="75243"/>
                        <a14:foregroundMark x1="78649" y1="75243" x2="84595" y2="70388"/>
                        <a14:foregroundMark x1="84595" y1="74515" x2="84595" y2="62136"/>
                        <a14:foregroundMark x1="85676" y1="75485" x2="85676" y2="62864"/>
                        <a14:foregroundMark x1="73514" y1="70388" x2="88378" y2="64563"/>
                        <a14:foregroundMark x1="2432" y1="67233" x2="57838" y2="91990"/>
                        <a14:foregroundMark x1="46757" y1="92961" x2="87568" y2="71359"/>
                        <a14:foregroundMark x1="5135" y1="62864" x2="54054" y2="85437"/>
                        <a14:foregroundMark x1="2432" y1="64563" x2="57027" y2="39806"/>
                        <a14:foregroundMark x1="55946" y1="48058" x2="92162" y2="64563"/>
                        <a14:foregroundMark x1="92162" y1="64563" x2="92162" y2="64563"/>
                        <a14:foregroundMark x1="38378" y1="12136" x2="55135" y2="4854"/>
                        <a14:foregroundMark x1="45946" y1="7282" x2="95676" y2="27184"/>
                        <a14:foregroundMark x1="4054" y1="73786" x2="46757" y2="94660"/>
                        <a14:foregroundMark x1="1351" y1="70388" x2="20811" y2="80340"/>
                        <a14:foregroundMark x1="46757" y1="94660" x2="87027" y2="81311"/>
                        <a14:foregroundMark x1="87027" y1="81311" x2="47568" y2="96845"/>
                        <a14:foregroundMark x1="47568" y1="96845" x2="85946" y2="75971"/>
                        <a14:foregroundMark x1="85946" y1="75971" x2="88378" y2="73058"/>
                        <a14:foregroundMark x1="81081" y1="75485" x2="81892" y2="63835"/>
                        <a14:foregroundMark x1="83784" y1="77184" x2="86486" y2="75485"/>
                        <a14:foregroundMark x1="89459" y1="77184" x2="89459" y2="57039"/>
                        <a14:foregroundMark x1="84595" y1="72087" x2="66216" y2="48058"/>
                        <a14:foregroundMark x1="90270" y1="62864" x2="53514" y2="41990"/>
                        <a14:foregroundMark x1="53514" y1="41990" x2="55135" y2="41262"/>
                        <a14:foregroundMark x1="2432" y1="43932" x2="27297" y2="33010"/>
                        <a14:foregroundMark x1="3243" y1="44660" x2="30000" y2="59709"/>
                        <a14:foregroundMark x1="1351" y1="24757" x2="20811" y2="39806"/>
                        <a14:foregroundMark x1="5135" y1="27184" x2="49459" y2="728"/>
                        <a14:foregroundMark x1="48649" y1="6311" x2="89189" y2="22330"/>
                        <a14:foregroundMark x1="89189" y1="22330" x2="91081" y2="27184"/>
                        <a14:foregroundMark x1="91081" y1="27184" x2="75405" y2="33010"/>
                        <a14:foregroundMark x1="71622" y1="34709" x2="87568" y2="44660"/>
                        <a14:foregroundMark x1="88378" y1="47087" x2="68919" y2="54612"/>
                        <a14:foregroundMark x1="73514" y1="35437" x2="91081" y2="44660"/>
                      </a14:backgroundRemoval>
                    </a14:imgEffect>
                  </a14:imgLayer>
                </a14:imgProps>
              </a:ext>
            </a:extLst>
          </a:blip>
          <a:stretch>
            <a:fillRect/>
          </a:stretch>
        </p:blipFill>
        <p:spPr>
          <a:xfrm>
            <a:off x="4395158" y="4318829"/>
            <a:ext cx="1175780" cy="1309247"/>
          </a:xfrm>
          <a:prstGeom prst="rect">
            <a:avLst/>
          </a:prstGeom>
        </p:spPr>
      </p:pic>
      <p:pic>
        <p:nvPicPr>
          <p:cNvPr id="10" name="Picture 9">
            <a:extLst>
              <a:ext uri="{FF2B5EF4-FFF2-40B4-BE49-F238E27FC236}">
                <a16:creationId xmlns:a16="http://schemas.microsoft.com/office/drawing/2014/main" id="{00024C31-D4C3-CE90-DF7E-44FEAEF7A8F9}"/>
              </a:ext>
            </a:extLst>
          </p:cNvPr>
          <p:cNvPicPr>
            <a:picLocks noChangeAspect="1"/>
          </p:cNvPicPr>
          <p:nvPr/>
        </p:nvPicPr>
        <p:blipFill>
          <a:blip r:embed="rId9"/>
          <a:stretch>
            <a:fillRect/>
          </a:stretch>
        </p:blipFill>
        <p:spPr>
          <a:xfrm>
            <a:off x="8365203" y="4318829"/>
            <a:ext cx="1175781" cy="1214974"/>
          </a:xfrm>
          <a:prstGeom prst="rect">
            <a:avLst/>
          </a:prstGeom>
        </p:spPr>
      </p:pic>
      <p:sp>
        <p:nvSpPr>
          <p:cNvPr id="12" name="TextBox 11">
            <a:extLst>
              <a:ext uri="{FF2B5EF4-FFF2-40B4-BE49-F238E27FC236}">
                <a16:creationId xmlns:a16="http://schemas.microsoft.com/office/drawing/2014/main" id="{F897AC72-7214-67CA-0F8D-59519DB933A6}"/>
              </a:ext>
            </a:extLst>
          </p:cNvPr>
          <p:cNvSpPr txBox="1"/>
          <p:nvPr/>
        </p:nvSpPr>
        <p:spPr>
          <a:xfrm>
            <a:off x="1459062" y="2053045"/>
            <a:ext cx="2877484" cy="1138773"/>
          </a:xfrm>
          <a:prstGeom prst="rect">
            <a:avLst/>
          </a:prstGeom>
          <a:noFill/>
        </p:spPr>
        <p:txBody>
          <a:bodyPr wrap="square">
            <a:spAutoFit/>
          </a:bodyPr>
          <a:lstStyle/>
          <a:p>
            <a:pPr>
              <a:buNone/>
            </a:pPr>
            <a:r>
              <a:rPr lang="en-GB" b="1" dirty="0">
                <a:effectLst/>
                <a:latin typeface="Helvetica" pitchFamily="2" charset="0"/>
              </a:rPr>
              <a:t>SPATIAL</a:t>
            </a:r>
          </a:p>
          <a:p>
            <a:pPr>
              <a:buNone/>
            </a:pPr>
            <a:r>
              <a:rPr lang="en-GB" b="1" dirty="0">
                <a:effectLst/>
                <a:latin typeface="Helvetica" pitchFamily="2" charset="0"/>
              </a:rPr>
              <a:t>AUTOCORRELATION</a:t>
            </a:r>
          </a:p>
          <a:p>
            <a:pPr>
              <a:buNone/>
            </a:pPr>
            <a:r>
              <a:rPr lang="en-GB" sz="1600" dirty="0">
                <a:effectLst/>
                <a:latin typeface="Helvetica" pitchFamily="2" charset="0"/>
              </a:rPr>
              <a:t>Nearby locations are more similar</a:t>
            </a:r>
          </a:p>
        </p:txBody>
      </p:sp>
      <p:sp>
        <p:nvSpPr>
          <p:cNvPr id="14" name="TextBox 13">
            <a:extLst>
              <a:ext uri="{FF2B5EF4-FFF2-40B4-BE49-F238E27FC236}">
                <a16:creationId xmlns:a16="http://schemas.microsoft.com/office/drawing/2014/main" id="{BB6C00D4-D51C-258F-87FC-1A25651E16A9}"/>
              </a:ext>
            </a:extLst>
          </p:cNvPr>
          <p:cNvSpPr txBox="1"/>
          <p:nvPr/>
        </p:nvSpPr>
        <p:spPr>
          <a:xfrm>
            <a:off x="5565910" y="2078870"/>
            <a:ext cx="2877484" cy="1661993"/>
          </a:xfrm>
          <a:prstGeom prst="rect">
            <a:avLst/>
          </a:prstGeom>
          <a:noFill/>
        </p:spPr>
        <p:txBody>
          <a:bodyPr wrap="square">
            <a:spAutoFit/>
          </a:bodyPr>
          <a:lstStyle/>
          <a:p>
            <a:pPr>
              <a:buNone/>
            </a:pPr>
            <a:r>
              <a:rPr lang="en-GB" b="1" dirty="0">
                <a:effectLst/>
                <a:latin typeface="Helvetica" pitchFamily="2" charset="0"/>
              </a:rPr>
              <a:t>IMBALANCED</a:t>
            </a:r>
          </a:p>
          <a:p>
            <a:pPr>
              <a:buNone/>
            </a:pPr>
            <a:r>
              <a:rPr lang="en-GB" b="1" dirty="0">
                <a:effectLst/>
                <a:latin typeface="Helvetica" pitchFamily="2" charset="0"/>
              </a:rPr>
              <a:t>DATA</a:t>
            </a:r>
          </a:p>
          <a:p>
            <a:pPr>
              <a:buNone/>
            </a:pPr>
            <a:r>
              <a:rPr lang="en-GB" dirty="0">
                <a:effectLst/>
                <a:latin typeface="Helvetica" pitchFamily="2" charset="0"/>
              </a:rPr>
              <a:t>﻿﻿</a:t>
            </a:r>
            <a:r>
              <a:rPr lang="en-GB" sz="1600" dirty="0">
                <a:effectLst/>
                <a:latin typeface="Helvetica" pitchFamily="2" charset="0"/>
              </a:rPr>
              <a:t>Events (e.g., fires, floods) are rare -&gt; bias</a:t>
            </a:r>
          </a:p>
          <a:p>
            <a:r>
              <a:rPr lang="en-GB" sz="1600" dirty="0">
                <a:effectLst/>
                <a:latin typeface="Helvetica" pitchFamily="2" charset="0"/>
              </a:rPr>
              <a:t>﻿﻿Careful sampling and metrics are required</a:t>
            </a:r>
          </a:p>
        </p:txBody>
      </p:sp>
      <p:sp>
        <p:nvSpPr>
          <p:cNvPr id="16" name="TextBox 15">
            <a:extLst>
              <a:ext uri="{FF2B5EF4-FFF2-40B4-BE49-F238E27FC236}">
                <a16:creationId xmlns:a16="http://schemas.microsoft.com/office/drawing/2014/main" id="{2DD4BCFF-E09E-D0C4-8249-53BAA877AEF2}"/>
              </a:ext>
            </a:extLst>
          </p:cNvPr>
          <p:cNvSpPr txBox="1"/>
          <p:nvPr/>
        </p:nvSpPr>
        <p:spPr>
          <a:xfrm>
            <a:off x="9455978" y="2053045"/>
            <a:ext cx="2566445" cy="1877437"/>
          </a:xfrm>
          <a:prstGeom prst="rect">
            <a:avLst/>
          </a:prstGeom>
          <a:noFill/>
        </p:spPr>
        <p:txBody>
          <a:bodyPr wrap="square">
            <a:spAutoFit/>
          </a:bodyPr>
          <a:lstStyle/>
          <a:p>
            <a:pPr>
              <a:buNone/>
            </a:pPr>
            <a:r>
              <a:rPr lang="en-GB" b="1" dirty="0">
                <a:effectLst/>
                <a:latin typeface="Helvetica" pitchFamily="2" charset="0"/>
              </a:rPr>
              <a:t>MISSING AND NOISY DATA</a:t>
            </a:r>
          </a:p>
          <a:p>
            <a:pPr>
              <a:buNone/>
            </a:pPr>
            <a:r>
              <a:rPr lang="en-GB" sz="1600" dirty="0">
                <a:effectLst/>
                <a:latin typeface="Helvetica" pitchFamily="2" charset="0"/>
              </a:rPr>
              <a:t>﻿﻿Gaps due to clouds, sensor limits</a:t>
            </a:r>
            <a:r>
              <a:rPr lang="en-GB" sz="1600" dirty="0">
                <a:latin typeface="Helvetica" pitchFamily="2" charset="0"/>
              </a:rPr>
              <a:t> etc.</a:t>
            </a:r>
          </a:p>
          <a:p>
            <a:pPr>
              <a:buNone/>
            </a:pPr>
            <a:endParaRPr lang="en-GB" sz="1600" dirty="0">
              <a:effectLst/>
              <a:latin typeface="Helvetica" pitchFamily="2" charset="0"/>
            </a:endParaRPr>
          </a:p>
          <a:p>
            <a:r>
              <a:rPr lang="en-GB" sz="1600" dirty="0">
                <a:effectLst/>
                <a:latin typeface="Helvetica" pitchFamily="2" charset="0"/>
              </a:rPr>
              <a:t>﻿﻿Requires robust preprocessing</a:t>
            </a:r>
          </a:p>
        </p:txBody>
      </p:sp>
      <p:sp>
        <p:nvSpPr>
          <p:cNvPr id="18" name="TextBox 17">
            <a:extLst>
              <a:ext uri="{FF2B5EF4-FFF2-40B4-BE49-F238E27FC236}">
                <a16:creationId xmlns:a16="http://schemas.microsoft.com/office/drawing/2014/main" id="{24C73C1C-1212-A580-83A7-E3EE08DE2872}"/>
              </a:ext>
            </a:extLst>
          </p:cNvPr>
          <p:cNvSpPr txBox="1"/>
          <p:nvPr/>
        </p:nvSpPr>
        <p:spPr>
          <a:xfrm>
            <a:off x="1459062" y="4550858"/>
            <a:ext cx="2566445" cy="1631216"/>
          </a:xfrm>
          <a:prstGeom prst="rect">
            <a:avLst/>
          </a:prstGeom>
          <a:noFill/>
        </p:spPr>
        <p:txBody>
          <a:bodyPr wrap="square">
            <a:spAutoFit/>
          </a:bodyPr>
          <a:lstStyle/>
          <a:p>
            <a:pPr>
              <a:buNone/>
            </a:pPr>
            <a:r>
              <a:rPr lang="en-GB" b="1" dirty="0">
                <a:effectLst/>
                <a:latin typeface="Helvetica" pitchFamily="2" charset="0"/>
              </a:rPr>
              <a:t>TEMPORAL</a:t>
            </a:r>
          </a:p>
          <a:p>
            <a:pPr>
              <a:buNone/>
            </a:pPr>
            <a:r>
              <a:rPr lang="en-GB" b="1" dirty="0">
                <a:effectLst/>
                <a:latin typeface="Helvetica" pitchFamily="2" charset="0"/>
              </a:rPr>
              <a:t>NON-STATIONARITY</a:t>
            </a:r>
          </a:p>
          <a:p>
            <a:r>
              <a:rPr lang="en-GB" sz="1600" dirty="0">
                <a:effectLst/>
                <a:latin typeface="Helvetica" pitchFamily="2" charset="0"/>
              </a:rPr>
              <a:t>﻿﻿Relationships change over time (seasons, land use, climate)</a:t>
            </a:r>
          </a:p>
          <a:p>
            <a:r>
              <a:rPr lang="en-GB" sz="1600" dirty="0">
                <a:effectLst/>
                <a:latin typeface="Helvetica" pitchFamily="2" charset="0"/>
              </a:rPr>
              <a:t>﻿﻿</a:t>
            </a:r>
          </a:p>
        </p:txBody>
      </p:sp>
      <p:sp>
        <p:nvSpPr>
          <p:cNvPr id="20" name="TextBox 19">
            <a:extLst>
              <a:ext uri="{FF2B5EF4-FFF2-40B4-BE49-F238E27FC236}">
                <a16:creationId xmlns:a16="http://schemas.microsoft.com/office/drawing/2014/main" id="{52FDE56A-2A1D-D86F-F4BA-C347662946D0}"/>
              </a:ext>
            </a:extLst>
          </p:cNvPr>
          <p:cNvSpPr txBox="1"/>
          <p:nvPr/>
        </p:nvSpPr>
        <p:spPr>
          <a:xfrm>
            <a:off x="5605659" y="4550858"/>
            <a:ext cx="2566445" cy="2154436"/>
          </a:xfrm>
          <a:prstGeom prst="rect">
            <a:avLst/>
          </a:prstGeom>
          <a:noFill/>
        </p:spPr>
        <p:txBody>
          <a:bodyPr wrap="square">
            <a:spAutoFit/>
          </a:bodyPr>
          <a:lstStyle/>
          <a:p>
            <a:pPr>
              <a:buNone/>
            </a:pPr>
            <a:r>
              <a:rPr lang="en-GB" b="1" dirty="0">
                <a:effectLst/>
                <a:latin typeface="Helvetica" pitchFamily="2" charset="0"/>
              </a:rPr>
              <a:t>HETEROGENEOUS</a:t>
            </a:r>
          </a:p>
          <a:p>
            <a:pPr>
              <a:buNone/>
            </a:pPr>
            <a:r>
              <a:rPr lang="en-GB" b="1" dirty="0">
                <a:effectLst/>
                <a:latin typeface="Helvetica" pitchFamily="2" charset="0"/>
              </a:rPr>
              <a:t>DATA SOURCES</a:t>
            </a:r>
          </a:p>
          <a:p>
            <a:r>
              <a:rPr lang="en-GB" dirty="0">
                <a:effectLst/>
                <a:latin typeface="Helvetica" pitchFamily="2" charset="0"/>
              </a:rPr>
              <a:t>﻿﻿</a:t>
            </a:r>
            <a:r>
              <a:rPr lang="en-GB" sz="1600" dirty="0">
                <a:effectLst/>
                <a:latin typeface="Helvetica" pitchFamily="2" charset="0"/>
              </a:rPr>
              <a:t>Different resolutions, formats and scales</a:t>
            </a:r>
          </a:p>
          <a:p>
            <a:r>
              <a:rPr lang="en-GB" sz="1600" dirty="0">
                <a:effectLst/>
                <a:latin typeface="Helvetica" pitchFamily="2" charset="0"/>
              </a:rPr>
              <a:t>﻿﻿Combining in-situ, remote sensing and derived data</a:t>
            </a:r>
          </a:p>
          <a:p>
            <a:r>
              <a:rPr lang="en-GB" sz="1600" dirty="0">
                <a:effectLst/>
                <a:latin typeface="Helvetica" pitchFamily="2" charset="0"/>
              </a:rPr>
              <a:t>﻿﻿Requires harmonization and feature engineering</a:t>
            </a:r>
          </a:p>
        </p:txBody>
      </p:sp>
      <p:sp>
        <p:nvSpPr>
          <p:cNvPr id="22" name="TextBox 21">
            <a:extLst>
              <a:ext uri="{FF2B5EF4-FFF2-40B4-BE49-F238E27FC236}">
                <a16:creationId xmlns:a16="http://schemas.microsoft.com/office/drawing/2014/main" id="{C5EFBD56-08C4-CF9B-1389-0E7B6640C6C4}"/>
              </a:ext>
            </a:extLst>
          </p:cNvPr>
          <p:cNvSpPr txBox="1"/>
          <p:nvPr/>
        </p:nvSpPr>
        <p:spPr>
          <a:xfrm>
            <a:off x="9541077" y="4550858"/>
            <a:ext cx="2566445" cy="1908215"/>
          </a:xfrm>
          <a:prstGeom prst="rect">
            <a:avLst/>
          </a:prstGeom>
          <a:noFill/>
        </p:spPr>
        <p:txBody>
          <a:bodyPr wrap="square">
            <a:spAutoFit/>
          </a:bodyPr>
          <a:lstStyle/>
          <a:p>
            <a:pPr>
              <a:buNone/>
            </a:pPr>
            <a:r>
              <a:rPr lang="en-GB" b="1" dirty="0">
                <a:effectLst/>
                <a:latin typeface="Helvetica" pitchFamily="2" charset="0"/>
              </a:rPr>
              <a:t>INTERPRETABILITY &amp; DECISION-MAKING</a:t>
            </a:r>
          </a:p>
          <a:p>
            <a:r>
              <a:rPr lang="en-GB" dirty="0">
                <a:effectLst/>
                <a:latin typeface="Helvetica" pitchFamily="2" charset="0"/>
              </a:rPr>
              <a:t>﻿﻿</a:t>
            </a:r>
            <a:r>
              <a:rPr lang="en-GB" sz="1600" dirty="0">
                <a:effectLst/>
                <a:latin typeface="Helvetica" pitchFamily="2" charset="0"/>
              </a:rPr>
              <a:t>Models must be trustworthy and explainable</a:t>
            </a:r>
          </a:p>
          <a:p>
            <a:r>
              <a:rPr lang="en-GB" sz="1600" dirty="0">
                <a:effectLst/>
                <a:latin typeface="Helvetica" pitchFamily="2" charset="0"/>
              </a:rPr>
              <a:t>﻿﻿Stakeholders need clear and actionable outputs</a:t>
            </a:r>
          </a:p>
        </p:txBody>
      </p:sp>
      <p:sp>
        <p:nvSpPr>
          <p:cNvPr id="24" name="TextBox 23">
            <a:extLst>
              <a:ext uri="{FF2B5EF4-FFF2-40B4-BE49-F238E27FC236}">
                <a16:creationId xmlns:a16="http://schemas.microsoft.com/office/drawing/2014/main" id="{41E83AE3-CD50-6D3C-460D-0086CA427351}"/>
              </a:ext>
            </a:extLst>
          </p:cNvPr>
          <p:cNvSpPr txBox="1"/>
          <p:nvPr/>
        </p:nvSpPr>
        <p:spPr>
          <a:xfrm>
            <a:off x="171564" y="786294"/>
            <a:ext cx="11398986" cy="615553"/>
          </a:xfrm>
          <a:prstGeom prst="rect">
            <a:avLst/>
          </a:prstGeom>
          <a:noFill/>
        </p:spPr>
        <p:txBody>
          <a:bodyPr wrap="square">
            <a:spAutoFit/>
          </a:bodyPr>
          <a:lstStyle/>
          <a:p>
            <a:pPr>
              <a:buNone/>
            </a:pPr>
            <a:r>
              <a:rPr lang="en-GB" sz="1600" dirty="0">
                <a:effectLst/>
              </a:rPr>
              <a:t>Environment and geospatial data have unique characteristics that impact how we build, evaluate and apply ML models.</a:t>
            </a:r>
          </a:p>
          <a:p>
            <a:r>
              <a:rPr lang="en-GB" dirty="0"/>
              <a:t>Good ML in environmental applications requires </a:t>
            </a:r>
            <a:r>
              <a:rPr lang="en-GB" b="1" dirty="0"/>
              <a:t>spatial</a:t>
            </a:r>
            <a:r>
              <a:rPr lang="en-GB" dirty="0"/>
              <a:t>, </a:t>
            </a:r>
            <a:r>
              <a:rPr lang="en-GB" b="1" dirty="0"/>
              <a:t>temporal</a:t>
            </a:r>
            <a:r>
              <a:rPr lang="en-GB" dirty="0"/>
              <a:t> and </a:t>
            </a:r>
            <a:r>
              <a:rPr lang="en-GB" b="1" dirty="0"/>
              <a:t>domain awareness</a:t>
            </a:r>
            <a:r>
              <a:rPr lang="en-GB" dirty="0"/>
              <a:t>.</a:t>
            </a:r>
            <a:endParaRPr lang="en-GB" dirty="0">
              <a:effectLst/>
            </a:endParaRPr>
          </a:p>
        </p:txBody>
      </p:sp>
    </p:spTree>
    <p:extLst>
      <p:ext uri="{BB962C8B-B14F-4D97-AF65-F5344CB8AC3E}">
        <p14:creationId xmlns:p14="http://schemas.microsoft.com/office/powerpoint/2010/main" val="733412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5074157-0782-F24C-B5D4-7B685D5632C7}">
  <we:reference id="wa200010001" version="1.0.0.1" store="en-GB" storeType="OMEX"/>
  <we:alternateReferences>
    <we:reference id="WA200010001" version="1.0.0.1" store="WA200010001" storeType="OMEX"/>
  </we:alternateReferences>
  <we:properties>
    <we:property name="claude.fileId" value="&quot;e0bb05a5-c9a5-43e9-ab93-8419037b817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6644</TotalTime>
  <Words>7986</Words>
  <Application>Microsoft Macintosh PowerPoint</Application>
  <PresentationFormat>Widescreen</PresentationFormat>
  <Paragraphs>740</Paragraphs>
  <Slides>43</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vt:lpstr>
      <vt:lpstr>Aptos Display</vt:lpstr>
      <vt:lpstr>Arial</vt:lpstr>
      <vt:lpstr>Calibri</vt:lpstr>
      <vt:lpstr>Century Gothic</vt:lpstr>
      <vt:lpstr>Consolas</vt:lpstr>
      <vt:lpstr>Helvetica</vt:lpstr>
      <vt:lpstr>Office Theme</vt:lpstr>
      <vt:lpstr>Machine Learning &amp; Deep Learning applications for environmental analysis and modeling </vt:lpstr>
      <vt:lpstr>PowerPoint Presentation</vt:lpstr>
      <vt:lpstr>Module 1 - Outline</vt:lpstr>
      <vt:lpstr>What is Machine Learning?</vt:lpstr>
      <vt:lpstr>PowerPoint Presentation</vt:lpstr>
      <vt:lpstr>The first rule of Machine Learning:  Garbage In -&gt; Garbage Out !</vt:lpstr>
      <vt:lpstr>Outline</vt:lpstr>
      <vt:lpstr>PowerPoint Presentation</vt:lpstr>
      <vt:lpstr>Machine Learning Tasks</vt:lpstr>
      <vt:lpstr>Features  input variables</vt:lpstr>
      <vt:lpstr>PowerPoint Presentation</vt:lpstr>
      <vt:lpstr>PowerPoint Presentation</vt:lpstr>
      <vt:lpstr>PowerPoint Presentation</vt:lpstr>
      <vt:lpstr>PowerPoint Presentation</vt:lpstr>
      <vt:lpstr>PowerPoint Presentation</vt:lpstr>
      <vt:lpstr>Typical ML workflow</vt:lpstr>
      <vt:lpstr>Outline</vt:lpstr>
      <vt:lpstr>PowerPoint Presentation</vt:lpstr>
      <vt:lpstr>PowerPoint Presentation</vt:lpstr>
      <vt:lpstr>PowerPoint Presentation</vt:lpstr>
      <vt:lpstr>PowerPoint Presentation</vt:lpstr>
      <vt:lpstr>Models Interpretability </vt:lpstr>
      <vt:lpstr>Outline</vt:lpstr>
      <vt:lpstr>ML In practice: Random Forest for Forest Fire Susceptibility</vt:lpstr>
      <vt:lpstr>PowerPoint Presentation</vt:lpstr>
      <vt:lpstr>PowerPoint Presentation</vt:lpstr>
      <vt:lpstr>Categorical Variables</vt:lpstr>
      <vt:lpstr>Feature engineering, in code</vt:lpstr>
      <vt:lpstr>Burned vs unburned: what the features show</vt:lpstr>
      <vt:lpstr>Vegetation: which classes burn?</vt:lpstr>
      <vt:lpstr>What the EDA tells us before modelling</vt:lpstr>
      <vt:lpstr>Pseudo-absences and Class Imbalance</vt:lpstr>
      <vt:lpstr>Pseudo-absences, in code</vt:lpstr>
      <vt:lpstr>PowerPoint Presentation</vt:lpstr>
      <vt:lpstr>Hyperparameter tuning, in code</vt:lpstr>
      <vt:lpstr>Training the final model</vt:lpstr>
      <vt:lpstr>Peeking inside one tree</vt:lpstr>
      <vt:lpstr>Confusion matrix</vt:lpstr>
      <vt:lpstr>Balanced confusion matrix, in code</vt:lpstr>
      <vt:lpstr>Evaluation metrics</vt:lpstr>
      <vt:lpstr>ROC curve + score distributions, in code</vt:lpstr>
      <vt:lpstr>Recall@Top%, in code</vt:lpstr>
      <vt:lpstr>Environmental ML Challanges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MIrko D'Andrea</dc:creator>
  <cp:lastModifiedBy>MIrko D'Andrea</cp:lastModifiedBy>
  <cp:revision>51</cp:revision>
  <dcterms:created xsi:type="dcterms:W3CDTF">2026-05-15T14:43:55Z</dcterms:created>
  <dcterms:modified xsi:type="dcterms:W3CDTF">2026-05-20T06:50:29Z</dcterms:modified>
</cp:coreProperties>
</file>